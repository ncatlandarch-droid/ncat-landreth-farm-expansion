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6"/>
    <p:sldId id="257" r:id="rId8"/>
    <p:sldId id="258" r:id="rId9"/>
    <p:sldId id="259" r:id="rId10"/>
    <p:sldId id="260" r:id="rId11"/>
    <p:sldId id="261" r:id="rId12"/>
    <p:sldId id="262" r:id="rId13"/>
    <p:sldId id="263" r:id="rId14"/>
    <p:sldId id="264" r:id="rId5"/>
    <p:sldId id="265" r:id="rId4"/>
    <p:sldId id="266" r:id="rId3"/>
    <p:sldId id="267" r:id="rId2"/>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2000" cy="6858000"/>
  <p:notesSz cx="6858000" cy="9144000"/>
  <p:defaultTex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09"/>
    <p:restoredTop sz="94643"/>
  </p:normalViewPr>
  <p:slideViewPr>
    <p:cSldViewPr snapToGrid="0" snapToObjects="1">
      <p:cViewPr varScale="1">
        <p:scale>
          <a:sx n="118" d="100"/>
          <a:sy n="118" d="100"/>
        </p:scale>
        <p:origin x="232" y="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2.xml"/><Relationship Id="rId3" Type="http://schemas.openxmlformats.org/officeDocument/2006/relationships/slide" Target="slides/slide11.xml"/><Relationship Id="rId4" Type="http://schemas.openxmlformats.org/officeDocument/2006/relationships/slide" Target="slides/slide10.xml"/><Relationship Id="rId5" Type="http://schemas.openxmlformats.org/officeDocument/2006/relationships/slide" Target="slides/slide9.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colleagues, department leadership, and collaborators. Today I am presenting Project SILVA—our $750,000 capacity-building initiative for North Carolina A&amp;T under the USDA NIFA 1890 Integrated Track. SILVA stands for Spatial Intelligence for Living Vegetation and Agroforestry. This initiative unites eleven investigators across three academic colleges—Agriculture, Engineering, and Science and Technology—along with Cooperative Extension. Project SILVA creates permanent digital, biological, and curricular capacity for our university while fully protecting our faculty's teaching and research workload.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Chair Dr. Aryal and Dr. Omon emphasized during our strategic discussions, federal review panels immediately disqualify proposals that merely request routine classroom supplies or temporary operating consumables. Project SILVA is designed strictly around USDA's statutory definition of Capacity Building. We are pursuing the full $750,000 allowable under the Integrated track because our scope spans three colleges and all three Land-Grant missions. Crucially, we preserve 68% ($510,000) of the budget for permanent physical infrastructure, computing workstations, living field plots, student stipends, and over $125,000 in statutory university indirect cost recovery for the Division of Research and CAES, while capping faculty summer salary at 32%. This directly aligns with CAES strategic goals under Dean Dr. Gregory Goins and Chair Dr. Niroj Aryal, building enduring institutional capital for North Carolina A&amp;T.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core convergence architecture. Rather than running three isolated programs, Project SILVA is structured around three mutually reinforcing pillars that converge at our SFRIC living testbed. At the apex, our Teaching Track infuses spatial computing into the curriculum while strictly protecting studio contact hours. On the left, our Research Track establishes an active agroforestry living lab without placing administrative burdens on our faculty. On the right, our Extension Track builds direct technical capacity for ten county agents. Three bilateral synergy interlocks connect these tracks: studio site baseline data feeds directly into field research plots; aerial drone stress spotting directs ground-truthed robotic diagnostics to fuel producer IPM bulletins; and community design charrettes empower our students to co-deploy digital farm twins with local landowners.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primary educational milestone is laying the operational foundation for the Nation's First Accelerated 4+1 Master of Landscape Architecture degree at an HBCU. Today, our top undergraduate talent is routinely recruited away to external graduate programs. Project SILVA establishes two approved graduate courses—LDAR 612 in resilient site systems and LDAR 624 in community spatial practice. Qualified undergraduate seniors can complete up to twelve graduate credit hours during their fourth year, allowing them to transition seamlessly into a one-year accelerated Master's program. This degree bridge creates a permanent talent pipeline, expands graduate enrollment, and generates recurring tuition revenue for our department long after the grant period concludes.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central innovation in our curriculum is what we term the Studio Pedagogical Firewall. Studio contact hours in Carver Hall remain 100% dedicated to creative synthesis, desk critiques, and design iteration. Zero class time is lost to test preparation. Instead, we embed the knowledge requirements for USDA NRCS Apprentice Conservation Planner and SITES AP into structured, asynchronous Canvas homework modules requiring just one to two hours per week. Most importantly, Project SILVA includes a dedicated $15,000 budget line item that fully funds study bundles and national examination fees for more than forty-five students. Our students graduate with verified, nationally recognized credentials with zero out-of-pocket expenses, giving them an immediate competitive advantage in the workforce.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our Research Pillar, led by Dr. Omon Isikhuemhen and Dr. Chakraborty, we are establishing an active agroforestry living lab at the one-hundred-acre Small Farm Research and Innovation Center. We leverage an existing fifteen-to-twenty-year mature pecan orchard to demonstrate high-value multi-tier understory crops. Specifically, we are inoculating native pecan truffles, Tuber lyonii, which command between eight hundred and twelve hundred dollars per pound, paired with shade-tolerant organic ginger polycultures. This research creates a viable bioeconomic model for North Carolina small-scale landowners who cannot afford to wait seven years for timber returns. Day-to-day experimental trials, soil coring, and spore inoculations are driven by our funded Post-Doctoral Associate and Graduate Research Assistants, ensuring rigorous scientific output while fully protecting faculty workload.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engineering co-leads, Dr. Sun, Dr. Aryal, and Dr. Song, bring state-of-the-art remote sensing and robotics directly into the field. Dr. Sun oversees automated UAV flights equipped with multispectral LiDAR to map canopy health and moisture stress across the acreage. On the ground, Dr. Aryal deploys robotic quadrupeds equipped with environmental sensor payloads to inspect microclimates beneath the canopy. All of this telemetry feeds directly into GeoScope, our open-source 3D digital twin platform developed by Dr. Song. GeoScope translates complex spatial point clouds into an intuitive web interface accessible on any standard smartphone, effectively closing the digital divide for underserved North Carolina producers.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Extension Pillar, co-led by Dr. Hannah Talton and Charlie Hopper, connects our campus research to over twelve hundred underserved producers across North Carolina. Rather than traditional top-down lectures, we host hands-on participatory design charrettes at SFRIC. Undergraduate design students work side-by-side with local landowners and ten regional Cooperative Extension agents to develop site-specific agroforestry transition plans using GeoScope. In addition, our team will publish six open-access grower Standard Operating Procedures and rapid-response IPM bulletins, translating advanced digital forestry methods into plain-language, field-ready guides that county agents can distribute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Executing a grant of this scope requires a truly multidisciplinary team and ironclad workload protection. Our coalition unites eleven investigators across CAES, Engineering, and Science and Technology, along with Cooperative Extension. To ensure our faculty succeed without administrative burnout, we established clear workload boundaries. Senior Faculty Advisor Dr. Omon Isikhuemhen is protected under an advisory role with zero grant salary. Daily laboratory procedures, sensor calibrations, and drone flights are driven by a dedicated full-time Post-Doctoral Researcher and two funded Graduate Research Assistants. Faculty summer salary is capped at 32%, ensuring active summer engagement while safeguarding tenure trajectory and supporting interdisciplinary publication.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$750,000 budget follows what we call the 'Smart Capital' model, designed specifically to satisfy both federal reviewers and university leadership. Over 68%—$510,000—flows directly into permanent institutional assets and overhead. Importantly, this fully accounts for North Carolina A&amp;T's federally negotiated 45% indirect cost rate on modified direct costs, delivering over $125,000 in statutory indirect cost recovery back to the Division of Research, the College of Agriculture, and our department. We dedicate $125,000 to student research assistantships, $110,000 to GPU spatial workstations in Carver Hall, $75,000 to living forest sensors and drone payloads, and $15,000 for student certification exam vouchers. The remaining 32% —$240,000 across three years—compensates faculty summer effort. Every dollar leaves a lasting physical asset on our campus or generates valuable overhead revenue for NC A&amp;T.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immediate timeline. We have already submitted our internal Notice of Intent to the Division of Research on September 9th. Between now and September 20th, we are initiating the Cayuse proposal record and finalizing budget line items. Co-PI SciENcv biosketches will be finalized by September 25th, leading to internal routing clearance with Department Chair Dr. Aryal and CAES Dean Dr. Goins on September 28th. This positions us for a seamless electronic submission via Grants.gov in late October, well ahead of the federal deadline.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Project SILVA builds lasting institutional capital for North Carolina A&amp;T—pioneering the nation's first 4+1 HBCU Master of Landscape Architecture, credentialing more than forty-five Aggie students, and advancing digital forestry across our state. Thank you for your leadership, partnership, and dedication to our students and community.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reference section contains detailed supporting documentation, granular investigator profiles, line-item budget schedules, and technical specifications to address specific questions during leadership and faculty discussion.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strategic rationale behind the SILVA acronym and the four primary pillars of our USDA Integrated Proposal. Each letter represents a core competency at NC A&amp;T, structured to demonstrate cohesive Land-Grant leadership.</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photographic plate illustrates student engagement within our Carver Hall Design Studio, demonstrating how advanced spatial computing hardware directly transforms experiential design education for our landscape architecture majors.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governance profile outlines the executive leadership structure, confirming that Dr. Omon Isikhuemhen is protected in an advisory role with zero grant salary while mentoring early-career faculty across the proposal.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our engineering and remote sensing co-leads: Dr. Momtanu Chakraborty in Engineering, specializing in robotics and sensor fusion, and Dr. Leila Hashemi-Beni in Science and Technology, overseeing drone LiDAR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biological research team, spanning mycology, horticulture polycultures, soil biogeochemistry, and field entomology, ensuring complete scientific rigor across all living forest plots.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profiles our studio practice leadership and third-party evaluation plan, confirming that all curricular changes adhere to LAAB accreditation standards and undergo rigorous independent review.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detail our partnership with Charlie Hopper and the Small Farm Research and Innovation Center, anchoring our extension delivery across ten regional extension offices and more than twelve hundred producers.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reference matrix demonstrates how Project SILVA protects faculty workloads by funding a full-time Post-Doctoral Researcher and two Graduate Research Assistants to carry out daily operational duties.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provides the full curricular syllabus breakdown across five courses, documenting how spatial computing and professional certifications are infused into the curriculum while preserving studio contact hours.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document the full scientific research methodology for the SFRIC Living Forest Lab, detailing sensor mesh networks, pecan truffle inoculations, and autonomous UAV flight parameters.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our statewide extension metrics, including the deployment of our mobile digital twin application, six participatory design charrettes, and outreach to over twelve hundred producers.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reference slide outlines Dr. Omon's biological validation framework, detailing randomized block designs, sterile lab protocols, and the five target peer-reviewed journals for cross-disciplinary publishing.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full USDA NIFA five-column logic model, tracing inputs through activities, outputs, short-term outcomes, and long-term institutional impacts across all three Land-Grant tracks.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ledger details the full line-item budget breakdown, documenting fringe rates, student stipend schedules, capital equipment justifications, and NC A&amp;T's forty-five percent indirect cost recovery ready for Cayuse routing and Division of Research review.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photographic plate illustrates the practical application of our mobile digital twin software, demonstrating how complex geospatial data is simplified into an accessible format for small-scale and minority producers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our five-paper scholarly publishing architecture, outlining target journals, co-authorship distributions, and how each publication translates project outcomes into high-impact academic literature.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95499" y="2541483"/>
            <a:ext cx="9766415" cy="1325563"/>
          </a:xfrm>
          <a:prstGeom prst="rect">
            <a:avLst/>
          </a:prstGeom>
        </p:spPr>
        <p:txBody>
          <a:bodyPr/>
          <a:lstStyle>
            <a:lvl1pPr marL="0" marR="0" indent="0" algn="l" defTabSz="914332" rtl="0" eaLnBrk="1" fontAlgn="auto" latinLnBrk="0" hangingPunct="1">
              <a:lnSpc>
                <a:spcPct val="90000"/>
              </a:lnSpc>
              <a:spcBef>
                <a:spcPct val="0"/>
              </a:spcBef>
              <a:spcAft>
                <a:spcPts val="0"/>
              </a:spcAft>
              <a:buClrTx/>
              <a:buSzTx/>
              <a:buFontTx/>
              <a:buNone/>
              <a:tabLst/>
              <a:defRPr sz="4400" b="1">
                <a:solidFill>
                  <a:schemeClr val="accent1"/>
                </a:solidFill>
              </a:defRPr>
            </a:lvl1pPr>
          </a:lstStyle>
          <a:p>
            <a:r>
              <a:rPr lang="en-US" dirty="0" smtClean="0">
                <a:solidFill>
                  <a:schemeClr val="accent1"/>
                </a:solidFill>
              </a:rPr>
              <a:t>Master title slide style</a:t>
            </a:r>
            <a:endParaRPr lang="en-US" dirty="0">
              <a:solidFill>
                <a:schemeClr val="accent1"/>
              </a:solidFill>
            </a:endParaRPr>
          </a:p>
        </p:txBody>
      </p:sp>
    </p:spTree>
    <p:extLst>
      <p:ext uri="{BB962C8B-B14F-4D97-AF65-F5344CB8AC3E}">
        <p14:creationId xmlns:p14="http://schemas.microsoft.com/office/powerpoint/2010/main" val="193963701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Long 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1195499" y="2541483"/>
            <a:ext cx="9766415" cy="1325563"/>
          </a:xfrm>
          <a:prstGeom prst="rect">
            <a:avLst/>
          </a:prstGeom>
        </p:spPr>
        <p:txBody>
          <a:bodyPr/>
          <a:lstStyle>
            <a:lvl1pPr marL="0" marR="0" indent="0" algn="l" defTabSz="914332" rtl="0" eaLnBrk="1" fontAlgn="auto" latinLnBrk="0" hangingPunct="1">
              <a:lnSpc>
                <a:spcPct val="90000"/>
              </a:lnSpc>
              <a:spcBef>
                <a:spcPct val="0"/>
              </a:spcBef>
              <a:spcAft>
                <a:spcPts val="0"/>
              </a:spcAft>
              <a:buClrTx/>
              <a:buSzTx/>
              <a:buFontTx/>
              <a:buNone/>
              <a:tabLst/>
              <a:defRPr sz="4400" b="1">
                <a:solidFill>
                  <a:schemeClr val="accent1"/>
                </a:solidFill>
              </a:defRPr>
            </a:lvl1pPr>
          </a:lstStyle>
          <a:p>
            <a:r>
              <a:rPr lang="en-US" dirty="0" smtClean="0">
                <a:solidFill>
                  <a:schemeClr val="accent1"/>
                </a:solidFill>
              </a:rPr>
              <a:t>Master title slide style</a:t>
            </a:r>
            <a:br>
              <a:rPr lang="en-US" dirty="0" smtClean="0">
                <a:solidFill>
                  <a:schemeClr val="accent1"/>
                </a:solidFill>
              </a:rPr>
            </a:br>
            <a:r>
              <a:rPr lang="en-US" dirty="0" smtClean="0">
                <a:solidFill>
                  <a:schemeClr val="accent1"/>
                </a:solidFill>
              </a:rPr>
              <a:t>with long headline</a:t>
            </a:r>
            <a:endParaRPr lang="en-US" dirty="0">
              <a:solidFill>
                <a:schemeClr val="accent1"/>
              </a:solidFill>
            </a:endParaRPr>
          </a:p>
        </p:txBody>
      </p:sp>
    </p:spTree>
    <p:extLst>
      <p:ext uri="{BB962C8B-B14F-4D97-AF65-F5344CB8AC3E}">
        <p14:creationId xmlns:p14="http://schemas.microsoft.com/office/powerpoint/2010/main" val="322374989"/>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ext Placeholder 3"/>
          <p:cNvSpPr>
            <a:spLocks noGrp="1"/>
          </p:cNvSpPr>
          <p:nvPr>
            <p:ph type="body" idx="10" hasCustomPrompt="1"/>
          </p:nvPr>
        </p:nvSpPr>
        <p:spPr>
          <a:xfrm>
            <a:off x="1206274" y="2552474"/>
            <a:ext cx="9766300" cy="1325562"/>
          </a:xfrm>
          <a:prstGeom prst="rect">
            <a:avLst/>
          </a:prstGeom>
        </p:spPr>
        <p:txBody>
          <a:bodyPr/>
          <a:lstStyle>
            <a:lvl1pPr marL="0" indent="0">
              <a:buNone/>
              <a:defRPr sz="4400" b="1" i="1" baseline="0">
                <a:solidFill>
                  <a:schemeClr val="accent2"/>
                </a:solidFill>
                <a:latin typeface="+mj-lt"/>
              </a:defRPr>
            </a:lvl1pPr>
          </a:lstStyle>
          <a:p>
            <a:pPr lvl="0"/>
            <a:r>
              <a:rPr lang="en-US" dirty="0" smtClean="0"/>
              <a:t>MASTER TRANSITION SLIDE STYLE</a:t>
            </a:r>
            <a:endParaRPr lang="en-US" dirty="0"/>
          </a:p>
        </p:txBody>
      </p:sp>
    </p:spTree>
    <p:extLst>
      <p:ext uri="{BB962C8B-B14F-4D97-AF65-F5344CB8AC3E}">
        <p14:creationId xmlns:p14="http://schemas.microsoft.com/office/powerpoint/2010/main" val="76273125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Slide with Long Headli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p:cNvSpPr>
            <a:spLocks noGrp="1"/>
          </p:cNvSpPr>
          <p:nvPr>
            <p:ph type="body" idx="10" hasCustomPrompt="1"/>
          </p:nvPr>
        </p:nvSpPr>
        <p:spPr>
          <a:xfrm>
            <a:off x="1206274" y="2552474"/>
            <a:ext cx="9766300" cy="1325562"/>
          </a:xfrm>
          <a:prstGeom prst="rect">
            <a:avLst/>
          </a:prstGeom>
        </p:spPr>
        <p:txBody>
          <a:bodyPr/>
          <a:lstStyle>
            <a:lvl1pPr marL="0" indent="0">
              <a:spcBef>
                <a:spcPts val="0"/>
              </a:spcBef>
              <a:buNone/>
              <a:defRPr sz="4400" b="1" i="1" baseline="0">
                <a:solidFill>
                  <a:schemeClr val="accent2"/>
                </a:solidFill>
                <a:latin typeface="+mj-lt"/>
              </a:defRPr>
            </a:lvl1pPr>
          </a:lstStyle>
          <a:p>
            <a:pPr lvl="0"/>
            <a:r>
              <a:rPr lang="en-US" dirty="0" smtClean="0"/>
              <a:t>MASTER TRANSITION SLIDE STYLE</a:t>
            </a:r>
            <a:br>
              <a:rPr lang="en-US" dirty="0" smtClean="0"/>
            </a:br>
            <a:r>
              <a:rPr lang="en-US" dirty="0" smtClean="0"/>
              <a:t>WITH LONG HEADLINE</a:t>
            </a:r>
            <a:endParaRPr lang="en-US" dirty="0"/>
          </a:p>
        </p:txBody>
      </p:sp>
    </p:spTree>
    <p:extLst>
      <p:ext uri="{BB962C8B-B14F-4D97-AF65-F5344CB8AC3E}">
        <p14:creationId xmlns:p14="http://schemas.microsoft.com/office/powerpoint/2010/main" val="1512279792"/>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mpt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1918320322"/>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with Bullet Colo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baseline="0">
                <a:solidFill>
                  <a:schemeClr val="accent1"/>
                </a:solidFill>
              </a:defRPr>
            </a:lvl1pPr>
          </a:lstStyle>
          <a:p>
            <a:pPr eaLnBrk="1" hangingPunct="1"/>
            <a:r>
              <a:rPr lang="en-US" altLang="en-US" dirty="0" smtClean="0"/>
              <a:t>Slide Header</a:t>
            </a:r>
            <a:endParaRPr lang="en-US" altLang="en-US" sz="2400" dirty="0"/>
          </a:p>
        </p:txBody>
      </p:sp>
      <p:sp>
        <p:nvSpPr>
          <p:cNvPr id="8" name="Rectangle 3"/>
          <p:cNvSpPr>
            <a:spLocks noGrp="1" noChangeArrowheads="1"/>
          </p:cNvSpPr>
          <p:nvPr>
            <p:ph type="body" idx="1"/>
          </p:nvPr>
        </p:nvSpPr>
        <p:spPr>
          <a:xfrm>
            <a:off x="769882" y="2790497"/>
            <a:ext cx="9656379" cy="2958662"/>
          </a:xfrm>
          <a:prstGeom prst="rect">
            <a:avLst/>
          </a:prstGeom>
        </p:spPr>
        <p:txBody>
          <a:bodyPr/>
          <a:lstStyle>
            <a:lvl1pPr marL="228584" indent="-228584">
              <a:lnSpc>
                <a:spcPct val="100000"/>
              </a:lnSpc>
              <a:buClr>
                <a:schemeClr val="accent1"/>
              </a:buClr>
              <a:buFont typeface="Wingdings" charset="2"/>
              <a:buChar char="§"/>
              <a:defRPr sz="2400">
                <a:solidFill>
                  <a:schemeClr val="tx1"/>
                </a:solidFill>
              </a:defRPr>
            </a:lvl1pPr>
            <a:lvl2pPr marL="685750" indent="-228584">
              <a:lnSpc>
                <a:spcPct val="100000"/>
              </a:lnSpc>
              <a:buClr>
                <a:schemeClr val="accent2"/>
              </a:buClr>
              <a:buFont typeface=".HelveticaNeueDeskInterface-Regular" charset="-120"/>
              <a:buChar char="»"/>
              <a:defRPr sz="2000">
                <a:solidFill>
                  <a:schemeClr val="tx1"/>
                </a:solidFill>
              </a:defRPr>
            </a:lvl2pPr>
            <a:lvl3pPr>
              <a:lnSpc>
                <a:spcPct val="100000"/>
              </a:lnSpc>
              <a:buClr>
                <a:schemeClr val="accent1"/>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1" name="Text Placeholder 10"/>
          <p:cNvSpPr>
            <a:spLocks noGrp="1"/>
          </p:cNvSpPr>
          <p:nvPr>
            <p:ph type="body" sz="quarter" idx="10"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9" name="Text Placeholder 7"/>
          <p:cNvSpPr>
            <a:spLocks noGrp="1"/>
          </p:cNvSpPr>
          <p:nvPr>
            <p:ph type="body" sz="quarter" idx="11"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749460214"/>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with Bullet Colo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8" name="Rectangle 3"/>
          <p:cNvSpPr>
            <a:spLocks noGrp="1" noChangeArrowheads="1"/>
          </p:cNvSpPr>
          <p:nvPr>
            <p:ph type="body" idx="1"/>
          </p:nvPr>
        </p:nvSpPr>
        <p:spPr>
          <a:xfrm>
            <a:off x="769882" y="2790497"/>
            <a:ext cx="9656379" cy="2958662"/>
          </a:xfrm>
          <a:prstGeom prst="rect">
            <a:avLst/>
          </a:prstGeom>
        </p:spPr>
        <p:txBody>
          <a:bodyPr/>
          <a:lstStyle>
            <a:lvl1pPr marL="228584" indent="-228584">
              <a:lnSpc>
                <a:spcPct val="100000"/>
              </a:lnSpc>
              <a:buClr>
                <a:schemeClr val="accent1"/>
              </a:buClr>
              <a:buFont typeface="Wingdings" charset="2"/>
              <a:buChar char="§"/>
              <a:defRPr sz="2400">
                <a:solidFill>
                  <a:schemeClr val="tx1"/>
                </a:solidFill>
              </a:defRPr>
            </a:lvl1pPr>
            <a:lvl2pPr marL="685750" indent="-228584">
              <a:lnSpc>
                <a:spcPct val="100000"/>
              </a:lnSpc>
              <a:buClr>
                <a:schemeClr val="tx2"/>
              </a:buClr>
              <a:buFont typeface=".HelveticaNeueDeskInterface-Regular" charset="-120"/>
              <a:buChar char="»"/>
              <a:defRPr sz="2000">
                <a:solidFill>
                  <a:schemeClr val="tx1"/>
                </a:solidFill>
              </a:defRPr>
            </a:lvl2pPr>
            <a:lvl3pPr>
              <a:lnSpc>
                <a:spcPct val="100000"/>
              </a:lnSpc>
              <a:buClr>
                <a:schemeClr val="accent1"/>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1" name="Text Placeholder 10"/>
          <p:cNvSpPr>
            <a:spLocks noGrp="1"/>
          </p:cNvSpPr>
          <p:nvPr>
            <p:ph type="body" sz="quarter" idx="10"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9" name="Text Placeholder 7"/>
          <p:cNvSpPr>
            <a:spLocks noGrp="1"/>
          </p:cNvSpPr>
          <p:nvPr>
            <p:ph type="body" sz="quarter" idx="11"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158042517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with Bullet Color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8" name="Rectangle 3"/>
          <p:cNvSpPr>
            <a:spLocks noGrp="1" noChangeArrowheads="1"/>
          </p:cNvSpPr>
          <p:nvPr>
            <p:ph type="body" idx="1"/>
          </p:nvPr>
        </p:nvSpPr>
        <p:spPr>
          <a:xfrm>
            <a:off x="769882" y="2790497"/>
            <a:ext cx="9656379" cy="2958662"/>
          </a:xfrm>
          <a:prstGeom prst="rect">
            <a:avLst/>
          </a:prstGeom>
        </p:spPr>
        <p:txBody>
          <a:bodyPr/>
          <a:lstStyle>
            <a:lvl1pPr marL="228584" indent="-228584">
              <a:lnSpc>
                <a:spcPct val="100000"/>
              </a:lnSpc>
              <a:buClr>
                <a:schemeClr val="accent2"/>
              </a:buClr>
              <a:buFont typeface="Wingdings" charset="2"/>
              <a:buChar char="§"/>
              <a:defRPr sz="2400">
                <a:solidFill>
                  <a:schemeClr val="tx1"/>
                </a:solidFill>
              </a:defRPr>
            </a:lvl1pPr>
            <a:lvl2pPr marL="685750" indent="-228584">
              <a:lnSpc>
                <a:spcPct val="100000"/>
              </a:lnSpc>
              <a:buClr>
                <a:schemeClr val="tx2"/>
              </a:buClr>
              <a:buFont typeface=".HelveticaNeueDeskInterface-Regular" charset="-120"/>
              <a:buChar char="»"/>
              <a:defRPr sz="2000">
                <a:solidFill>
                  <a:schemeClr val="tx1"/>
                </a:solidFill>
              </a:defRPr>
            </a:lvl2pPr>
            <a:lvl3pPr>
              <a:lnSpc>
                <a:spcPct val="100000"/>
              </a:lnSpc>
              <a:buClr>
                <a:schemeClr val="accent2"/>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1" name="Text Placeholder 10"/>
          <p:cNvSpPr>
            <a:spLocks noGrp="1"/>
          </p:cNvSpPr>
          <p:nvPr>
            <p:ph type="body" sz="quarter" idx="10"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9" name="Text Placeholder 7"/>
          <p:cNvSpPr>
            <a:spLocks noGrp="1"/>
          </p:cNvSpPr>
          <p:nvPr>
            <p:ph type="body" sz="quarter" idx="11"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23268416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Slide with Bullet Color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8" name="Rectangle 3"/>
          <p:cNvSpPr>
            <a:spLocks noGrp="1" noChangeArrowheads="1"/>
          </p:cNvSpPr>
          <p:nvPr>
            <p:ph type="body" idx="1"/>
          </p:nvPr>
        </p:nvSpPr>
        <p:spPr>
          <a:xfrm>
            <a:off x="769882" y="2790497"/>
            <a:ext cx="9656379" cy="2958662"/>
          </a:xfrm>
          <a:prstGeom prst="rect">
            <a:avLst/>
          </a:prstGeom>
        </p:spPr>
        <p:txBody>
          <a:bodyPr/>
          <a:lstStyle>
            <a:lvl1pPr marL="228584" indent="-228584">
              <a:lnSpc>
                <a:spcPct val="100000"/>
              </a:lnSpc>
              <a:buClr>
                <a:schemeClr val="accent2"/>
              </a:buClr>
              <a:buFont typeface="Wingdings" charset="2"/>
              <a:buChar char="§"/>
              <a:defRPr sz="2400">
                <a:solidFill>
                  <a:schemeClr val="tx1"/>
                </a:solidFill>
              </a:defRPr>
            </a:lvl1pPr>
            <a:lvl2pPr marL="685750" indent="-228584">
              <a:lnSpc>
                <a:spcPct val="100000"/>
              </a:lnSpc>
              <a:buClr>
                <a:schemeClr val="accent1"/>
              </a:buClr>
              <a:buFont typeface=".HelveticaNeueDeskInterface-Regular" charset="-120"/>
              <a:buChar char="»"/>
              <a:defRPr sz="2000">
                <a:solidFill>
                  <a:schemeClr val="tx1"/>
                </a:solidFill>
              </a:defRPr>
            </a:lvl2pPr>
            <a:lvl3pPr>
              <a:lnSpc>
                <a:spcPct val="100000"/>
              </a:lnSpc>
              <a:buClr>
                <a:schemeClr val="accent2"/>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1" name="Text Placeholder 10"/>
          <p:cNvSpPr>
            <a:spLocks noGrp="1"/>
          </p:cNvSpPr>
          <p:nvPr>
            <p:ph type="body" sz="quarter" idx="10"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9" name="Text Placeholder 7"/>
          <p:cNvSpPr>
            <a:spLocks noGrp="1"/>
          </p:cNvSpPr>
          <p:nvPr>
            <p:ph type="body" sz="quarter" idx="11"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1988979361"/>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with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Rectangle 3"/>
          <p:cNvSpPr>
            <a:spLocks noGrp="1" noChangeArrowheads="1"/>
          </p:cNvSpPr>
          <p:nvPr>
            <p:ph type="body" idx="1"/>
          </p:nvPr>
        </p:nvSpPr>
        <p:spPr>
          <a:xfrm>
            <a:off x="769883" y="2790497"/>
            <a:ext cx="5973818" cy="2958662"/>
          </a:xfrm>
          <a:prstGeom prst="rect">
            <a:avLst/>
          </a:prstGeom>
        </p:spPr>
        <p:txBody>
          <a:bodyPr/>
          <a:lstStyle>
            <a:lvl1pPr marL="228584" indent="-228584">
              <a:lnSpc>
                <a:spcPct val="100000"/>
              </a:lnSpc>
              <a:buClr>
                <a:schemeClr val="accent1"/>
              </a:buClr>
              <a:buFont typeface="Wingdings" charset="2"/>
              <a:buChar char="§"/>
              <a:defRPr sz="2400">
                <a:solidFill>
                  <a:schemeClr val="tx1"/>
                </a:solidFill>
              </a:defRPr>
            </a:lvl1pPr>
            <a:lvl2pPr marL="685750" indent="-228584">
              <a:lnSpc>
                <a:spcPct val="100000"/>
              </a:lnSpc>
              <a:buClr>
                <a:schemeClr val="accent2"/>
              </a:buClr>
              <a:buFont typeface=".HelveticaNeueDeskInterface-Regular" charset="-120"/>
              <a:buChar char="»"/>
              <a:defRPr sz="2000">
                <a:solidFill>
                  <a:schemeClr val="tx1"/>
                </a:solidFill>
              </a:defRPr>
            </a:lvl2pPr>
            <a:lvl3pPr>
              <a:lnSpc>
                <a:spcPct val="100000"/>
              </a:lnSpc>
              <a:buClr>
                <a:schemeClr val="accent1"/>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2" name="Picture Placeholder 11"/>
          <p:cNvSpPr>
            <a:spLocks noGrp="1"/>
          </p:cNvSpPr>
          <p:nvPr>
            <p:ph type="pic" sz="quarter" idx="10"/>
          </p:nvPr>
        </p:nvSpPr>
        <p:spPr>
          <a:xfrm>
            <a:off x="7073900" y="2790825"/>
            <a:ext cx="3352361" cy="2959100"/>
          </a:xfrm>
          <a:prstGeom prst="rect">
            <a:avLst/>
          </a:prstGeom>
        </p:spPr>
        <p:txBody>
          <a:bodyPr/>
          <a:lstStyle/>
          <a:p>
            <a:endParaRPr lang="en-US"/>
          </a:p>
        </p:txBody>
      </p:sp>
      <p:sp>
        <p:nvSpPr>
          <p:cNvPr id="13"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15" name="Text Placeholder 10"/>
          <p:cNvSpPr>
            <a:spLocks noGrp="1"/>
          </p:cNvSpPr>
          <p:nvPr>
            <p:ph type="body" sz="quarter" idx="11"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9" name="Text Placeholder 7"/>
          <p:cNvSpPr>
            <a:spLocks noGrp="1"/>
          </p:cNvSpPr>
          <p:nvPr>
            <p:ph type="body" sz="quarter" idx="12"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210706742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with Tab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3"/>
          <p:cNvSpPr>
            <a:spLocks noGrp="1" noChangeArrowheads="1"/>
          </p:cNvSpPr>
          <p:nvPr>
            <p:ph type="body" idx="10"/>
          </p:nvPr>
        </p:nvSpPr>
        <p:spPr>
          <a:xfrm>
            <a:off x="769883" y="2790497"/>
            <a:ext cx="5973818" cy="2958662"/>
          </a:xfrm>
          <a:prstGeom prst="rect">
            <a:avLst/>
          </a:prstGeom>
        </p:spPr>
        <p:txBody>
          <a:bodyPr/>
          <a:lstStyle>
            <a:lvl1pPr marL="228584" indent="-228584">
              <a:lnSpc>
                <a:spcPct val="100000"/>
              </a:lnSpc>
              <a:buClr>
                <a:schemeClr val="accent1"/>
              </a:buClr>
              <a:buFont typeface="Wingdings" charset="2"/>
              <a:buChar char="§"/>
              <a:defRPr sz="2400">
                <a:solidFill>
                  <a:schemeClr val="tx1"/>
                </a:solidFill>
              </a:defRPr>
            </a:lvl1pPr>
            <a:lvl2pPr marL="685750" indent="-228584">
              <a:lnSpc>
                <a:spcPct val="100000"/>
              </a:lnSpc>
              <a:buClr>
                <a:schemeClr val="accent2"/>
              </a:buClr>
              <a:buFont typeface=".HelveticaNeueDeskInterface-Regular" charset="-120"/>
              <a:buChar char="»"/>
              <a:defRPr sz="2000">
                <a:solidFill>
                  <a:schemeClr val="tx1"/>
                </a:solidFill>
              </a:defRPr>
            </a:lvl2pPr>
            <a:lvl3pPr>
              <a:lnSpc>
                <a:spcPct val="100000"/>
              </a:lnSpc>
              <a:buClr>
                <a:schemeClr val="accent1"/>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18" name="Table Placeholder 16"/>
          <p:cNvSpPr>
            <a:spLocks noGrp="1"/>
          </p:cNvSpPr>
          <p:nvPr>
            <p:ph type="tbl" sz="quarter" idx="11"/>
          </p:nvPr>
        </p:nvSpPr>
        <p:spPr>
          <a:xfrm>
            <a:off x="7073900" y="2790825"/>
            <a:ext cx="3352800" cy="2959100"/>
          </a:xfrm>
          <a:prstGeom prst="rect">
            <a:avLst/>
          </a:prstGeom>
        </p:spPr>
        <p:txBody>
          <a:bodyPr/>
          <a:lstStyle/>
          <a:p>
            <a:endParaRPr lang="en-US"/>
          </a:p>
        </p:txBody>
      </p:sp>
      <p:sp>
        <p:nvSpPr>
          <p:cNvPr id="19"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21" name="Text Placeholder 10"/>
          <p:cNvSpPr>
            <a:spLocks noGrp="1"/>
          </p:cNvSpPr>
          <p:nvPr>
            <p:ph type="body" sz="quarter" idx="12"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8" name="Text Placeholder 7"/>
          <p:cNvSpPr>
            <a:spLocks noGrp="1"/>
          </p:cNvSpPr>
          <p:nvPr>
            <p:ph type="body" sz="quarter" idx="13"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76094560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with Char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Rectangle 3"/>
          <p:cNvSpPr>
            <a:spLocks noGrp="1" noChangeArrowheads="1"/>
          </p:cNvSpPr>
          <p:nvPr>
            <p:ph type="body" idx="10"/>
          </p:nvPr>
        </p:nvSpPr>
        <p:spPr>
          <a:xfrm>
            <a:off x="769883" y="2790497"/>
            <a:ext cx="5973818" cy="2958662"/>
          </a:xfrm>
          <a:prstGeom prst="rect">
            <a:avLst/>
          </a:prstGeom>
        </p:spPr>
        <p:txBody>
          <a:bodyPr/>
          <a:lstStyle>
            <a:lvl1pPr marL="228584" indent="-228584">
              <a:lnSpc>
                <a:spcPct val="100000"/>
              </a:lnSpc>
              <a:buClr>
                <a:schemeClr val="accent1"/>
              </a:buClr>
              <a:buFont typeface="Wingdings" charset="2"/>
              <a:buChar char="§"/>
              <a:defRPr sz="2400">
                <a:solidFill>
                  <a:schemeClr val="tx1"/>
                </a:solidFill>
              </a:defRPr>
            </a:lvl1pPr>
            <a:lvl2pPr marL="685750" indent="-228584">
              <a:lnSpc>
                <a:spcPct val="100000"/>
              </a:lnSpc>
              <a:buClr>
                <a:schemeClr val="accent2"/>
              </a:buClr>
              <a:buFont typeface=".HelveticaNeueDeskInterface-Regular" charset="-120"/>
              <a:buChar char="»"/>
              <a:defRPr sz="2000">
                <a:solidFill>
                  <a:schemeClr val="tx1"/>
                </a:solidFill>
              </a:defRPr>
            </a:lvl2pPr>
            <a:lvl3pPr>
              <a:lnSpc>
                <a:spcPct val="100000"/>
              </a:lnSpc>
              <a:buClr>
                <a:schemeClr val="accent1"/>
              </a:buClr>
              <a:defRPr>
                <a:solidFill>
                  <a:schemeClr val="tx1"/>
                </a:solidFill>
              </a:defRPr>
            </a:lvl3pPr>
          </a:lstStyle>
          <a:p>
            <a:r>
              <a:rPr lang="en-US" altLang="en-US" dirty="0"/>
              <a:t>Lorem ipsum dolor sit </a:t>
            </a:r>
            <a:r>
              <a:rPr lang="en-US" altLang="en-US" dirty="0" err="1"/>
              <a:t>amet</a:t>
            </a:r>
            <a:r>
              <a:rPr lang="en-US" altLang="en-US" dirty="0"/>
              <a:t>, </a:t>
            </a:r>
            <a:r>
              <a:rPr lang="en-US" altLang="en-US" dirty="0" err="1"/>
              <a:t>consectetur</a:t>
            </a:r>
            <a:r>
              <a:rPr lang="en-US" altLang="en-US" dirty="0"/>
              <a:t> </a:t>
            </a:r>
            <a:r>
              <a:rPr lang="en-US" altLang="en-US" dirty="0" err="1"/>
              <a:t>adipiscing</a:t>
            </a:r>
            <a:r>
              <a:rPr lang="en-US" altLang="en-US" dirty="0"/>
              <a:t> </a:t>
            </a:r>
            <a:r>
              <a:rPr lang="en-US" altLang="en-US" dirty="0" err="1"/>
              <a:t>elit</a:t>
            </a:r>
            <a:r>
              <a:rPr lang="en-US" altLang="en-US" dirty="0"/>
              <a:t>.</a:t>
            </a:r>
          </a:p>
          <a:p>
            <a:pPr lvl="1"/>
            <a:r>
              <a:rPr lang="en-US" altLang="en-US" dirty="0" err="1"/>
              <a:t>Morbi</a:t>
            </a:r>
            <a:r>
              <a:rPr lang="en-US" altLang="en-US" dirty="0"/>
              <a:t> </a:t>
            </a:r>
            <a:r>
              <a:rPr lang="en-US" altLang="en-US" dirty="0" err="1"/>
              <a:t>blandit</a:t>
            </a:r>
            <a:r>
              <a:rPr lang="en-US" altLang="en-US" dirty="0"/>
              <a:t> pharetra </a:t>
            </a:r>
            <a:r>
              <a:rPr lang="en-US" altLang="en-US" dirty="0" err="1"/>
              <a:t>enim</a:t>
            </a:r>
            <a:r>
              <a:rPr lang="en-US" altLang="en-US" dirty="0"/>
              <a:t>, </a:t>
            </a:r>
            <a:r>
              <a:rPr lang="en-US" altLang="en-US" dirty="0" err="1"/>
              <a:t>vel</a:t>
            </a:r>
            <a:r>
              <a:rPr lang="en-US" altLang="en-US" dirty="0"/>
              <a:t> </a:t>
            </a:r>
            <a:r>
              <a:rPr lang="en-US" altLang="en-US" dirty="0" err="1"/>
              <a:t>molestie</a:t>
            </a:r>
            <a:r>
              <a:rPr lang="en-US" altLang="en-US" dirty="0"/>
              <a:t> </a:t>
            </a:r>
            <a:r>
              <a:rPr lang="en-US" altLang="en-US" dirty="0" err="1"/>
              <a:t>erat</a:t>
            </a:r>
            <a:r>
              <a:rPr lang="en-US" altLang="en-US" dirty="0"/>
              <a:t> </a:t>
            </a:r>
            <a:r>
              <a:rPr lang="en-US" altLang="en-US" dirty="0" err="1"/>
              <a:t>venenatis</a:t>
            </a:r>
            <a:r>
              <a:rPr lang="en-US" altLang="en-US" dirty="0"/>
              <a:t> </a:t>
            </a:r>
            <a:r>
              <a:rPr lang="en-US" altLang="en-US" dirty="0" err="1"/>
              <a:t>varius</a:t>
            </a:r>
            <a:r>
              <a:rPr lang="en-US" altLang="en-US" dirty="0"/>
              <a:t>.</a:t>
            </a:r>
          </a:p>
          <a:p>
            <a:pPr lvl="2">
              <a:buFont typeface="Arial" charset="0"/>
              <a:buChar char="•"/>
            </a:pPr>
            <a:r>
              <a:rPr lang="en-US" altLang="en-US" dirty="0" err="1"/>
              <a:t>Sed</a:t>
            </a:r>
            <a:r>
              <a:rPr lang="en-US" altLang="en-US" dirty="0"/>
              <a:t> </a:t>
            </a:r>
            <a:r>
              <a:rPr lang="en-US" altLang="en-US" dirty="0" err="1"/>
              <a:t>sodales</a:t>
            </a:r>
            <a:r>
              <a:rPr lang="en-US" altLang="en-US" dirty="0"/>
              <a:t> </a:t>
            </a:r>
            <a:r>
              <a:rPr lang="en-US" altLang="en-US" dirty="0" err="1"/>
              <a:t>bibendum</a:t>
            </a:r>
            <a:r>
              <a:rPr lang="en-US" altLang="en-US" dirty="0"/>
              <a:t> mi, </a:t>
            </a:r>
            <a:r>
              <a:rPr lang="en-US" altLang="en-US" dirty="0" err="1"/>
              <a:t>vel</a:t>
            </a:r>
            <a:r>
              <a:rPr lang="en-US" altLang="en-US" dirty="0"/>
              <a:t> </a:t>
            </a:r>
            <a:r>
              <a:rPr lang="en-US" altLang="en-US" dirty="0" err="1"/>
              <a:t>tincidunt</a:t>
            </a:r>
            <a:r>
              <a:rPr lang="en-US" altLang="en-US" dirty="0"/>
              <a:t> </a:t>
            </a:r>
            <a:r>
              <a:rPr lang="en-US" altLang="en-US" dirty="0" err="1"/>
              <a:t>lectus</a:t>
            </a:r>
            <a:r>
              <a:rPr lang="en-US" altLang="en-US" dirty="0"/>
              <a:t> </a:t>
            </a:r>
            <a:r>
              <a:rPr lang="en-US" altLang="en-US" dirty="0" err="1"/>
              <a:t>adipiscing</a:t>
            </a:r>
            <a:r>
              <a:rPr lang="en-US" altLang="en-US" dirty="0"/>
              <a:t> </a:t>
            </a:r>
            <a:r>
              <a:rPr lang="en-US" altLang="en-US" dirty="0" err="1"/>
              <a:t>congue</a:t>
            </a:r>
            <a:r>
              <a:rPr lang="en-US" altLang="en-US" dirty="0"/>
              <a:t>.</a:t>
            </a:r>
          </a:p>
        </p:txBody>
      </p:sp>
      <p:sp>
        <p:nvSpPr>
          <p:cNvPr id="8" name="Chart Placeholder 3"/>
          <p:cNvSpPr>
            <a:spLocks noGrp="1"/>
          </p:cNvSpPr>
          <p:nvPr>
            <p:ph type="chart" sz="quarter" idx="12"/>
          </p:nvPr>
        </p:nvSpPr>
        <p:spPr>
          <a:xfrm>
            <a:off x="7064477" y="2790825"/>
            <a:ext cx="3362223" cy="2959100"/>
          </a:xfrm>
          <a:prstGeom prst="rect">
            <a:avLst/>
          </a:prstGeom>
        </p:spPr>
        <p:txBody>
          <a:bodyPr/>
          <a:lstStyle/>
          <a:p>
            <a:endParaRPr lang="en-US"/>
          </a:p>
        </p:txBody>
      </p:sp>
      <p:sp>
        <p:nvSpPr>
          <p:cNvPr id="9"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13" name="Text Placeholder 10"/>
          <p:cNvSpPr>
            <a:spLocks noGrp="1"/>
          </p:cNvSpPr>
          <p:nvPr>
            <p:ph type="body" sz="quarter" idx="13"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10" name="Text Placeholder 7"/>
          <p:cNvSpPr>
            <a:spLocks noGrp="1"/>
          </p:cNvSpPr>
          <p:nvPr>
            <p:ph type="body" sz="quarter" idx="14"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Tree>
    <p:extLst>
      <p:ext uri="{BB962C8B-B14F-4D97-AF65-F5344CB8AC3E}">
        <p14:creationId xmlns:p14="http://schemas.microsoft.com/office/powerpoint/2010/main" val="105304047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with 2 Tabl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8" name="Table Placeholder 16"/>
          <p:cNvSpPr>
            <a:spLocks noGrp="1"/>
          </p:cNvSpPr>
          <p:nvPr>
            <p:ph type="tbl" sz="quarter" idx="11"/>
          </p:nvPr>
        </p:nvSpPr>
        <p:spPr>
          <a:xfrm>
            <a:off x="5760720" y="2790825"/>
            <a:ext cx="4665980" cy="2959100"/>
          </a:xfrm>
          <a:prstGeom prst="rect">
            <a:avLst/>
          </a:prstGeom>
        </p:spPr>
        <p:txBody>
          <a:bodyPr/>
          <a:lstStyle/>
          <a:p>
            <a:endParaRPr lang="en-US"/>
          </a:p>
        </p:txBody>
      </p:sp>
      <p:sp>
        <p:nvSpPr>
          <p:cNvPr id="19" name="Rectangle 2"/>
          <p:cNvSpPr>
            <a:spLocks noGrp="1" noChangeArrowheads="1"/>
          </p:cNvSpPr>
          <p:nvPr>
            <p:ph type="title" hasCustomPrompt="1"/>
          </p:nvPr>
        </p:nvSpPr>
        <p:spPr>
          <a:xfrm>
            <a:off x="769883" y="1571297"/>
            <a:ext cx="9656378" cy="584074"/>
          </a:xfrm>
          <a:prstGeom prst="rect">
            <a:avLst/>
          </a:prstGeom>
        </p:spPr>
        <p:txBody>
          <a:bodyPr/>
          <a:lstStyle>
            <a:lvl1pPr>
              <a:defRPr b="1" i="0" cap="none">
                <a:solidFill>
                  <a:schemeClr val="accent1"/>
                </a:solidFill>
              </a:defRPr>
            </a:lvl1pPr>
          </a:lstStyle>
          <a:p>
            <a:pPr eaLnBrk="1" hangingPunct="1"/>
            <a:r>
              <a:rPr lang="en-US" altLang="en-US" dirty="0" smtClean="0"/>
              <a:t>Slide Header</a:t>
            </a:r>
            <a:endParaRPr lang="en-US" altLang="en-US" sz="2400" dirty="0"/>
          </a:p>
        </p:txBody>
      </p:sp>
      <p:sp>
        <p:nvSpPr>
          <p:cNvPr id="21" name="Text Placeholder 10"/>
          <p:cNvSpPr>
            <a:spLocks noGrp="1"/>
          </p:cNvSpPr>
          <p:nvPr>
            <p:ph type="body" sz="quarter" idx="12" hasCustomPrompt="1"/>
          </p:nvPr>
        </p:nvSpPr>
        <p:spPr>
          <a:xfrm>
            <a:off x="769882" y="2133599"/>
            <a:ext cx="9656762" cy="635000"/>
          </a:xfrm>
          <a:prstGeom prst="rect">
            <a:avLst/>
          </a:prstGeom>
        </p:spPr>
        <p:txBody>
          <a:bodyPr/>
          <a:lstStyle>
            <a:lvl1pPr marL="0" indent="0">
              <a:buNone/>
              <a:defRPr sz="2800" i="1">
                <a:solidFill>
                  <a:schemeClr val="accent2"/>
                </a:solidFill>
                <a:latin typeface="Times New Roman" charset="0"/>
                <a:ea typeface="Times New Roman" charset="0"/>
                <a:cs typeface="Times New Roman" charset="0"/>
              </a:defRPr>
            </a:lvl1pPr>
          </a:lstStyle>
          <a:p>
            <a:pPr lvl="0"/>
            <a:r>
              <a:rPr lang="en-US" altLang="en-US" sz="2400" dirty="0" err="1" smtClean="0">
                <a:solidFill>
                  <a:schemeClr val="accent2"/>
                </a:solidFill>
              </a:rPr>
              <a:t>Subheader</a:t>
            </a:r>
            <a:endParaRPr lang="en-US" dirty="0"/>
          </a:p>
        </p:txBody>
      </p:sp>
      <p:sp>
        <p:nvSpPr>
          <p:cNvPr id="8" name="Text Placeholder 7"/>
          <p:cNvSpPr>
            <a:spLocks noGrp="1"/>
          </p:cNvSpPr>
          <p:nvPr>
            <p:ph type="body" sz="quarter" idx="13" hasCustomPrompt="1"/>
          </p:nvPr>
        </p:nvSpPr>
        <p:spPr>
          <a:xfrm>
            <a:off x="5225144" y="565604"/>
            <a:ext cx="6651172" cy="696913"/>
          </a:xfrm>
          <a:prstGeom prst="rect">
            <a:avLst/>
          </a:prstGeom>
        </p:spPr>
        <p:txBody>
          <a:bodyPr/>
          <a:lstStyle>
            <a:lvl1pPr marL="0" indent="0" algn="r">
              <a:buNone/>
              <a:defRPr sz="1800" b="1" i="1" baseline="0">
                <a:solidFill>
                  <a:schemeClr val="accent1"/>
                </a:solidFill>
                <a:latin typeface="Times New Roman" charset="0"/>
                <a:ea typeface="Times New Roman" charset="0"/>
                <a:cs typeface="Times New Roman" charset="0"/>
              </a:defRPr>
            </a:lvl1pPr>
            <a:lvl2pPr marL="457166" indent="0" algn="r">
              <a:buNone/>
              <a:defRPr b="1" i="1">
                <a:solidFill>
                  <a:schemeClr val="accent1"/>
                </a:solidFill>
                <a:latin typeface="Times New Roman" charset="0"/>
                <a:ea typeface="Times New Roman" charset="0"/>
                <a:cs typeface="Times New Roman" charset="0"/>
              </a:defRPr>
            </a:lvl2pPr>
            <a:lvl3pPr marL="914330" indent="0" algn="r">
              <a:buNone/>
              <a:defRPr b="1" i="1">
                <a:solidFill>
                  <a:schemeClr val="accent1"/>
                </a:solidFill>
                <a:latin typeface="Times New Roman" charset="0"/>
                <a:ea typeface="Times New Roman" charset="0"/>
                <a:cs typeface="Times New Roman" charset="0"/>
              </a:defRPr>
            </a:lvl3pPr>
            <a:lvl4pPr marL="1371496" indent="0" algn="r">
              <a:buNone/>
              <a:defRPr b="1" i="1">
                <a:solidFill>
                  <a:schemeClr val="accent1"/>
                </a:solidFill>
                <a:latin typeface="Times New Roman" charset="0"/>
                <a:ea typeface="Times New Roman" charset="0"/>
                <a:cs typeface="Times New Roman" charset="0"/>
              </a:defRPr>
            </a:lvl4pPr>
            <a:lvl5pPr marL="1828663" indent="0" algn="r">
              <a:buNone/>
              <a:defRPr b="1" i="1">
                <a:solidFill>
                  <a:schemeClr val="accent1"/>
                </a:solidFill>
                <a:latin typeface="Times New Roman" charset="0"/>
                <a:ea typeface="Times New Roman" charset="0"/>
                <a:cs typeface="Times New Roman" charset="0"/>
              </a:defRPr>
            </a:lvl5pPr>
          </a:lstStyle>
          <a:p>
            <a:pPr lvl="0"/>
            <a:r>
              <a:rPr lang="en-US" dirty="0" smtClean="0"/>
              <a:t>SLIDE SUBJECT</a:t>
            </a:r>
            <a:endParaRPr lang="en-US" dirty="0"/>
          </a:p>
        </p:txBody>
      </p:sp>
      <p:sp>
        <p:nvSpPr>
          <p:cNvPr id="9" name="Table Placeholder 16"/>
          <p:cNvSpPr>
            <a:spLocks noGrp="1"/>
          </p:cNvSpPr>
          <p:nvPr>
            <p:ph type="tbl" sz="quarter" idx="14"/>
          </p:nvPr>
        </p:nvSpPr>
        <p:spPr>
          <a:xfrm>
            <a:off x="769881" y="2790825"/>
            <a:ext cx="4662089" cy="2959100"/>
          </a:xfrm>
          <a:prstGeom prst="rect">
            <a:avLst/>
          </a:prstGeom>
        </p:spPr>
        <p:txBody>
          <a:bodyPr/>
          <a:lstStyle/>
          <a:p>
            <a:endParaRPr lang="en-US"/>
          </a:p>
        </p:txBody>
      </p:sp>
    </p:spTree>
    <p:extLst>
      <p:ext uri="{BB962C8B-B14F-4D97-AF65-F5344CB8AC3E}">
        <p14:creationId xmlns:p14="http://schemas.microsoft.com/office/powerpoint/2010/main" val="49614738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9188317"/>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712" r:id="rId3"/>
    <p:sldLayoutId id="2147483713" r:id="rId4"/>
    <p:sldLayoutId id="2147483714" r:id="rId5"/>
    <p:sldLayoutId id="2147483715" r:id="rId6"/>
    <p:sldLayoutId id="2147483719" r:id="rId7"/>
    <p:sldLayoutId id="2147483720" r:id="rId8"/>
    <p:sldLayoutId id="2147483721" r:id="rId9"/>
    <p:sldLayoutId id="2147483716" r:id="rId10"/>
    <p:sldLayoutId id="2147483717" r:id="rId11"/>
    <p:sldLayoutId id="2147483718" r:id="rId12"/>
    <p:sldLayoutId id="2147483722" r:id="rId13"/>
  </p:sldLayoutIdLst>
  <p:timing>
    <p:tnLst>
      <p:par>
        <p:cTn id="1" dur="indefinite" restart="never" nodeType="tmRoot"/>
      </p:par>
    </p:tnLst>
  </p:timing>
  <p:txStyles>
    <p:titleStyle>
      <a:lvl1pPr algn="l" defTabSz="914332" rtl="0" eaLnBrk="1" latinLnBrk="0" hangingPunct="1">
        <a:lnSpc>
          <a:spcPct val="90000"/>
        </a:lnSpc>
        <a:spcBef>
          <a:spcPct val="0"/>
        </a:spcBef>
        <a:buNone/>
        <a:defRPr sz="3600" b="0" i="1" kern="1200" cap="all" baseline="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50" indent="-228584" algn="l" defTabSz="914332"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14" indent="-228584" algn="l" defTabSz="914332"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080"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247"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Box 2"/>
          <p:cNvSpPr txBox="1"/>
          <p:nvPr/>
        </p:nvSpPr>
        <p:spPr>
          <a:xfrm>
            <a:off x="822960" y="1691640"/>
            <a:ext cx="7498079" cy="3291840"/>
          </a:xfrm>
          <a:prstGeom prst="rect">
            <a:avLst/>
          </a:prstGeom>
          <a:noFill/>
        </p:spPr>
        <p:txBody>
          <a:bodyPr wrap="square" lIns="0" tIns="0" rIns="0" bIns="0">
            <a:spAutoFit/>
          </a:bodyPr>
          <a:lstStyle/>
          <a:p>
            <a:pPr>
              <a:defRPr sz="3600" b="1">
                <a:solidFill>
                  <a:srgbClr val="004684"/>
                </a:solidFill>
                <a:latin typeface="Montserrat"/>
              </a:defRPr>
            </a:pPr>
            <a:r>
              <a:t>PROJECT SILVA</a:t>
            </a:r>
          </a:p>
          <a:p>
            <a:pPr>
              <a:defRPr sz="1900" b="1">
                <a:solidFill>
                  <a:srgbClr val="001F3F"/>
                </a:solidFill>
                <a:latin typeface="Montserrat"/>
              </a:defRPr>
            </a:pPr>
            <a:r>
              <a:t>Spatial Intelligence for Living Vegetation &amp; Agroforestry</a:t>
            </a:r>
          </a:p>
          <a:p>
            <a:br/>
            <a:pPr>
              <a:defRPr sz="1300" b="1">
                <a:solidFill>
                  <a:srgbClr val="1B5E20"/>
                </a:solidFill>
                <a:latin typeface="Segoe UI"/>
              </a:defRPr>
            </a:pPr>
            <a:r>
              <a:t>USDA NIFA 1890 Capacity Building Grants Program | $750,000 Integrated Track</a:t>
            </a:r>
          </a:p>
          <a:p>
            <a:pPr>
              <a:defRPr sz="1150">
                <a:solidFill>
                  <a:srgbClr val="5A646E"/>
                </a:solidFill>
                <a:latin typeface="Segoe UI"/>
              </a:defRPr>
            </a:pPr>
            <a:r>
              <a:t>North Carolina Agricultural and Technical State University</a:t>
            </a:r>
            <a:br/>
            <a:r>
              <a:t>College of Agriculture &amp; Environmental Sciences (CAES)</a:t>
            </a:r>
          </a:p>
        </p:txBody>
      </p:sp>
      <p:pic>
        <p:nvPicPr>
          <p:cNvPr id="4" name="Picture 3" descr="graphic_silva_emblem.png"/>
          <p:cNvPicPr>
            <a:picLocks noChangeAspect="1"/>
          </p:cNvPicPr>
          <p:nvPr/>
        </p:nvPicPr>
        <p:blipFill>
          <a:blip r:embed="rId2"/>
          <a:stretch>
            <a:fillRect/>
          </a:stretch>
        </p:blipFill>
        <p:spPr>
          <a:xfrm>
            <a:off x="8412480" y="1600200"/>
            <a:ext cx="3108960" cy="3108960"/>
          </a:xfrm>
          <a:prstGeom prst="rect">
            <a:avLst/>
          </a:prstGeom>
        </p:spPr>
      </p:pic>
      <p:pic>
        <p:nvPicPr>
          <p:cNvPr id="5" name="Picture 4" descr="image10.png"/>
          <p:cNvPicPr>
            <a:picLocks noChangeAspect="1"/>
          </p:cNvPicPr>
          <p:nvPr/>
        </p:nvPicPr>
        <p:blipFill>
          <a:blip r:embed="rId3"/>
          <a:stretch>
            <a:fillRect/>
          </a:stretch>
        </p:blipFill>
        <p:spPr>
          <a:xfrm>
            <a:off x="822960" y="4663440"/>
            <a:ext cx="1143000" cy="1143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Executive Vision: Sustainable Land-Grant Capacity</a:t>
            </a:r>
          </a:p>
          <a:p>
            <a:pPr>
              <a:defRPr sz="1150" b="1">
                <a:solidFill>
                  <a:srgbClr val="FDB927"/>
                </a:solidFill>
                <a:latin typeface="Montserrat"/>
              </a:defRPr>
            </a:pPr>
            <a:r>
              <a:t>Direct Alignment with CAES Priorities under Dean Dr. Gregory Goins &amp; Chair Dr. Niroj Aryal</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THE $750,000 INTEGRATED TRACK</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Maximum Allowable Funding:</a:t>
            </a:r>
            <a:r>
              <a:rPr b="0">
                <a:solidFill>
                  <a:srgbClr val="14191E"/>
                </a:solidFill>
              </a:rPr>
              <a:t> Single-function projects cap at $300k–$600k; Integrated projects award up to $750,000 over 36 months.</a:t>
            </a:r>
          </a:p>
          <a:p>
            <a:pPr>
              <a:lnSpc>
                <a:spcPct val="112000"/>
              </a:lnSpc>
              <a:defRPr sz="919" b="1">
                <a:solidFill>
                  <a:srgbClr val="14191E"/>
                </a:solidFill>
                <a:latin typeface="Segoe UI"/>
              </a:defRPr>
            </a:pPr>
            <a:r>
              <a:t>• Tri-Partite Mandate:</a:t>
            </a:r>
            <a:r>
              <a:rPr b="0">
                <a:solidFill>
                  <a:srgbClr val="14191E"/>
                </a:solidFill>
              </a:rPr>
              <a:t> Simultaneously executes Teaching ($350k), Research ($225k), and Extension ($175k).</a:t>
            </a:r>
          </a:p>
          <a:p>
            <a:pPr>
              <a:lnSpc>
                <a:spcPct val="112000"/>
              </a:lnSpc>
              <a:defRPr sz="919" b="1">
                <a:solidFill>
                  <a:srgbClr val="14191E"/>
                </a:solidFill>
                <a:latin typeface="Segoe UI"/>
              </a:defRPr>
            </a:pPr>
            <a:r>
              <a:t>• Reviewer-First Simplicity:</a:t>
            </a:r>
            <a:r>
              <a:rPr b="0">
                <a:solidFill>
                  <a:srgbClr val="14191E"/>
                </a:solidFill>
              </a:rPr>
              <a:t> Focused on core land-grant capacity rather than sprawling, untrackable municipal programs.</a:t>
            </a:r>
          </a:p>
          <a:p>
            <a:pPr>
              <a:lnSpc>
                <a:spcPct val="112000"/>
              </a:lnSpc>
              <a:defRPr sz="919" b="1">
                <a:solidFill>
                  <a:srgbClr val="14191E"/>
                </a:solidFill>
                <a:latin typeface="Segoe UI"/>
              </a:defRPr>
            </a:pPr>
            <a:r>
              <a:t>• Protected Budget:</a:t>
            </a:r>
            <a:r>
              <a:rPr b="0">
                <a:solidFill>
                  <a:srgbClr val="14191E"/>
                </a:solidFill>
              </a:rPr>
              <a:t> Caps faculty summer salary at 32% ($240k), preserving 68% ($510k) for physical hardware, student stipends, field plots, and university overhead.</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ENDURING CAPACITY VS. ROUTINE OPERATION</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Federal Red Line:</a:t>
            </a:r>
            <a:r>
              <a:rPr b="0">
                <a:solidFill>
                  <a:srgbClr val="14191E"/>
                </a:solidFill>
              </a:rPr>
              <a:t> USDA panels strictly disqualify proposals funding everyday classroom supplies or temporary research consumables.</a:t>
            </a:r>
          </a:p>
          <a:p>
            <a:pPr>
              <a:lnSpc>
                <a:spcPct val="112000"/>
              </a:lnSpc>
              <a:defRPr sz="919" b="1">
                <a:solidFill>
                  <a:srgbClr val="14191E"/>
                </a:solidFill>
                <a:latin typeface="Segoe UI"/>
              </a:defRPr>
            </a:pPr>
            <a:r>
              <a:t>• Physical &amp; Computing Assets:</a:t>
            </a:r>
            <a:r>
              <a:rPr b="0">
                <a:solidFill>
                  <a:srgbClr val="14191E"/>
                </a:solidFill>
              </a:rPr>
              <a:t> Establishes a permanent GPU Spatial Design Center and living agroforestry field infrastructure.</a:t>
            </a:r>
          </a:p>
          <a:p>
            <a:pPr>
              <a:lnSpc>
                <a:spcPct val="112000"/>
              </a:lnSpc>
              <a:defRPr sz="919" b="1">
                <a:solidFill>
                  <a:srgbClr val="14191E"/>
                </a:solidFill>
                <a:latin typeface="Segoe UI"/>
              </a:defRPr>
            </a:pPr>
            <a:r>
              <a:t>• First 4+1 HBCU MLA Pathway:</a:t>
            </a:r>
            <a:r>
              <a:rPr b="0">
                <a:solidFill>
                  <a:srgbClr val="14191E"/>
                </a:solidFill>
              </a:rPr>
              <a:t> Lays the structural foundation for the Nation's First Accelerated 4+1 Master of Landscape Architecture (BSLA + MLA) at an HBCU.</a:t>
            </a:r>
          </a:p>
          <a:p>
            <a:pPr>
              <a:lnSpc>
                <a:spcPct val="112000"/>
              </a:lnSpc>
              <a:defRPr sz="919" b="1">
                <a:solidFill>
                  <a:srgbClr val="14191E"/>
                </a:solidFill>
                <a:latin typeface="Segoe UI"/>
              </a:defRPr>
            </a:pPr>
            <a:r>
              <a:t>• Institutionalized Longevity:</a:t>
            </a:r>
            <a:r>
              <a:rPr b="0">
                <a:solidFill>
                  <a:srgbClr val="14191E"/>
                </a:solidFill>
              </a:rPr>
              <a:t> Generates recurring graduate tuition revenue, permanent computing licenses, and 15–20 year agroforestry plots.</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BREAKING INTERDISCIPLINARY SILOS</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Three Academic Colleges:</a:t>
            </a:r>
            <a:r>
              <a:rPr b="0">
                <a:solidFill>
                  <a:srgbClr val="14191E"/>
                </a:solidFill>
              </a:rPr>
              <a:t> Unites CAES (Agriculture), COE (Engineering), and CoST (Science &amp; Technology) with Cooperative Extension.</a:t>
            </a:r>
          </a:p>
          <a:p>
            <a:pPr>
              <a:lnSpc>
                <a:spcPct val="112000"/>
              </a:lnSpc>
              <a:defRPr sz="919" b="1">
                <a:solidFill>
                  <a:srgbClr val="14191E"/>
                </a:solidFill>
                <a:latin typeface="Segoe UI"/>
              </a:defRPr>
            </a:pPr>
            <a:r>
              <a:t>• Dean &amp; Chair Leadership:</a:t>
            </a:r>
            <a:r>
              <a:rPr b="0">
                <a:solidFill>
                  <a:srgbClr val="14191E"/>
                </a:solidFill>
              </a:rPr>
              <a:t> Structured to support CAES administrative goals under Dean Dr. Gregory Goins, faculty tenure velocity, and student workforce placement.</a:t>
            </a:r>
          </a:p>
          <a:p>
            <a:pPr>
              <a:lnSpc>
                <a:spcPct val="112000"/>
              </a:lnSpc>
              <a:defRPr sz="919" b="1">
                <a:solidFill>
                  <a:srgbClr val="14191E"/>
                </a:solidFill>
                <a:latin typeface="Segoe UI"/>
              </a:defRPr>
            </a:pPr>
            <a:r>
              <a:t>• University F&amp;A Recovery:</a:t>
            </a:r>
            <a:r>
              <a:rPr b="0">
                <a:solidFill>
                  <a:srgbClr val="14191E"/>
                </a:solidFill>
              </a:rPr>
              <a:t> Fully accounts for NC A&amp;T's ~45% MTDC indirect cost rate, generating ~$125k in overhead revenue back to DOR, CAES, and NRED.</a:t>
            </a:r>
          </a:p>
          <a:p>
            <a:pPr>
              <a:lnSpc>
                <a:spcPct val="112000"/>
              </a:lnSpc>
              <a:defRPr sz="919" b="1">
                <a:solidFill>
                  <a:srgbClr val="14191E"/>
                </a:solidFill>
                <a:latin typeface="Segoe UI"/>
              </a:defRPr>
            </a:pPr>
            <a:r>
              <a:t>• Verified Credentials:</a:t>
            </a:r>
            <a:r>
              <a:rPr b="0">
                <a:solidFill>
                  <a:srgbClr val="14191E"/>
                </a:solidFill>
              </a:rPr>
              <a:t> Fully funds examination fees for 45+ students as USDA NRCS Planners, SITES APs, and ABCD Community Leaders.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The Integrated Tri-Partite Land-Grant Model</a:t>
            </a:r>
          </a:p>
          <a:p>
            <a:pPr>
              <a:defRPr sz="1150" b="1">
                <a:solidFill>
                  <a:srgbClr val="001F3F"/>
                </a:solidFill>
                <a:latin typeface="Montserrat"/>
              </a:defRPr>
            </a:pPr>
            <a:r>
              <a:t>Figure 1: Bilateral Synergies Across Teaching, Research, and Extension</a:t>
            </a:r>
          </a:p>
        </p:txBody>
      </p:sp>
      <p:sp>
        <p:nvSpPr>
          <p:cNvPr id="4" name="Rounded Rectangle 3"/>
          <p:cNvSpPr/>
          <p:nvPr/>
        </p:nvSpPr>
        <p:spPr>
          <a:xfrm>
            <a:off x="768096" y="2057400"/>
            <a:ext cx="6254496"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6254496" cy="402336"/>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PROJECT SILVA CONVERGENCE ARCHITECTURE</a:t>
            </a:r>
          </a:p>
        </p:txBody>
      </p:sp>
      <p:pic>
        <p:nvPicPr>
          <p:cNvPr id="6" name="Picture 5" descr="graphic_silva_venn_diagram.png"/>
          <p:cNvPicPr>
            <a:picLocks noChangeAspect="1"/>
          </p:cNvPicPr>
          <p:nvPr/>
        </p:nvPicPr>
        <p:blipFill>
          <a:blip r:embed="rId2"/>
          <a:stretch>
            <a:fillRect/>
          </a:stretch>
        </p:blipFill>
        <p:spPr>
          <a:xfrm>
            <a:off x="896112" y="2531364"/>
            <a:ext cx="5998464" cy="3624071"/>
          </a:xfrm>
          <a:prstGeom prst="rect">
            <a:avLst/>
          </a:prstGeom>
        </p:spPr>
      </p:pic>
      <p:sp>
        <p:nvSpPr>
          <p:cNvPr id="7" name="Rounded Rectangle 6"/>
          <p:cNvSpPr/>
          <p:nvPr/>
        </p:nvSpPr>
        <p:spPr>
          <a:xfrm>
            <a:off x="7168896" y="2057400"/>
            <a:ext cx="425196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68896" y="2057400"/>
            <a:ext cx="42519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BILATERAL SYNERGIES &amp; CONVERGENCE MECHANISMS</a:t>
            </a:r>
          </a:p>
        </p:txBody>
      </p:sp>
      <p:sp>
        <p:nvSpPr>
          <p:cNvPr id="9" name="TextBox 8"/>
          <p:cNvSpPr txBox="1"/>
          <p:nvPr/>
        </p:nvSpPr>
        <p:spPr>
          <a:xfrm>
            <a:off x="7315200" y="2514600"/>
            <a:ext cx="3959352" cy="3694175"/>
          </a:xfrm>
          <a:prstGeom prst="rect">
            <a:avLst/>
          </a:prstGeom>
          <a:noFill/>
        </p:spPr>
        <p:txBody>
          <a:bodyPr wrap="square" lIns="0" tIns="0" rIns="0" bIns="0">
            <a:spAutoFit/>
          </a:bodyPr>
          <a:lstStyle/>
          <a:p>
            <a:pPr>
              <a:lnSpc>
                <a:spcPct val="106000"/>
              </a:lnSpc>
              <a:defRPr sz="819" b="1">
                <a:solidFill>
                  <a:srgbClr val="14191E"/>
                </a:solidFill>
                <a:latin typeface="Segoe UI"/>
              </a:defRPr>
            </a:pPr>
            <a:r>
              <a:t>• Synergy 1 (Teaching ↔ Research):</a:t>
            </a:r>
            <a:r>
              <a:rPr b="0">
                <a:solidFill>
                  <a:srgbClr val="14191E"/>
                </a:solidFill>
              </a:rPr>
              <a:t> BSLA design studio baseline inventories directly structure field research plots; real-time sensor and truffle mycorrhizal telemetry stream into studio grading rubrics.</a:t>
            </a:r>
          </a:p>
          <a:p>
            <a:pPr>
              <a:lnSpc>
                <a:spcPct val="106000"/>
              </a:lnSpc>
              <a:defRPr sz="819" b="1">
                <a:solidFill>
                  <a:srgbClr val="14191E"/>
                </a:solidFill>
                <a:latin typeface="Segoe UI"/>
              </a:defRPr>
            </a:pPr>
            <a:r>
              <a:t>• Synergy 2 (Research ↔ Extension):</a:t>
            </a:r>
            <a:r>
              <a:rPr b="0">
                <a:solidFill>
                  <a:srgbClr val="14191E"/>
                </a:solidFill>
              </a:rPr>
              <a:t> Aerial drone multispectral canopy stress spotting directs ground-truthed robotic diagnostics and field entomology to fuel rapid-deployment grower IPM bulletins.</a:t>
            </a:r>
          </a:p>
          <a:p>
            <a:pPr>
              <a:lnSpc>
                <a:spcPct val="106000"/>
              </a:lnSpc>
              <a:defRPr sz="819" b="1">
                <a:solidFill>
                  <a:srgbClr val="14191E"/>
                </a:solidFill>
                <a:latin typeface="Segoe UI"/>
              </a:defRPr>
            </a:pPr>
            <a:r>
              <a:t>• Synergy 3 (Teaching ↔ Extension):</a:t>
            </a:r>
            <a:r>
              <a:rPr b="0">
                <a:solidFill>
                  <a:srgbClr val="14191E"/>
                </a:solidFill>
              </a:rPr>
              <a:t> ABCD-certified undergraduate students lead community landowner design charrettes at SFRIC; students and county agents co-deploy 3D farm scanning SOPs via GeoScope.</a:t>
            </a:r>
          </a:p>
          <a:p>
            <a:pPr>
              <a:lnSpc>
                <a:spcPct val="106000"/>
              </a:lnSpc>
              <a:defRPr sz="819" b="1">
                <a:solidFill>
                  <a:srgbClr val="14191E"/>
                </a:solidFill>
                <a:latin typeface="Segoe UI"/>
              </a:defRPr>
            </a:pPr>
            <a:r>
              <a:t>• Central Testbed Convergence:</a:t>
            </a:r>
            <a:r>
              <a:rPr b="0">
                <a:solidFill>
                  <a:srgbClr val="14191E"/>
                </a:solidFill>
              </a:rPr>
              <a:t> The 100+ acre SFRIC Living Forest Lab serves as the shared physical testbed uniting all three tracks.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The Graduate Degree Bridge: Accelerated 4+1 MLA</a:t>
            </a:r>
          </a:p>
          <a:p>
            <a:pPr>
              <a:defRPr sz="1150" b="1">
                <a:solidFill>
                  <a:srgbClr val="001F3F"/>
                </a:solidFill>
                <a:latin typeface="Montserrat"/>
              </a:defRPr>
            </a:pPr>
            <a:r>
              <a:t>Scaffolding the Nation's First Accelerated Landscape Architecture Degree at an HBCU</a:t>
            </a:r>
          </a:p>
        </p:txBody>
      </p:sp>
      <p:sp>
        <p:nvSpPr>
          <p:cNvPr id="4" name="Rounded Rectangle 3"/>
          <p:cNvSpPr/>
          <p:nvPr/>
        </p:nvSpPr>
        <p:spPr>
          <a:xfrm>
            <a:off x="768096" y="2057400"/>
            <a:ext cx="4480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4480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DEGREE BRIDGE &amp; CURRICULAR SCAFFOLDING</a:t>
            </a:r>
          </a:p>
        </p:txBody>
      </p:sp>
      <p:sp>
        <p:nvSpPr>
          <p:cNvPr id="6" name="TextBox 5"/>
          <p:cNvSpPr txBox="1"/>
          <p:nvPr/>
        </p:nvSpPr>
        <p:spPr>
          <a:xfrm>
            <a:off x="914400" y="2514600"/>
            <a:ext cx="4187952" cy="3054096"/>
          </a:xfrm>
          <a:prstGeom prst="rect">
            <a:avLst/>
          </a:prstGeom>
          <a:noFill/>
        </p:spPr>
        <p:txBody>
          <a:bodyPr wrap="square" lIns="0" tIns="0" rIns="0" bIns="0">
            <a:spAutoFit/>
          </a:bodyPr>
          <a:lstStyle/>
          <a:p>
            <a:pPr>
              <a:lnSpc>
                <a:spcPct val="108000"/>
              </a:lnSpc>
              <a:defRPr sz="840" b="1">
                <a:solidFill>
                  <a:srgbClr val="14191E"/>
                </a:solidFill>
                <a:latin typeface="Segoe UI"/>
              </a:defRPr>
            </a:pPr>
            <a:r>
              <a:t>• Nation's First 4+1 HBCU MLA:</a:t>
            </a:r>
            <a:r>
              <a:rPr b="0">
                <a:solidFill>
                  <a:srgbClr val="14191E"/>
                </a:solidFill>
              </a:rPr>
              <a:t> Seamless pipeline from undergraduate BSLA to Master of Landscape Architecture (MLA) in 5 total years.</a:t>
            </a:r>
          </a:p>
          <a:p>
            <a:pPr>
              <a:lnSpc>
                <a:spcPct val="108000"/>
              </a:lnSpc>
              <a:defRPr sz="840" b="1">
                <a:solidFill>
                  <a:srgbClr val="14191E"/>
                </a:solidFill>
                <a:latin typeface="Segoe UI"/>
              </a:defRPr>
            </a:pPr>
            <a:r>
              <a:t>• Two New Approved Graduate Courses:</a:t>
            </a:r>
            <a:r>
              <a:rPr b="0">
                <a:solidFill>
                  <a:srgbClr val="14191E"/>
                </a:solidFill>
              </a:rPr>
              <a:t> Formally establishes LDAR 612 (Resilient Site Systems &amp; SITES AP) and LDAR 624 (Community Spatial Practice &amp; ABCD).</a:t>
            </a:r>
          </a:p>
          <a:p>
            <a:pPr>
              <a:lnSpc>
                <a:spcPct val="108000"/>
              </a:lnSpc>
              <a:defRPr sz="840" b="1">
                <a:solidFill>
                  <a:srgbClr val="14191E"/>
                </a:solidFill>
                <a:latin typeface="Segoe UI"/>
              </a:defRPr>
            </a:pPr>
            <a:r>
              <a:t>• Graduate Credit Banking:</a:t>
            </a:r>
            <a:r>
              <a:rPr b="0">
                <a:solidFill>
                  <a:srgbClr val="14191E"/>
                </a:solidFill>
              </a:rPr>
              <a:t> Seniors take up to 12 graduate credit hours in Year 4 that count toward both BSLA electives and MLA core requirements.</a:t>
            </a:r>
          </a:p>
          <a:p>
            <a:pPr>
              <a:lnSpc>
                <a:spcPct val="108000"/>
              </a:lnSpc>
              <a:defRPr sz="840" b="1">
                <a:solidFill>
                  <a:srgbClr val="14191E"/>
                </a:solidFill>
                <a:latin typeface="Segoe UI"/>
              </a:defRPr>
            </a:pPr>
            <a:r>
              <a:t>• Talent Retention:</a:t>
            </a:r>
            <a:r>
              <a:rPr b="0">
                <a:solidFill>
                  <a:srgbClr val="14191E"/>
                </a:solidFill>
              </a:rPr>
              <a:t> Prevents predatory out-of-state recruitment of NC A&amp;T design graduates by providing an elite in-house professional pathway.</a:t>
            </a:r>
          </a:p>
          <a:p>
            <a:pPr>
              <a:lnSpc>
                <a:spcPct val="108000"/>
              </a:lnSpc>
              <a:defRPr sz="840" b="1">
                <a:solidFill>
                  <a:srgbClr val="14191E"/>
                </a:solidFill>
                <a:latin typeface="Segoe UI"/>
              </a:defRPr>
            </a:pPr>
            <a:r>
              <a:t>• Institutional Longevity:</a:t>
            </a:r>
            <a:r>
              <a:rPr b="0">
                <a:solidFill>
                  <a:srgbClr val="14191E"/>
                </a:solidFill>
              </a:rPr>
              <a:t> Creates a self-funding graduate enrollment pipeline generating recurring departmental tuition revenue.</a:t>
            </a:r>
          </a:p>
        </p:txBody>
      </p:sp>
      <p:sp>
        <p:nvSpPr>
          <p:cNvPr id="7" name="Rounded Rectangle 6"/>
          <p:cNvSpPr/>
          <p:nvPr/>
        </p:nvSpPr>
        <p:spPr>
          <a:xfrm>
            <a:off x="5440680" y="2057400"/>
            <a:ext cx="5980176" cy="356616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40680" y="2057400"/>
            <a:ext cx="5980176" cy="402336"/>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ACCELERATED 4+1 MLA TIMELINE &amp; COURSE MAPPING</a:t>
            </a:r>
          </a:p>
        </p:txBody>
      </p:sp>
      <p:pic>
        <p:nvPicPr>
          <p:cNvPr id="9" name="Picture 8" descr="graphic_degree_bridge.png"/>
          <p:cNvPicPr>
            <a:picLocks noChangeAspect="1"/>
          </p:cNvPicPr>
          <p:nvPr/>
        </p:nvPicPr>
        <p:blipFill>
          <a:blip r:embed="rId2"/>
          <a:stretch>
            <a:fillRect/>
          </a:stretch>
        </p:blipFill>
        <p:spPr>
          <a:xfrm>
            <a:off x="5568696" y="2808042"/>
            <a:ext cx="5724144" cy="243063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Curricular Architecture &amp; Dual-Track Credential Pipeline</a:t>
            </a:r>
          </a:p>
          <a:p>
            <a:pPr>
              <a:defRPr sz="1150" b="1">
                <a:solidFill>
                  <a:srgbClr val="001F3F"/>
                </a:solidFill>
                <a:latin typeface="Montserrat"/>
              </a:defRPr>
            </a:pPr>
            <a:r>
              <a:t>Studio Pedagogical Firewall, Canvas Homework Modules &amp; 4+1 MLA Scaffolding</a:t>
            </a:r>
          </a:p>
        </p:txBody>
      </p:sp>
      <p:sp>
        <p:nvSpPr>
          <p:cNvPr id="4" name="Rounded Rectangle 3"/>
          <p:cNvSpPr/>
          <p:nvPr/>
        </p:nvSpPr>
        <p:spPr>
          <a:xfrm>
            <a:off x="768096" y="2057400"/>
            <a:ext cx="4480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4480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DUAL-TRACK CREDENTIALING &amp; STUDIO FIREWALL</a:t>
            </a:r>
          </a:p>
        </p:txBody>
      </p:sp>
      <p:sp>
        <p:nvSpPr>
          <p:cNvPr id="6" name="TextBox 5"/>
          <p:cNvSpPr txBox="1"/>
          <p:nvPr/>
        </p:nvSpPr>
        <p:spPr>
          <a:xfrm>
            <a:off x="914400" y="2514600"/>
            <a:ext cx="4187952" cy="3054096"/>
          </a:xfrm>
          <a:prstGeom prst="rect">
            <a:avLst/>
          </a:prstGeom>
          <a:noFill/>
        </p:spPr>
        <p:txBody>
          <a:bodyPr wrap="square" lIns="0" tIns="0" rIns="0" bIns="0">
            <a:spAutoFit/>
          </a:bodyPr>
          <a:lstStyle/>
          <a:p>
            <a:pPr>
              <a:lnSpc>
                <a:spcPct val="106000"/>
              </a:lnSpc>
              <a:defRPr sz="840" b="1">
                <a:solidFill>
                  <a:srgbClr val="14191E"/>
                </a:solidFill>
                <a:latin typeface="Segoe UI"/>
              </a:defRPr>
            </a:pPr>
            <a:r>
              <a:t>• Studio Pedagogical Firewall:</a:t>
            </a:r>
            <a:r>
              <a:rPr b="0">
                <a:solidFill>
                  <a:srgbClr val="14191E"/>
                </a:solidFill>
              </a:rPr>
              <a:t> Studio class contact hours remain 100% dedicated to creative design, desk crits, and 3D GIS—zero classroom time is lost to test taking.</a:t>
            </a:r>
          </a:p>
          <a:p>
            <a:pPr>
              <a:lnSpc>
                <a:spcPct val="106000"/>
              </a:lnSpc>
              <a:defRPr sz="840" b="1">
                <a:solidFill>
                  <a:srgbClr val="14191E"/>
                </a:solidFill>
                <a:latin typeface="Segoe UI"/>
              </a:defRPr>
            </a:pPr>
            <a:r>
              <a:t>• Undergrad Canvas Modules (LDAR 247/248):</a:t>
            </a:r>
            <a:r>
              <a:rPr b="0">
                <a:solidFill>
                  <a:srgbClr val="14191E"/>
                </a:solidFill>
              </a:rPr>
              <a:t> NRCS Apprentice Planner (Level I) and SITES AP delivered as structured asynchronous homework modules (1.5 hr/wk) with weekly Canvas quizzes.</a:t>
            </a:r>
          </a:p>
          <a:p>
            <a:pPr>
              <a:lnSpc>
                <a:spcPct val="106000"/>
              </a:lnSpc>
              <a:defRPr sz="840" b="1">
                <a:solidFill>
                  <a:srgbClr val="14191E"/>
                </a:solidFill>
                <a:latin typeface="Segoe UI"/>
              </a:defRPr>
            </a:pPr>
            <a:r>
              <a:t>• 4+1 MLA Graduate Scaffolding:</a:t>
            </a:r>
            <a:r>
              <a:rPr b="0">
                <a:solidFill>
                  <a:srgbClr val="14191E"/>
                </a:solidFill>
              </a:rPr>
              <a:t> Formally creates two new approved graduate catalog courses: LDAR 612 (Resilient Site Systems &amp; SITES AP) and LDAR 624 (Community Spatial Practice &amp; ABCD).</a:t>
            </a:r>
          </a:p>
          <a:p>
            <a:pPr>
              <a:lnSpc>
                <a:spcPct val="106000"/>
              </a:lnSpc>
              <a:defRPr sz="840" b="1">
                <a:solidFill>
                  <a:srgbClr val="14191E"/>
                </a:solidFill>
                <a:latin typeface="Segoe UI"/>
              </a:defRPr>
            </a:pPr>
            <a:r>
              <a:t>• Time Commitment Realism:</a:t>
            </a:r>
            <a:r>
              <a:rPr b="0">
                <a:solidFill>
                  <a:srgbClr val="14191E"/>
                </a:solidFill>
              </a:rPr>
              <a:t> NRCS-CP (~30–35 hrs), SITES AP (~40–50 hrs), ABCD (~15–20 hrs)—averaging ~2 hrs/week of self-paced study over 2–3 years.</a:t>
            </a:r>
          </a:p>
          <a:p>
            <a:pPr>
              <a:lnSpc>
                <a:spcPct val="106000"/>
              </a:lnSpc>
              <a:defRPr sz="840" b="1">
                <a:solidFill>
                  <a:srgbClr val="14191E"/>
                </a:solidFill>
                <a:latin typeface="Segoe UI"/>
              </a:defRPr>
            </a:pPr>
            <a:r>
              <a:t>• 100% Exam Sponsorship ($15,000 Line Item):</a:t>
            </a:r>
            <a:r>
              <a:rPr b="0">
                <a:solidFill>
                  <a:srgbClr val="14191E"/>
                </a:solidFill>
              </a:rPr>
              <a:t> Project SILVA fully finances study bundles and national exam vouchers for 45+ students ($0 out-of-pocket).</a:t>
            </a:r>
          </a:p>
          <a:p>
            <a:pPr>
              <a:lnSpc>
                <a:spcPct val="106000"/>
              </a:lnSpc>
              <a:defRPr sz="840" b="1">
                <a:solidFill>
                  <a:srgbClr val="14191E"/>
                </a:solidFill>
                <a:latin typeface="Segoe UI"/>
              </a:defRPr>
            </a:pPr>
            <a:r>
              <a:t>• In-Studio Design Application:</a:t>
            </a:r>
            <a:r>
              <a:rPr b="0">
                <a:solidFill>
                  <a:srgbClr val="14191E"/>
                </a:solidFill>
              </a:rPr>
              <a:t> Students apply SITES v2 250-point scorecards and NRCS 9-Step conservation rubrics directly to their SFRIC Living Forest studio design projects.</a:t>
            </a:r>
          </a:p>
        </p:txBody>
      </p:sp>
      <p:sp>
        <p:nvSpPr>
          <p:cNvPr id="7" name="Rounded Rectangle 6"/>
          <p:cNvSpPr/>
          <p:nvPr/>
        </p:nvSpPr>
        <p:spPr>
          <a:xfrm>
            <a:off x="5440680" y="2057400"/>
            <a:ext cx="5980176" cy="356616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40680" y="2057400"/>
            <a:ext cx="5980176" cy="402336"/>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BSLA 4-YEAR SEQUENCE &amp; STACKABLE CREDENTIAL PIPELINE</a:t>
            </a:r>
          </a:p>
        </p:txBody>
      </p:sp>
      <p:pic>
        <p:nvPicPr>
          <p:cNvPr id="9" name="Picture 8" descr="graphic_curriculum_pipeline.png"/>
          <p:cNvPicPr>
            <a:picLocks noChangeAspect="1"/>
          </p:cNvPicPr>
          <p:nvPr/>
        </p:nvPicPr>
        <p:blipFill>
          <a:blip r:embed="rId2"/>
          <a:stretch>
            <a:fillRect/>
          </a:stretch>
        </p:blipFill>
        <p:spPr>
          <a:xfrm>
            <a:off x="5568696" y="2865162"/>
            <a:ext cx="5724144" cy="231639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Woodland Bioeconomy: High-Value Agroforestry in Action</a:t>
            </a:r>
          </a:p>
          <a:p>
            <a:pPr>
              <a:defRPr sz="1150" b="1">
                <a:solidFill>
                  <a:srgbClr val="001F3F"/>
                </a:solidFill>
                <a:latin typeface="Montserrat"/>
              </a:defRPr>
            </a:pPr>
            <a:r>
              <a:t>Pecan Truffle Inoculation, Shade Polycultures &amp; Small Farm Economic Resilience</a:t>
            </a:r>
          </a:p>
        </p:txBody>
      </p:sp>
      <p:sp>
        <p:nvSpPr>
          <p:cNvPr id="4" name="Rounded Rectangle 3"/>
          <p:cNvSpPr/>
          <p:nvPr/>
        </p:nvSpPr>
        <p:spPr>
          <a:xfrm>
            <a:off x="768096" y="2057400"/>
            <a:ext cx="566928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66928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LIVING AGROFORESTRY RESEARCH TESTBED (SFRIC)</a:t>
            </a:r>
          </a:p>
        </p:txBody>
      </p:sp>
      <p:pic>
        <p:nvPicPr>
          <p:cNvPr id="6" name="Picture 5" descr="photo_farmer_agroforestry.jpg"/>
          <p:cNvPicPr>
            <a:picLocks noChangeAspect="1"/>
          </p:cNvPicPr>
          <p:nvPr/>
        </p:nvPicPr>
        <p:blipFill>
          <a:blip r:embed="rId2"/>
          <a:stretch>
            <a:fillRect/>
          </a:stretch>
        </p:blipFill>
        <p:spPr>
          <a:xfrm>
            <a:off x="950976" y="2532888"/>
            <a:ext cx="5303520" cy="2980944"/>
          </a:xfrm>
          <a:prstGeom prst="rect">
            <a:avLst/>
          </a:prstGeom>
        </p:spPr>
      </p:pic>
      <p:sp>
        <p:nvSpPr>
          <p:cNvPr id="7" name="TextBox 6"/>
          <p:cNvSpPr txBox="1"/>
          <p:nvPr/>
        </p:nvSpPr>
        <p:spPr>
          <a:xfrm>
            <a:off x="950976" y="5586983"/>
            <a:ext cx="5303520" cy="292608"/>
          </a:xfrm>
          <a:prstGeom prst="rect">
            <a:avLst/>
          </a:prstGeom>
          <a:noFill/>
        </p:spPr>
        <p:txBody>
          <a:bodyPr wrap="square" lIns="0" tIns="0" rIns="0" bIns="0">
            <a:spAutoFit/>
          </a:bodyPr>
          <a:lstStyle/>
          <a:p>
            <a:pPr algn="ctr">
              <a:defRPr sz="880" i="1">
                <a:solidFill>
                  <a:srgbClr val="5A646E"/>
                </a:solidFill>
                <a:latin typeface="Segoe UI"/>
              </a:defRPr>
            </a:pPr>
            <a:r>
              <a:t>Figure 1A: Mature 15–20 Year Pecan Orchard at SFRIC Utilized for Understory Polyculture &amp; Truffle Inoculation</a:t>
            </a:r>
          </a:p>
        </p:txBody>
      </p:sp>
      <p:sp>
        <p:nvSpPr>
          <p:cNvPr id="8" name="Rounded Rectangle 7"/>
          <p:cNvSpPr/>
          <p:nvPr/>
        </p:nvSpPr>
        <p:spPr>
          <a:xfrm>
            <a:off x="6574536" y="2057400"/>
            <a:ext cx="484632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4536" y="2057400"/>
            <a:ext cx="484632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BIOECONOMIC RESEARCH INNOVATION</a:t>
            </a:r>
          </a:p>
        </p:txBody>
      </p:sp>
      <p:sp>
        <p:nvSpPr>
          <p:cNvPr id="10" name="TextBox 9"/>
          <p:cNvSpPr txBox="1"/>
          <p:nvPr/>
        </p:nvSpPr>
        <p:spPr>
          <a:xfrm>
            <a:off x="6720840" y="2514600"/>
            <a:ext cx="4553712" cy="3694175"/>
          </a:xfrm>
          <a:prstGeom prst="rect">
            <a:avLst/>
          </a:prstGeom>
          <a:noFill/>
        </p:spPr>
        <p:txBody>
          <a:bodyPr wrap="square" lIns="0" tIns="0" rIns="0" bIns="0">
            <a:spAutoFit/>
          </a:bodyPr>
          <a:lstStyle/>
          <a:p>
            <a:pPr>
              <a:lnSpc>
                <a:spcPct val="110000"/>
              </a:lnSpc>
              <a:defRPr sz="860" b="1">
                <a:solidFill>
                  <a:srgbClr val="14191E"/>
                </a:solidFill>
                <a:latin typeface="Segoe UI"/>
              </a:defRPr>
            </a:pPr>
            <a:r>
              <a:t>• Mature Canopy Testbed:</a:t>
            </a:r>
            <a:r>
              <a:rPr b="0">
                <a:solidFill>
                  <a:srgbClr val="14191E"/>
                </a:solidFill>
              </a:rPr>
              <a:t> Establishes a 5-acre living agroforestry laboratory utilizing SFRIC's 15–20 year mature pecan orchard.</a:t>
            </a:r>
          </a:p>
          <a:p>
            <a:pPr>
              <a:lnSpc>
                <a:spcPct val="110000"/>
              </a:lnSpc>
              <a:defRPr sz="860" b="1">
                <a:solidFill>
                  <a:srgbClr val="14191E"/>
                </a:solidFill>
                <a:latin typeface="Segoe UI"/>
              </a:defRPr>
            </a:pPr>
            <a:r>
              <a:t>• High-Value Mycorrhizal Truffles:</a:t>
            </a:r>
            <a:r>
              <a:rPr b="0">
                <a:solidFill>
                  <a:srgbClr val="14191E"/>
                </a:solidFill>
              </a:rPr>
              <a:t> Inoculates native pecan truffles (Tuber lyonii, $800–$1,200/lb) to demonstrate rapid secondary crop revenue for woodland owners.</a:t>
            </a:r>
          </a:p>
          <a:p>
            <a:pPr>
              <a:lnSpc>
                <a:spcPct val="110000"/>
              </a:lnSpc>
              <a:defRPr sz="860" b="1">
                <a:solidFill>
                  <a:srgbClr val="14191E"/>
                </a:solidFill>
                <a:latin typeface="Segoe UI"/>
              </a:defRPr>
            </a:pPr>
            <a:r>
              <a:t>• Understory Shade Ginger:</a:t>
            </a:r>
            <a:r>
              <a:rPr b="0">
                <a:solidFill>
                  <a:srgbClr val="14191E"/>
                </a:solidFill>
              </a:rPr>
              <a:t> Intercrops micropropagated shade-tolerant organic ginger under pecan canopy to evaluate solar attenuation and multi-tiered yields.</a:t>
            </a:r>
          </a:p>
          <a:p>
            <a:pPr>
              <a:lnSpc>
                <a:spcPct val="110000"/>
              </a:lnSpc>
              <a:defRPr sz="860" b="1">
                <a:solidFill>
                  <a:srgbClr val="14191E"/>
                </a:solidFill>
                <a:latin typeface="Segoe UI"/>
              </a:defRPr>
            </a:pPr>
            <a:r>
              <a:t>• Solving Small Farm Economics:</a:t>
            </a:r>
            <a:r>
              <a:rPr b="0">
                <a:solidFill>
                  <a:srgbClr val="14191E"/>
                </a:solidFill>
              </a:rPr>
              <a:t> Demonstrates annual harvestable income during long timber rotations, transforming small farm financial viability across North Carolina.</a:t>
            </a:r>
          </a:p>
          <a:p>
            <a:pPr>
              <a:lnSpc>
                <a:spcPct val="110000"/>
              </a:lnSpc>
              <a:defRPr sz="860" b="1">
                <a:solidFill>
                  <a:srgbClr val="14191E"/>
                </a:solidFill>
                <a:latin typeface="Segoe UI"/>
              </a:defRPr>
            </a:pPr>
            <a:r>
              <a:t>• Rigorous Biological Protocols:</a:t>
            </a:r>
            <a:r>
              <a:rPr b="0">
                <a:solidFill>
                  <a:srgbClr val="14191E"/>
                </a:solidFill>
              </a:rPr>
              <a:t> Co-led by Senior Scientific Advisor Dr. Omoanghe Isikhuemhen and COE Precision Ag Co-Lead Dr. Momtanu Chakraborty.</a:t>
            </a:r>
          </a:p>
          <a:p>
            <a:pPr>
              <a:lnSpc>
                <a:spcPct val="110000"/>
              </a:lnSpc>
              <a:defRPr sz="860" b="1">
                <a:solidFill>
                  <a:srgbClr val="14191E"/>
                </a:solidFill>
                <a:latin typeface="Segoe UI"/>
              </a:defRPr>
            </a:pPr>
            <a:r>
              <a:t>• Protected Execution:</a:t>
            </a:r>
            <a:r>
              <a:rPr b="0">
                <a:solidFill>
                  <a:srgbClr val="14191E"/>
                </a:solidFill>
              </a:rPr>
              <a:t> Dedicated Post-Doc and 2 GRAs manage field plots, soil moisture probes, and mycorrhizal spore slurries.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Advanced Engineering &amp; Spatial Sensing: Aerial Drones to Digital Twins</a:t>
            </a:r>
          </a:p>
          <a:p>
            <a:pPr>
              <a:defRPr sz="1150" b="1">
                <a:solidFill>
                  <a:srgbClr val="001F3F"/>
                </a:solidFill>
                <a:latin typeface="Montserrat"/>
              </a:defRPr>
            </a:pPr>
            <a:r>
              <a:t>Multispectral Canopy Diagnostics, Robotic Scouting &amp; Mobile 3D Visualization</a:t>
            </a:r>
          </a:p>
        </p:txBody>
      </p:sp>
      <p:sp>
        <p:nvSpPr>
          <p:cNvPr id="4" name="Rounded Rectangle 3"/>
          <p:cNvSpPr/>
          <p:nvPr/>
        </p:nvSpPr>
        <p:spPr>
          <a:xfrm>
            <a:off x="768096" y="2057400"/>
            <a:ext cx="566928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66928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AERIAL DRONE &amp; ROBOTIC SENSING IN THE FIELD</a:t>
            </a:r>
          </a:p>
        </p:txBody>
      </p:sp>
      <p:pic>
        <p:nvPicPr>
          <p:cNvPr id="6" name="Picture 5" descr="photo_drone_entomology_scouting.jpg"/>
          <p:cNvPicPr>
            <a:picLocks noChangeAspect="1"/>
          </p:cNvPicPr>
          <p:nvPr/>
        </p:nvPicPr>
        <p:blipFill>
          <a:blip r:embed="rId2"/>
          <a:stretch>
            <a:fillRect/>
          </a:stretch>
        </p:blipFill>
        <p:spPr>
          <a:xfrm>
            <a:off x="950976" y="2532888"/>
            <a:ext cx="5303520" cy="2980944"/>
          </a:xfrm>
          <a:prstGeom prst="rect">
            <a:avLst/>
          </a:prstGeom>
        </p:spPr>
      </p:pic>
      <p:sp>
        <p:nvSpPr>
          <p:cNvPr id="7" name="TextBox 6"/>
          <p:cNvSpPr txBox="1"/>
          <p:nvPr/>
        </p:nvSpPr>
        <p:spPr>
          <a:xfrm>
            <a:off x="950976" y="5586983"/>
            <a:ext cx="5303520" cy="292608"/>
          </a:xfrm>
          <a:prstGeom prst="rect">
            <a:avLst/>
          </a:prstGeom>
          <a:noFill/>
        </p:spPr>
        <p:txBody>
          <a:bodyPr wrap="square" lIns="0" tIns="0" rIns="0" bIns="0">
            <a:spAutoFit/>
          </a:bodyPr>
          <a:lstStyle/>
          <a:p>
            <a:pPr algn="ctr">
              <a:defRPr sz="880" i="1">
                <a:solidFill>
                  <a:srgbClr val="5A646E"/>
                </a:solidFill>
                <a:latin typeface="Segoe UI"/>
              </a:defRPr>
            </a:pPr>
            <a:r>
              <a:t>Figure 2A: Autonomous UAV Multispectral Flight Operations and Robotic Sensing Telemetry Across Research Plots</a:t>
            </a:r>
          </a:p>
        </p:txBody>
      </p:sp>
      <p:sp>
        <p:nvSpPr>
          <p:cNvPr id="8" name="Rounded Rectangle 7"/>
          <p:cNvSpPr/>
          <p:nvPr/>
        </p:nvSpPr>
        <p:spPr>
          <a:xfrm>
            <a:off x="6574536" y="2057400"/>
            <a:ext cx="484632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4536" y="2057400"/>
            <a:ext cx="484632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ENGINEERING &amp; DIGITAL TWIN ARCHITECTURE</a:t>
            </a:r>
          </a:p>
        </p:txBody>
      </p:sp>
      <p:sp>
        <p:nvSpPr>
          <p:cNvPr id="10" name="TextBox 9"/>
          <p:cNvSpPr txBox="1"/>
          <p:nvPr/>
        </p:nvSpPr>
        <p:spPr>
          <a:xfrm>
            <a:off x="6720840" y="2514600"/>
            <a:ext cx="4553712" cy="3694175"/>
          </a:xfrm>
          <a:prstGeom prst="rect">
            <a:avLst/>
          </a:prstGeom>
          <a:noFill/>
        </p:spPr>
        <p:txBody>
          <a:bodyPr wrap="square" lIns="0" tIns="0" rIns="0" bIns="0">
            <a:spAutoFit/>
          </a:bodyPr>
          <a:lstStyle/>
          <a:p>
            <a:pPr>
              <a:lnSpc>
                <a:spcPct val="110000"/>
              </a:lnSpc>
              <a:defRPr sz="860" b="1">
                <a:solidFill>
                  <a:srgbClr val="14191E"/>
                </a:solidFill>
                <a:latin typeface="Segoe UI"/>
              </a:defRPr>
            </a:pPr>
            <a:r>
              <a:t>• Autonomous UAV Flights:</a:t>
            </a:r>
            <a:r>
              <a:rPr b="0">
                <a:solidFill>
                  <a:srgbClr val="14191E"/>
                </a:solidFill>
              </a:rPr>
              <a:t> Dr. Sun oversees automated drone sweeps equipped with multispectral LiDAR to map canopy health, moisture stress, and vigor.</a:t>
            </a:r>
          </a:p>
          <a:p>
            <a:pPr>
              <a:lnSpc>
                <a:spcPct val="110000"/>
              </a:lnSpc>
              <a:defRPr sz="860" b="1">
                <a:solidFill>
                  <a:srgbClr val="14191E"/>
                </a:solidFill>
                <a:latin typeface="Segoe UI"/>
              </a:defRPr>
            </a:pPr>
            <a:r>
              <a:t>• Robotic Ground Scouting:</a:t>
            </a:r>
            <a:r>
              <a:rPr b="0">
                <a:solidFill>
                  <a:srgbClr val="14191E"/>
                </a:solidFill>
              </a:rPr>
              <a:t> Dr. Aryal deploys robotic quadrupeds carrying environmental sensor payloads to inspect microclimates beneath the tree canopy.</a:t>
            </a:r>
          </a:p>
          <a:p>
            <a:pPr>
              <a:lnSpc>
                <a:spcPct val="110000"/>
              </a:lnSpc>
              <a:defRPr sz="860" b="1">
                <a:solidFill>
                  <a:srgbClr val="14191E"/>
                </a:solidFill>
                <a:latin typeface="Segoe UI"/>
              </a:defRPr>
            </a:pPr>
            <a:r>
              <a:t>• GeoScope 3D Digital Twin:</a:t>
            </a:r>
            <a:r>
              <a:rPr b="0">
                <a:solidFill>
                  <a:srgbClr val="14191E"/>
                </a:solidFill>
              </a:rPr>
              <a:t> Dr. Song's software platform fuses aerial point clouds, soil sensors, and terrain meshes into an interactive 3D web model.</a:t>
            </a:r>
          </a:p>
          <a:p>
            <a:pPr>
              <a:lnSpc>
                <a:spcPct val="110000"/>
              </a:lnSpc>
              <a:defRPr sz="860" b="1">
                <a:solidFill>
                  <a:srgbClr val="14191E"/>
                </a:solidFill>
                <a:latin typeface="Segoe UI"/>
              </a:defRPr>
            </a:pPr>
            <a:r>
              <a:t>• Closing the Digital Divide:</a:t>
            </a:r>
            <a:r>
              <a:rPr b="0">
                <a:solidFill>
                  <a:srgbClr val="14191E"/>
                </a:solidFill>
              </a:rPr>
              <a:t> Complex spatial data is rendered accessible on mobile browsers and field tablets without high-end GIS workstations.</a:t>
            </a:r>
          </a:p>
          <a:p>
            <a:pPr>
              <a:lnSpc>
                <a:spcPct val="110000"/>
              </a:lnSpc>
              <a:defRPr sz="860" b="1">
                <a:solidFill>
                  <a:srgbClr val="14191E"/>
                </a:solidFill>
                <a:latin typeface="Segoe UI"/>
              </a:defRPr>
            </a:pPr>
            <a:r>
              <a:t>• Integrated Pest Diagnostics:</a:t>
            </a:r>
            <a:r>
              <a:rPr b="0">
                <a:solidFill>
                  <a:srgbClr val="14191E"/>
                </a:solidFill>
              </a:rPr>
              <a:t> Dr. Hannah Talton and Dr. Chakraborty calibrate multispectral canopy stress flags against ground insect traps.</a:t>
            </a:r>
          </a:p>
          <a:p>
            <a:pPr>
              <a:lnSpc>
                <a:spcPct val="110000"/>
              </a:lnSpc>
              <a:defRPr sz="860" b="1">
                <a:solidFill>
                  <a:srgbClr val="14191E"/>
                </a:solidFill>
                <a:latin typeface="Segoe UI"/>
              </a:defRPr>
            </a:pPr>
            <a:r>
              <a:t>• Actionable Producer Telemetry:</a:t>
            </a:r>
            <a:r>
              <a:rPr b="0">
                <a:solidFill>
                  <a:srgbClr val="14191E"/>
                </a:solidFill>
              </a:rPr>
              <a:t> Converts complex spectral indices into plain-language grower alerts accessible to 1,200+ small-scale farmers.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Participatory Design Charrette: Community-Led Farm Planning</a:t>
            </a:r>
          </a:p>
          <a:p>
            <a:pPr>
              <a:defRPr sz="1150" b="1">
                <a:solidFill>
                  <a:srgbClr val="001F3F"/>
                </a:solidFill>
                <a:latin typeface="Montserrat"/>
              </a:defRPr>
            </a:pPr>
            <a:r>
              <a:t>Empowering Underserved Landowners Through Student-Led Spatial Co-Design</a:t>
            </a:r>
          </a:p>
        </p:txBody>
      </p:sp>
      <p:sp>
        <p:nvSpPr>
          <p:cNvPr id="4" name="Rounded Rectangle 3"/>
          <p:cNvSpPr/>
          <p:nvPr/>
        </p:nvSpPr>
        <p:spPr>
          <a:xfrm>
            <a:off x="768096" y="2057400"/>
            <a:ext cx="566928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669280" cy="384048"/>
          </a:xfrm>
          <a:prstGeom prst="roundRect">
            <a:avLst/>
          </a:prstGeom>
          <a:solidFill>
            <a:srgbClr val="FDB927"/>
          </a:solidFill>
          <a:ln>
            <a:solidFill>
              <a:srgbClr val="FDB9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1F3F"/>
                </a:solidFill>
                <a:latin typeface="Montserrat"/>
              </a:defRPr>
            </a:pPr>
            <a:r>
              <a:t>COMMUNITY DESIGN CHARRETTE IN ACTION</a:t>
            </a:r>
          </a:p>
        </p:txBody>
      </p:sp>
      <p:pic>
        <p:nvPicPr>
          <p:cNvPr id="6" name="Picture 5" descr="photo_community_charrette.jpg"/>
          <p:cNvPicPr>
            <a:picLocks noChangeAspect="1"/>
          </p:cNvPicPr>
          <p:nvPr/>
        </p:nvPicPr>
        <p:blipFill>
          <a:blip r:embed="rId2"/>
          <a:stretch>
            <a:fillRect/>
          </a:stretch>
        </p:blipFill>
        <p:spPr>
          <a:xfrm>
            <a:off x="950976" y="2532888"/>
            <a:ext cx="5303520" cy="2980944"/>
          </a:xfrm>
          <a:prstGeom prst="rect">
            <a:avLst/>
          </a:prstGeom>
        </p:spPr>
      </p:pic>
      <p:sp>
        <p:nvSpPr>
          <p:cNvPr id="7" name="TextBox 6"/>
          <p:cNvSpPr txBox="1"/>
          <p:nvPr/>
        </p:nvSpPr>
        <p:spPr>
          <a:xfrm>
            <a:off x="950976" y="5586983"/>
            <a:ext cx="5303520" cy="292608"/>
          </a:xfrm>
          <a:prstGeom prst="rect">
            <a:avLst/>
          </a:prstGeom>
          <a:noFill/>
        </p:spPr>
        <p:txBody>
          <a:bodyPr wrap="square" lIns="0" tIns="0" rIns="0" bIns="0">
            <a:spAutoFit/>
          </a:bodyPr>
          <a:lstStyle/>
          <a:p>
            <a:pPr algn="ctr">
              <a:defRPr sz="880" i="1">
                <a:solidFill>
                  <a:srgbClr val="5A646E"/>
                </a:solidFill>
                <a:latin typeface="Segoe UI"/>
              </a:defRPr>
            </a:pPr>
            <a:r>
              <a:t>Figure 3A: Landscape Architecture Students &amp; Extension Agents Facilitating Co-Design Sessions with Local Producers</a:t>
            </a:r>
          </a:p>
        </p:txBody>
      </p:sp>
      <p:sp>
        <p:nvSpPr>
          <p:cNvPr id="8" name="Rounded Rectangle 7"/>
          <p:cNvSpPr/>
          <p:nvPr/>
        </p:nvSpPr>
        <p:spPr>
          <a:xfrm>
            <a:off x="6574536" y="2057400"/>
            <a:ext cx="484632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4536" y="2057400"/>
            <a:ext cx="4846320" cy="384048"/>
          </a:xfrm>
          <a:prstGeom prst="roundRect">
            <a:avLst/>
          </a:prstGeom>
          <a:solidFill>
            <a:srgbClr val="FDB927"/>
          </a:solidFill>
          <a:ln>
            <a:solidFill>
              <a:srgbClr val="FDB9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1F3F"/>
                </a:solidFill>
                <a:latin typeface="Montserrat"/>
              </a:defRPr>
            </a:pPr>
            <a:r>
              <a:t>COMMUNITY ENGAGEMENT &amp; EXTENSION DELIVERY</a:t>
            </a:r>
          </a:p>
        </p:txBody>
      </p:sp>
      <p:sp>
        <p:nvSpPr>
          <p:cNvPr id="10" name="TextBox 9"/>
          <p:cNvSpPr txBox="1"/>
          <p:nvPr/>
        </p:nvSpPr>
        <p:spPr>
          <a:xfrm>
            <a:off x="6720840" y="2514600"/>
            <a:ext cx="4553712" cy="3694175"/>
          </a:xfrm>
          <a:prstGeom prst="rect">
            <a:avLst/>
          </a:prstGeom>
          <a:noFill/>
        </p:spPr>
        <p:txBody>
          <a:bodyPr wrap="square" lIns="0" tIns="0" rIns="0" bIns="0">
            <a:spAutoFit/>
          </a:bodyPr>
          <a:lstStyle/>
          <a:p>
            <a:pPr>
              <a:lnSpc>
                <a:spcPct val="110000"/>
              </a:lnSpc>
              <a:defRPr sz="860" b="1">
                <a:solidFill>
                  <a:srgbClr val="14191E"/>
                </a:solidFill>
                <a:latin typeface="Segoe UI"/>
              </a:defRPr>
            </a:pPr>
            <a:r>
              <a:t>• Democratizing Spatial Planning:</a:t>
            </a:r>
            <a:r>
              <a:rPr b="0">
                <a:solidFill>
                  <a:srgbClr val="14191E"/>
                </a:solidFill>
              </a:rPr>
              <a:t> Brings Black and historically underserved woodland owners directly into participatory design charrettes at SFRIC.</a:t>
            </a:r>
          </a:p>
          <a:p>
            <a:pPr>
              <a:lnSpc>
                <a:spcPct val="110000"/>
              </a:lnSpc>
              <a:defRPr sz="860" b="1">
                <a:solidFill>
                  <a:srgbClr val="14191E"/>
                </a:solidFill>
                <a:latin typeface="Segoe UI"/>
              </a:defRPr>
            </a:pPr>
            <a:r>
              <a:t>• Student-Facilitated Visioning:</a:t>
            </a:r>
            <a:r>
              <a:rPr b="0">
                <a:solidFill>
                  <a:srgbClr val="14191E"/>
                </a:solidFill>
              </a:rPr>
              <a:t> Undergraduate BSLA/MLA students serve as charrette facilitators, translating producer goals into 3D agroforestry masterplans.</a:t>
            </a:r>
          </a:p>
          <a:p>
            <a:pPr>
              <a:lnSpc>
                <a:spcPct val="110000"/>
              </a:lnSpc>
              <a:defRPr sz="860" b="1">
                <a:solidFill>
                  <a:srgbClr val="14191E"/>
                </a:solidFill>
                <a:latin typeface="Segoe UI"/>
              </a:defRPr>
            </a:pPr>
            <a:r>
              <a:t>• Asset-Based Community Development (ABCD):</a:t>
            </a:r>
            <a:r>
              <a:rPr b="0">
                <a:solidFill>
                  <a:srgbClr val="14191E"/>
                </a:solidFill>
              </a:rPr>
              <a:t> Applies ABCD principles to map community resources, local knowledge, and cooperative marketing opportunities.</a:t>
            </a:r>
          </a:p>
          <a:p>
            <a:pPr>
              <a:lnSpc>
                <a:spcPct val="110000"/>
              </a:lnSpc>
              <a:defRPr sz="860" b="1">
                <a:solidFill>
                  <a:srgbClr val="14191E"/>
                </a:solidFill>
                <a:latin typeface="Segoe UI"/>
              </a:defRPr>
            </a:pPr>
            <a:r>
              <a:t>• Statewide Extension Network:</a:t>
            </a:r>
            <a:r>
              <a:rPr b="0">
                <a:solidFill>
                  <a:srgbClr val="14191E"/>
                </a:solidFill>
              </a:rPr>
              <a:t> Involves 10 regional Cooperative Extension agents, Charlie Hopper (SFRIC Director), and Dr. Hannah Talton.</a:t>
            </a:r>
          </a:p>
          <a:p>
            <a:pPr>
              <a:lnSpc>
                <a:spcPct val="110000"/>
              </a:lnSpc>
              <a:defRPr sz="860" b="1">
                <a:solidFill>
                  <a:srgbClr val="14191E"/>
                </a:solidFill>
                <a:latin typeface="Segoe UI"/>
              </a:defRPr>
            </a:pPr>
            <a:r>
              <a:t>• Open-Access Grower SOPs:</a:t>
            </a:r>
            <a:r>
              <a:rPr b="0">
                <a:solidFill>
                  <a:srgbClr val="14191E"/>
                </a:solidFill>
              </a:rPr>
              <a:t> Produces 6 open-source Standard Operating Procedures and IPM bulletins distributed statewide.</a:t>
            </a:r>
          </a:p>
          <a:p>
            <a:pPr>
              <a:lnSpc>
                <a:spcPct val="110000"/>
              </a:lnSpc>
              <a:defRPr sz="860" b="1">
                <a:solidFill>
                  <a:srgbClr val="14191E"/>
                </a:solidFill>
                <a:latin typeface="Segoe UI"/>
              </a:defRPr>
            </a:pPr>
            <a:r>
              <a:t>• Direct Producer Impact:</a:t>
            </a:r>
            <a:r>
              <a:rPr b="0">
                <a:solidFill>
                  <a:srgbClr val="14191E"/>
                </a:solidFill>
              </a:rPr>
              <a:t> Engages 1,200+ woodland owners across 3 years with actionable agroforestry transition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Multidisciplinary Leadership &amp; Workload Protection</a:t>
            </a:r>
          </a:p>
          <a:p>
            <a:pPr>
              <a:defRPr sz="1150" b="1">
                <a:solidFill>
                  <a:srgbClr val="001F3F"/>
                </a:solidFill>
                <a:latin typeface="Montserrat"/>
              </a:defRPr>
            </a:pPr>
            <a:r>
              <a:t>Tri-College Coalition Governance, Formal Staffing Scaffolding &amp; Tenure Protection</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TRI-COLLEGE MULTIDISCIPLINARY COALITION</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11 Investigators Across 3 Colleges:</a:t>
            </a:r>
            <a:r>
              <a:rPr b="0">
                <a:solidFill>
                  <a:srgbClr val="14191E"/>
                </a:solidFill>
              </a:rPr>
              <a:t> Unites College of Agriculture (CAES), Engineering (COE), and Science &amp; Technology (CoST) with Extension.</a:t>
            </a:r>
          </a:p>
          <a:p>
            <a:pPr>
              <a:lnSpc>
                <a:spcPct val="106000"/>
              </a:lnSpc>
              <a:defRPr sz="819" b="1">
                <a:solidFill>
                  <a:srgbClr val="14191E"/>
                </a:solidFill>
                <a:latin typeface="Segoe UI"/>
              </a:defRPr>
            </a:pPr>
            <a:r>
              <a:t>• Executive Leadership:</a:t>
            </a:r>
            <a:r>
              <a:rPr b="0">
                <a:solidFill>
                  <a:srgbClr val="14191E"/>
                </a:solidFill>
              </a:rPr>
              <a:t> Lead PI W. Chris Harrison (Spatial computing/SITES AP), Senior Scientific Advisor Dr. Omon Isikhuemhen (Mycology), Department Chair Dr. Niroj Aryal (Executive sponsor).</a:t>
            </a:r>
          </a:p>
          <a:p>
            <a:pPr>
              <a:lnSpc>
                <a:spcPct val="106000"/>
              </a:lnSpc>
              <a:defRPr sz="819" b="1">
                <a:solidFill>
                  <a:srgbClr val="14191E"/>
                </a:solidFill>
                <a:latin typeface="Segoe UI"/>
              </a:defRPr>
            </a:pPr>
            <a:r>
              <a:t>• Engineering &amp; Remote Sensing:</a:t>
            </a:r>
            <a:r>
              <a:rPr b="0">
                <a:solidFill>
                  <a:srgbClr val="14191E"/>
                </a:solidFill>
              </a:rPr>
              <a:t> Dr. Momtanu Chakraborty (COE Precision Ag/Robotics), Dr. Leila Hashemi-Beni (CoST UAV LiDAR/Photogrammetry).</a:t>
            </a:r>
          </a:p>
          <a:p>
            <a:pPr>
              <a:lnSpc>
                <a:spcPct val="106000"/>
              </a:lnSpc>
              <a:defRPr sz="819" b="1">
                <a:solidFill>
                  <a:srgbClr val="14191E"/>
                </a:solidFill>
                <a:latin typeface="Segoe UI"/>
              </a:defRPr>
            </a:pPr>
            <a:r>
              <a:t>• Biological &amp; Plant Sciences:</a:t>
            </a:r>
            <a:r>
              <a:rPr b="0">
                <a:solidFill>
                  <a:srgbClr val="14191E"/>
                </a:solidFill>
              </a:rPr>
              <a:t> Dr. Felicia Anike (Fungal bioeconomy), Dr. Guochen Yang (ASHS HortLegend, ginger polycultures), Dr. Porché Spence (Soil biogeochemistry).</a:t>
            </a:r>
          </a:p>
          <a:p>
            <a:pPr>
              <a:lnSpc>
                <a:spcPct val="106000"/>
              </a:lnSpc>
              <a:defRPr sz="819" b="1">
                <a:solidFill>
                  <a:srgbClr val="14191E"/>
                </a:solidFill>
                <a:latin typeface="Segoe UI"/>
              </a:defRPr>
            </a:pPr>
            <a:r>
              <a:t>• Extension &amp; Field Operations:</a:t>
            </a:r>
            <a:r>
              <a:rPr b="0">
                <a:solidFill>
                  <a:srgbClr val="14191E"/>
                </a:solidFill>
              </a:rPr>
              <a:t> Dr. Hannah Talton (Field entomology/IPM), Charlie Hopper (SFRIC Director, 100-acre testbed), Prof. Jeffrey Kuehner, MLA (Studio practice).</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WORKLOAD PROTECTION &amp; STAFFING ARCHITECTURE</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Dr. Omon Isikhuemhen Advisory Role ($0 Salary):</a:t>
            </a:r>
            <a:r>
              <a:rPr b="0">
                <a:solidFill>
                  <a:srgbClr val="14191E"/>
                </a:solidFill>
              </a:rPr>
              <a:t> Protected as Senior Scientific Advisor to mentor junior faculty without taking grant salary or administrative burden.</a:t>
            </a:r>
          </a:p>
          <a:p>
            <a:pPr>
              <a:lnSpc>
                <a:spcPct val="106000"/>
              </a:lnSpc>
              <a:defRPr sz="819" b="1">
                <a:solidFill>
                  <a:srgbClr val="14191E"/>
                </a:solidFill>
                <a:latin typeface="Segoe UI"/>
              </a:defRPr>
            </a:pPr>
            <a:r>
              <a:t>• Full-Time Post-Doctoral Researcher:</a:t>
            </a:r>
            <a:r>
              <a:rPr b="0">
                <a:solidFill>
                  <a:srgbClr val="14191E"/>
                </a:solidFill>
              </a:rPr>
              <a:t> Dedicated 100% to day-to-day experimental trials, sensor fusion, and laboratory management.</a:t>
            </a:r>
          </a:p>
          <a:p>
            <a:pPr>
              <a:lnSpc>
                <a:spcPct val="106000"/>
              </a:lnSpc>
              <a:defRPr sz="819" b="1">
                <a:solidFill>
                  <a:srgbClr val="14191E"/>
                </a:solidFill>
                <a:latin typeface="Segoe UI"/>
              </a:defRPr>
            </a:pPr>
            <a:r>
              <a:t>• Two Funded Graduate Research Assistants (GRAs):</a:t>
            </a:r>
            <a:r>
              <a:rPr b="0">
                <a:solidFill>
                  <a:srgbClr val="14191E"/>
                </a:solidFill>
              </a:rPr>
              <a:t> Mycology GRA and Computational Data Science GRA handle routine sampling, flights, and data pipelines.</a:t>
            </a:r>
          </a:p>
          <a:p>
            <a:pPr>
              <a:lnSpc>
                <a:spcPct val="106000"/>
              </a:lnSpc>
              <a:defRPr sz="819" b="1">
                <a:solidFill>
                  <a:srgbClr val="14191E"/>
                </a:solidFill>
                <a:latin typeface="Segoe UI"/>
              </a:defRPr>
            </a:pPr>
            <a:r>
              <a:t>• Faculty Summer Salary Capped at 32%:</a:t>
            </a:r>
            <a:r>
              <a:rPr b="0">
                <a:solidFill>
                  <a:srgbClr val="14191E"/>
                </a:solidFill>
              </a:rPr>
              <a:t> $240k total across 3 years compensates faculty effort during summer months without academic year teaching overloads.</a:t>
            </a:r>
          </a:p>
          <a:p>
            <a:pPr>
              <a:lnSpc>
                <a:spcPct val="106000"/>
              </a:lnSpc>
              <a:defRPr sz="819" b="1">
                <a:solidFill>
                  <a:srgbClr val="14191E"/>
                </a:solidFill>
                <a:latin typeface="Segoe UI"/>
              </a:defRPr>
            </a:pPr>
            <a:r>
              <a:t>• Tenure Velocity &amp; Scaffolding:</a:t>
            </a:r>
            <a:r>
              <a:rPr b="0">
                <a:solidFill>
                  <a:srgbClr val="14191E"/>
                </a:solidFill>
              </a:rPr>
              <a:t> Junior faculty (Dr. Anike, Dr. Chakraborty, Dr. Talton) guaranteed senior mentorship, graduate student labor, and co-authorships.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Comprehensive $750,000 Budget: "Smart Capital" Model</a:t>
            </a:r>
          </a:p>
          <a:p>
            <a:pPr>
              <a:defRPr sz="1150" b="1">
                <a:solidFill>
                  <a:srgbClr val="001F3F"/>
                </a:solidFill>
                <a:latin typeface="Montserrat"/>
              </a:defRPr>
            </a:pPr>
            <a:r>
              <a:t>Reviewer-First Federal Strategy: 68% Permanent Physical &amp; Student Assets</a:t>
            </a:r>
          </a:p>
        </p:txBody>
      </p:sp>
      <p:sp>
        <p:nvSpPr>
          <p:cNvPr id="4" name="Rounded Rectangle 3"/>
          <p:cNvSpPr/>
          <p:nvPr/>
        </p:nvSpPr>
        <p:spPr>
          <a:xfrm>
            <a:off x="768096" y="2057400"/>
            <a:ext cx="5166360" cy="356616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402336"/>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BUDGET DISTRIBUTION &amp; CAPITAL ASSETS</a:t>
            </a:r>
          </a:p>
        </p:txBody>
      </p:sp>
      <p:pic>
        <p:nvPicPr>
          <p:cNvPr id="6" name="Picture 5" descr="graphic_budget_capital.png"/>
          <p:cNvPicPr>
            <a:picLocks noChangeAspect="1"/>
          </p:cNvPicPr>
          <p:nvPr/>
        </p:nvPicPr>
        <p:blipFill>
          <a:blip r:embed="rId2"/>
          <a:stretch>
            <a:fillRect/>
          </a:stretch>
        </p:blipFill>
        <p:spPr>
          <a:xfrm>
            <a:off x="896112" y="2857313"/>
            <a:ext cx="4910328" cy="2332092"/>
          </a:xfrm>
          <a:prstGeom prst="rect">
            <a:avLst/>
          </a:prstGeom>
        </p:spPr>
      </p:pic>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REVIEWER-FIRST 'SMART CAPITAL' STRATEGY</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05000"/>
              </a:lnSpc>
              <a:defRPr sz="800" b="1">
                <a:solidFill>
                  <a:srgbClr val="14191E"/>
                </a:solidFill>
                <a:latin typeface="Segoe UI"/>
              </a:defRPr>
            </a:pPr>
            <a:r>
              <a:t>• 68% Capital, Students &amp; Institutional Assets ($510k):</a:t>
            </a:r>
            <a:r>
              <a:rPr b="0">
                <a:solidFill>
                  <a:srgbClr val="14191E"/>
                </a:solidFill>
              </a:rPr>
              <a:t> Eliminates federal supply-churn disqualification by investing in permanent campus assets and university overhead.</a:t>
            </a:r>
          </a:p>
          <a:p>
            <a:pPr>
              <a:lnSpc>
                <a:spcPct val="105000"/>
              </a:lnSpc>
              <a:defRPr sz="800" b="1">
                <a:solidFill>
                  <a:srgbClr val="14191E"/>
                </a:solidFill>
                <a:latin typeface="Segoe UI"/>
              </a:defRPr>
            </a:pPr>
            <a:r>
              <a:t>• University Indirect Cost Recovery (F&amp;A • ~$125k):</a:t>
            </a:r>
            <a:r>
              <a:rPr b="0">
                <a:solidFill>
                  <a:srgbClr val="14191E"/>
                </a:solidFill>
              </a:rPr>
              <a:t> Fully accounts for NC A&amp;T's federally negotiated ~45% MTDC indirect cost rate (capped under USDA statutory limits), generating substantial overhead revenue for DOR and CAES.</a:t>
            </a:r>
          </a:p>
          <a:p>
            <a:pPr>
              <a:lnSpc>
                <a:spcPct val="105000"/>
              </a:lnSpc>
              <a:defRPr sz="800" b="1">
                <a:solidFill>
                  <a:srgbClr val="14191E"/>
                </a:solidFill>
                <a:latin typeface="Segoe UI"/>
              </a:defRPr>
            </a:pPr>
            <a:r>
              <a:t>• Student Research Stipends ($125k):</a:t>
            </a:r>
            <a:r>
              <a:rPr b="0">
                <a:solidFill>
                  <a:srgbClr val="14191E"/>
                </a:solidFill>
              </a:rPr>
              <a:t> 2 full GRAs (Mycology &amp; Data Science) + undergraduate spatial computing assistants.</a:t>
            </a:r>
          </a:p>
          <a:p>
            <a:pPr>
              <a:lnSpc>
                <a:spcPct val="105000"/>
              </a:lnSpc>
              <a:defRPr sz="800" b="1">
                <a:solidFill>
                  <a:srgbClr val="14191E"/>
                </a:solidFill>
                <a:latin typeface="Segoe UI"/>
              </a:defRPr>
            </a:pPr>
            <a:r>
              <a:t>• GPU Spatial Design Center ($110k):</a:t>
            </a:r>
            <a:r>
              <a:rPr b="0">
                <a:solidFill>
                  <a:srgbClr val="14191E"/>
                </a:solidFill>
              </a:rPr>
              <a:t> 15 high-performance workstations with RTX GPUs for Carver Hall Studio Lab, providing lasting computing capacity.</a:t>
            </a:r>
          </a:p>
          <a:p>
            <a:pPr>
              <a:lnSpc>
                <a:spcPct val="105000"/>
              </a:lnSpc>
              <a:defRPr sz="800" b="1">
                <a:solidFill>
                  <a:srgbClr val="14191E"/>
                </a:solidFill>
                <a:latin typeface="Segoe UI"/>
              </a:defRPr>
            </a:pPr>
            <a:r>
              <a:t>• Living Forest Sensors &amp; Drones ($75k):</a:t>
            </a:r>
            <a:r>
              <a:rPr b="0">
                <a:solidFill>
                  <a:srgbClr val="14191E"/>
                </a:solidFill>
              </a:rPr>
              <a:t> Multispectral drone payloads, quadruped robotic sensors, and 100 living forest monitoring stations.</a:t>
            </a:r>
          </a:p>
          <a:p>
            <a:pPr>
              <a:lnSpc>
                <a:spcPct val="105000"/>
              </a:lnSpc>
              <a:defRPr sz="800" b="1">
                <a:solidFill>
                  <a:srgbClr val="14191E"/>
                </a:solidFill>
                <a:latin typeface="Segoe UI"/>
              </a:defRPr>
            </a:pPr>
            <a:r>
              <a:t>• Student Exam Vouchers ($15k):</a:t>
            </a:r>
            <a:r>
              <a:rPr b="0">
                <a:solidFill>
                  <a:srgbClr val="14191E"/>
                </a:solidFill>
              </a:rPr>
              <a:t> 100% grant sponsorship of national certification fees for 45+ students (NRCS-CP, SITES AP, ABCD).</a:t>
            </a:r>
          </a:p>
          <a:p>
            <a:pPr>
              <a:lnSpc>
                <a:spcPct val="105000"/>
              </a:lnSpc>
              <a:defRPr sz="800" b="1">
                <a:solidFill>
                  <a:srgbClr val="14191E"/>
                </a:solidFill>
                <a:latin typeface="Segoe UI"/>
              </a:defRPr>
            </a:pPr>
            <a:r>
              <a:t>• Capped Faculty Summer Salary (32% • $240k):</a:t>
            </a:r>
            <a:r>
              <a:rPr b="0">
                <a:solidFill>
                  <a:srgbClr val="14191E"/>
                </a:solidFill>
              </a:rPr>
              <a:t> Distributes support across 9 investigators over 36 months without administrative salary inflation.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Immediate Proposal Roadmap: Key Milestones</a:t>
            </a:r>
          </a:p>
          <a:p>
            <a:pPr>
              <a:defRPr sz="1150" b="1">
                <a:solidFill>
                  <a:srgbClr val="001F3F"/>
                </a:solidFill>
                <a:latin typeface="Montserrat"/>
              </a:defRPr>
            </a:pPr>
            <a:r>
              <a:t>From Internal NOI Clearance to Final Cayuse Routing &amp; USDA NIFA Award</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PHASE 1: INTERNAL ROUTING (SEPTEMBER 2026)</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Milestone 1 (Complete):</a:t>
            </a:r>
            <a:r>
              <a:rPr b="0">
                <a:solidFill>
                  <a:srgbClr val="14191E"/>
                </a:solidFill>
              </a:rPr>
              <a:t> PI Notice of Intent (NOI) submitted to NC A&amp;T Division of Research (DOR) on September 9, 2026.</a:t>
            </a:r>
          </a:p>
          <a:p>
            <a:pPr>
              <a:lnSpc>
                <a:spcPct val="112000"/>
              </a:lnSpc>
              <a:defRPr sz="919" b="1">
                <a:solidFill>
                  <a:srgbClr val="14191E"/>
                </a:solidFill>
                <a:latin typeface="Segoe UI"/>
              </a:defRPr>
            </a:pPr>
            <a:r>
              <a:t>• Milestone 2 (In Progress):</a:t>
            </a:r>
            <a:r>
              <a:rPr b="0">
                <a:solidFill>
                  <a:srgbClr val="14191E"/>
                </a:solidFill>
              </a:rPr>
              <a:t> Team alignment and calibration of specific Co-PI scopes of work and Extension deliverables.</a:t>
            </a:r>
          </a:p>
          <a:p>
            <a:pPr>
              <a:lnSpc>
                <a:spcPct val="112000"/>
              </a:lnSpc>
              <a:defRPr sz="919" b="1">
                <a:solidFill>
                  <a:srgbClr val="14191E"/>
                </a:solidFill>
                <a:latin typeface="Segoe UI"/>
              </a:defRPr>
            </a:pPr>
            <a:r>
              <a:t>• Milestone 3 (Sept 15–20):</a:t>
            </a:r>
            <a:r>
              <a:rPr b="0">
                <a:solidFill>
                  <a:srgbClr val="14191E"/>
                </a:solidFill>
              </a:rPr>
              <a:t> Cayuse proposal record initiation and formal budget assembly with DOR Pre-Award Specialist.</a:t>
            </a:r>
          </a:p>
          <a:p>
            <a:pPr>
              <a:lnSpc>
                <a:spcPct val="112000"/>
              </a:lnSpc>
              <a:defRPr sz="919" b="1">
                <a:solidFill>
                  <a:srgbClr val="14191E"/>
                </a:solidFill>
                <a:latin typeface="Segoe UI"/>
              </a:defRPr>
            </a:pPr>
            <a:r>
              <a:t>• Milestone 4 (Sept 21–25):</a:t>
            </a:r>
            <a:r>
              <a:rPr b="0">
                <a:solidFill>
                  <a:srgbClr val="14191E"/>
                </a:solidFill>
              </a:rPr>
              <a:t> Collection of Co-PI biographical sketches (USDA SciENcv format) and Current &amp; Pending Support forms.</a:t>
            </a:r>
          </a:p>
          <a:p>
            <a:pPr>
              <a:lnSpc>
                <a:spcPct val="112000"/>
              </a:lnSpc>
              <a:defRPr sz="919" b="1">
                <a:solidFill>
                  <a:srgbClr val="14191E"/>
                </a:solidFill>
                <a:latin typeface="Segoe UI"/>
              </a:defRPr>
            </a:pPr>
            <a:r>
              <a:t>• Milestone 5 (Sept 28):</a:t>
            </a:r>
            <a:r>
              <a:rPr b="0">
                <a:solidFill>
                  <a:srgbClr val="14191E"/>
                </a:solidFill>
              </a:rPr>
              <a:t> Internal proposal routing package submitted for NRED Department Chair Dr. Niroj Aryal and CAES Dean Dr. Gregory Goins clearance.</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PHASE 2: EXTERNAL SUBMISSION &amp; LAUNCH (2026–2027)</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Milestone 6 (Late Oct 2026):</a:t>
            </a:r>
            <a:r>
              <a:rPr b="0">
                <a:solidFill>
                  <a:srgbClr val="14191E"/>
                </a:solidFill>
              </a:rPr>
              <a:t> Final electronic submission via Grants.gov to USDA NIFA (NOFO USDA-NIFA-CBGP-011698).</a:t>
            </a:r>
          </a:p>
          <a:p>
            <a:pPr>
              <a:lnSpc>
                <a:spcPct val="112000"/>
              </a:lnSpc>
              <a:defRPr sz="919" b="1">
                <a:solidFill>
                  <a:srgbClr val="14191E"/>
                </a:solidFill>
                <a:latin typeface="Segoe UI"/>
              </a:defRPr>
            </a:pPr>
            <a:r>
              <a:t>• Milestone 7 (Spring 2027):</a:t>
            </a:r>
            <a:r>
              <a:rPr b="0">
                <a:solidFill>
                  <a:srgbClr val="14191E"/>
                </a:solidFill>
              </a:rPr>
              <a:t> USDA NIFA peer review panel evaluation and notification of recommended funding.</a:t>
            </a:r>
          </a:p>
          <a:p>
            <a:pPr>
              <a:lnSpc>
                <a:spcPct val="112000"/>
              </a:lnSpc>
              <a:defRPr sz="919" b="1">
                <a:solidFill>
                  <a:srgbClr val="14191E"/>
                </a:solidFill>
                <a:latin typeface="Segoe UI"/>
              </a:defRPr>
            </a:pPr>
            <a:r>
              <a:t>• Milestone 8 (Summer 2027):</a:t>
            </a:r>
            <a:r>
              <a:rPr b="0">
                <a:solidFill>
                  <a:srgbClr val="14191E"/>
                </a:solidFill>
              </a:rPr>
              <a:t> Commissioning of Spatial Design Center Lab space and installation of GPU workstations.</a:t>
            </a:r>
          </a:p>
          <a:p>
            <a:pPr>
              <a:lnSpc>
                <a:spcPct val="112000"/>
              </a:lnSpc>
              <a:defRPr sz="919" b="1">
                <a:solidFill>
                  <a:srgbClr val="14191E"/>
                </a:solidFill>
                <a:latin typeface="Segoe UI"/>
              </a:defRPr>
            </a:pPr>
            <a:r>
              <a:t>• Milestone 9 (Fall 2027):</a:t>
            </a:r>
            <a:r>
              <a:rPr b="0">
                <a:solidFill>
                  <a:srgbClr val="14191E"/>
                </a:solidFill>
              </a:rPr>
              <a:t> Formal launch of Project SILVA, living fungal forest plot inoculations, and first student cohort credentialing.</a:t>
            </a:r>
          </a:p>
          <a:p>
            <a:pPr>
              <a:lnSpc>
                <a:spcPct val="112000"/>
              </a:lnSpc>
              <a:defRPr sz="919" b="1">
                <a:solidFill>
                  <a:srgbClr val="14191E"/>
                </a:solidFill>
                <a:latin typeface="Segoe UI"/>
              </a:defRPr>
            </a:pPr>
            <a:r>
              <a:t>• Immediate Action Item:</a:t>
            </a:r>
            <a:r>
              <a:rPr b="0">
                <a:solidFill>
                  <a:srgbClr val="14191E"/>
                </a:solidFill>
              </a:rPr>
              <a:t> 15-minute 1-on-1 consultations with each Co-PI next week to finalize individual section contributions.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Strategic Summary: Enduring Institutional Capacity</a:t>
            </a:r>
          </a:p>
          <a:p>
            <a:pPr>
              <a:defRPr sz="1150" b="1">
                <a:solidFill>
                  <a:srgbClr val="001F3F"/>
                </a:solidFill>
                <a:latin typeface="Montserrat"/>
              </a:defRPr>
            </a:pPr>
            <a:r>
              <a:t>Transforming NC A&amp;T Curriculum, Research Infrastructure &amp; Producer Outreach</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CORE ACCOMPLISHMENTS &amp; LEGACY</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First 4+1 HBCU MLA Pipeline:</a:t>
            </a:r>
            <a:r>
              <a:rPr b="0">
                <a:solidFill>
                  <a:srgbClr val="14191E"/>
                </a:solidFill>
              </a:rPr>
              <a:t> Creates two approved graduate courses and scaffolds the Nation's First 4+1 MLA at an HBCU.</a:t>
            </a:r>
          </a:p>
          <a:p>
            <a:pPr>
              <a:lnSpc>
                <a:spcPct val="106000"/>
              </a:lnSpc>
              <a:defRPr sz="819" b="1">
                <a:solidFill>
                  <a:srgbClr val="14191E"/>
                </a:solidFill>
                <a:latin typeface="Segoe UI"/>
              </a:defRPr>
            </a:pPr>
            <a:r>
              <a:t>• 45+ National Student Credentials:</a:t>
            </a:r>
            <a:r>
              <a:rPr b="0">
                <a:solidFill>
                  <a:srgbClr val="14191E"/>
                </a:solidFill>
              </a:rPr>
              <a:t> Full $15k grant sponsorship for NRCS Planner, SITES AP, and ABCD exam fees.</a:t>
            </a:r>
          </a:p>
          <a:p>
            <a:pPr>
              <a:lnSpc>
                <a:spcPct val="106000"/>
              </a:lnSpc>
              <a:defRPr sz="819" b="1">
                <a:solidFill>
                  <a:srgbClr val="14191E"/>
                </a:solidFill>
                <a:latin typeface="Segoe UI"/>
              </a:defRPr>
            </a:pPr>
            <a:r>
              <a:t>• SFRIC Living Forest Lab:</a:t>
            </a:r>
            <a:r>
              <a:rPr b="0">
                <a:solidFill>
                  <a:srgbClr val="14191E"/>
                </a:solidFill>
              </a:rPr>
              <a:t> 5-acre agroforestry testbed pairing mature pecan canopy with high-value truffles ($1,000/lb) &amp; ginger.</a:t>
            </a:r>
          </a:p>
          <a:p>
            <a:pPr>
              <a:lnSpc>
                <a:spcPct val="106000"/>
              </a:lnSpc>
              <a:defRPr sz="819" b="1">
                <a:solidFill>
                  <a:srgbClr val="14191E"/>
                </a:solidFill>
                <a:latin typeface="Segoe UI"/>
              </a:defRPr>
            </a:pPr>
            <a:r>
              <a:t>• GeoScope Mobile Digital Twin:</a:t>
            </a:r>
            <a:r>
              <a:rPr b="0">
                <a:solidFill>
                  <a:srgbClr val="14191E"/>
                </a:solidFill>
              </a:rPr>
              <a:t> Fuses UAV LiDAR and robotic telemetry to close the digital divide for 1,200+ small-scale farmers.</a:t>
            </a:r>
          </a:p>
          <a:p>
            <a:pPr>
              <a:lnSpc>
                <a:spcPct val="106000"/>
              </a:lnSpc>
              <a:defRPr sz="819" b="1">
                <a:solidFill>
                  <a:srgbClr val="14191E"/>
                </a:solidFill>
                <a:latin typeface="Segoe UI"/>
              </a:defRPr>
            </a:pPr>
            <a:r>
              <a:t>• Tenure Velocity &amp; Scaffolding:</a:t>
            </a:r>
            <a:r>
              <a:rPr b="0">
                <a:solidFill>
                  <a:srgbClr val="14191E"/>
                </a:solidFill>
              </a:rPr>
              <a:t> Junior faculty supported by a Post-Doc, 2 GRAs, and senior mentorship from Dr. Omon.</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WHY REVIEWERS WILL FUND SILVA</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Reviewer-First 'Smart Capital':</a:t>
            </a:r>
            <a:r>
              <a:rPr b="0">
                <a:solidFill>
                  <a:srgbClr val="14191E"/>
                </a:solidFill>
              </a:rPr>
              <a:t> 68% ($510k) flows directly into permanent physical hardware, computing, and student stipends.</a:t>
            </a:r>
          </a:p>
          <a:p>
            <a:pPr>
              <a:lnSpc>
                <a:spcPct val="106000"/>
              </a:lnSpc>
              <a:defRPr sz="819" b="1">
                <a:solidFill>
                  <a:srgbClr val="14191E"/>
                </a:solidFill>
                <a:latin typeface="Segoe UI"/>
              </a:defRPr>
            </a:pPr>
            <a:r>
              <a:t>• Ironclad Workload Protection:</a:t>
            </a:r>
            <a:r>
              <a:rPr b="0">
                <a:solidFill>
                  <a:srgbClr val="14191E"/>
                </a:solidFill>
              </a:rPr>
              <a:t> Summer salary capped at 32% ($240k); $0 salary for Dr. Omon advisory; Post-Doc drives operations.</a:t>
            </a:r>
          </a:p>
          <a:p>
            <a:pPr>
              <a:lnSpc>
                <a:spcPct val="106000"/>
              </a:lnSpc>
              <a:defRPr sz="819" b="1">
                <a:solidFill>
                  <a:srgbClr val="14191E"/>
                </a:solidFill>
                <a:latin typeface="Segoe UI"/>
              </a:defRPr>
            </a:pPr>
            <a:r>
              <a:t>• Tri-College Interdisciplinary Coalition:</a:t>
            </a:r>
            <a:r>
              <a:rPr b="0">
                <a:solidFill>
                  <a:srgbClr val="14191E"/>
                </a:solidFill>
              </a:rPr>
              <a:t> Unites CAES (Agriculture), COE (Engineering), and CoST (Science &amp; Tech) with Extension.</a:t>
            </a:r>
          </a:p>
          <a:p>
            <a:pPr>
              <a:lnSpc>
                <a:spcPct val="106000"/>
              </a:lnSpc>
              <a:defRPr sz="819" b="1">
                <a:solidFill>
                  <a:srgbClr val="14191E"/>
                </a:solidFill>
                <a:latin typeface="Segoe UI"/>
              </a:defRPr>
            </a:pPr>
            <a:r>
              <a:t>• Alignment with Leadership Priorities:</a:t>
            </a:r>
            <a:r>
              <a:rPr b="0">
                <a:solidFill>
                  <a:srgbClr val="14191E"/>
                </a:solidFill>
              </a:rPr>
              <a:t> Directly advances CAES strategic goals under Dean Dr. Gregory Goins &amp; Chair Dr. Niroj Aryal.</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PROJECT CONTACTS &amp; DISCUSSION</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Lead PI &amp; Director:</a:t>
            </a:r>
            <a:r>
              <a:rPr b="0">
                <a:solidFill>
                  <a:srgbClr val="14191E"/>
                </a:solidFill>
              </a:rPr>
              <a:t> W. Chris Harrison, MLA (wcharrison@ncat.edu • Carver Hall 115).</a:t>
            </a:r>
          </a:p>
          <a:p>
            <a:pPr>
              <a:lnSpc>
                <a:spcPct val="106000"/>
              </a:lnSpc>
              <a:defRPr sz="819" b="1">
                <a:solidFill>
                  <a:srgbClr val="14191E"/>
                </a:solidFill>
                <a:latin typeface="Segoe UI"/>
              </a:defRPr>
            </a:pPr>
            <a:r>
              <a:t>• Senior Scientific Advisor:</a:t>
            </a:r>
            <a:r>
              <a:rPr b="0">
                <a:solidFill>
                  <a:srgbClr val="14191E"/>
                </a:solidFill>
              </a:rPr>
              <a:t> Dr. Omoanghe S. Isikhuemhen (Carver Hall 238).</a:t>
            </a:r>
          </a:p>
          <a:p>
            <a:pPr>
              <a:lnSpc>
                <a:spcPct val="106000"/>
              </a:lnSpc>
              <a:defRPr sz="819" b="1">
                <a:solidFill>
                  <a:srgbClr val="14191E"/>
                </a:solidFill>
                <a:latin typeface="Segoe UI"/>
              </a:defRPr>
            </a:pPr>
            <a:r>
              <a:t>• Executive Sponsor:</a:t>
            </a:r>
            <a:r>
              <a:rPr b="0">
                <a:solidFill>
                  <a:srgbClr val="14191E"/>
                </a:solidFill>
              </a:rPr>
              <a:t> Dr. Niroj Aryal, NRED Department Chair (Carver Hall 114).</a:t>
            </a:r>
          </a:p>
          <a:p>
            <a:pPr>
              <a:lnSpc>
                <a:spcPct val="106000"/>
              </a:lnSpc>
              <a:defRPr sz="819" b="1">
                <a:solidFill>
                  <a:srgbClr val="14191E"/>
                </a:solidFill>
                <a:latin typeface="Segoe UI"/>
              </a:defRPr>
            </a:pPr>
            <a:r>
              <a:t>• Institutional Leadership:</a:t>
            </a:r>
            <a:r>
              <a:rPr b="0">
                <a:solidFill>
                  <a:srgbClr val="14191E"/>
                </a:solidFill>
              </a:rPr>
              <a:t> Dean Dr. Gregory Goins, College of Agriculture &amp; Environmental Sciences.</a:t>
            </a:r>
          </a:p>
          <a:p>
            <a:pPr>
              <a:lnSpc>
                <a:spcPct val="106000"/>
              </a:lnSpc>
              <a:defRPr sz="819" b="1">
                <a:solidFill>
                  <a:srgbClr val="14191E"/>
                </a:solidFill>
                <a:latin typeface="Segoe UI"/>
              </a:defRPr>
            </a:pPr>
            <a:r>
              <a:t>• Floor Open for Discussion:</a:t>
            </a:r>
            <a:r>
              <a:rPr b="0">
                <a:solidFill>
                  <a:srgbClr val="14191E"/>
                </a:solidFill>
              </a:rPr>
              <a:t> Immediate feedback, Co-PI alignment, and departmental routing 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p:nvPr>
        </p:nvSpPr>
        <p:spPr/>
        <p:txBody>
          <a:bodyPr/>
          <a:lstStyle/>
          <a:p>
            <a:pPr>
              <a:defRPr b="1">
                <a:latin typeface="Montserrat"/>
              </a:defRPr>
            </a:pPr>
            <a:r>
              <a:t>SECTION 04</a:t>
            </a:r>
          </a:p>
          <a:p>
            <a:pPr>
              <a:defRPr b="1">
                <a:latin typeface="Montserrat"/>
              </a:defRPr>
            </a:pPr>
            <a:r>
              <a:t>Appendix &amp; Technical Reference Vault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Project Identity: Why "Project SILVA"?</a:t>
            </a:r>
          </a:p>
          <a:p>
            <a:pPr>
              <a:defRPr sz="1150" b="1">
                <a:solidFill>
                  <a:srgbClr val="B45309"/>
                </a:solidFill>
                <a:latin typeface="Montserrat"/>
              </a:defRPr>
            </a:pPr>
            <a:r>
              <a:t>[Q&amp;A REFERENCE VAULT] Spatial Intelligence for Living Vegetation &amp; Agroforestry</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THE SILVA ACRONYM &amp; VISION</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S — Spatial Intelligence:</a:t>
            </a:r>
            <a:r>
              <a:rPr b="0">
                <a:solidFill>
                  <a:srgbClr val="14191E"/>
                </a:solidFill>
              </a:rPr>
              <a:t> High-precision geospatial modeling, 3D point clouds, GIS workflows, and autonomous drone sensing.</a:t>
            </a:r>
          </a:p>
          <a:p>
            <a:pPr>
              <a:lnSpc>
                <a:spcPct val="112000"/>
              </a:lnSpc>
              <a:defRPr sz="919" b="1">
                <a:solidFill>
                  <a:srgbClr val="14191E"/>
                </a:solidFill>
                <a:latin typeface="Segoe UI"/>
              </a:defRPr>
            </a:pPr>
            <a:r>
              <a:t>• I — Living Infrastructure:</a:t>
            </a:r>
            <a:r>
              <a:rPr b="0">
                <a:solidFill>
                  <a:srgbClr val="14191E"/>
                </a:solidFill>
              </a:rPr>
              <a:t> Integrating ecological site design, living agroforestry polycultures, and resilient canopy systems.</a:t>
            </a:r>
          </a:p>
          <a:p>
            <a:pPr>
              <a:lnSpc>
                <a:spcPct val="112000"/>
              </a:lnSpc>
              <a:defRPr sz="919" b="1">
                <a:solidFill>
                  <a:srgbClr val="14191E"/>
                </a:solidFill>
                <a:latin typeface="Segoe UI"/>
              </a:defRPr>
            </a:pPr>
            <a:r>
              <a:t>• L — Living Laboratories:</a:t>
            </a:r>
            <a:r>
              <a:rPr b="0">
                <a:solidFill>
                  <a:srgbClr val="14191E"/>
                </a:solidFill>
              </a:rPr>
              <a:t> Utilizing the 100+ acre SFRIC facility as an active research testbed for research, teaching, and outreach.</a:t>
            </a:r>
          </a:p>
          <a:p>
            <a:pPr>
              <a:lnSpc>
                <a:spcPct val="112000"/>
              </a:lnSpc>
              <a:defRPr sz="919" b="1">
                <a:solidFill>
                  <a:srgbClr val="14191E"/>
                </a:solidFill>
                <a:latin typeface="Segoe UI"/>
              </a:defRPr>
            </a:pPr>
            <a:r>
              <a:t>• V — Vegetation Bioeconomy:</a:t>
            </a:r>
            <a:r>
              <a:rPr b="0">
                <a:solidFill>
                  <a:srgbClr val="14191E"/>
                </a:solidFill>
              </a:rPr>
              <a:t> Cultivating high-value forest products (pecan truffles, specialty mushrooms, understory ginger).</a:t>
            </a:r>
          </a:p>
          <a:p>
            <a:pPr>
              <a:lnSpc>
                <a:spcPct val="112000"/>
              </a:lnSpc>
              <a:defRPr sz="919" b="1">
                <a:solidFill>
                  <a:srgbClr val="14191E"/>
                </a:solidFill>
                <a:latin typeface="Segoe UI"/>
              </a:defRPr>
            </a:pPr>
            <a:r>
              <a:t>• A — Agroforestry Scaffolding:</a:t>
            </a:r>
            <a:r>
              <a:rPr b="0">
                <a:solidFill>
                  <a:srgbClr val="14191E"/>
                </a:solidFill>
              </a:rPr>
              <a:t> Bridging agricultural production, conservation biology, and professional landscape architecture.</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FOUR CORNERSTONE OBJECTIVES</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1. Curricular Scaffolding (Teaching):</a:t>
            </a:r>
            <a:r>
              <a:rPr b="0">
                <a:solidFill>
                  <a:srgbClr val="14191E"/>
                </a:solidFill>
              </a:rPr>
              <a:t> Infuses digital twin technology and spatial modeling into 5 core courses and establishes the 4+1 MLA pipeline.</a:t>
            </a:r>
          </a:p>
          <a:p>
            <a:pPr>
              <a:lnSpc>
                <a:spcPct val="112000"/>
              </a:lnSpc>
              <a:defRPr sz="919" b="1">
                <a:solidFill>
                  <a:srgbClr val="14191E"/>
                </a:solidFill>
                <a:latin typeface="Segoe UI"/>
              </a:defRPr>
            </a:pPr>
            <a:r>
              <a:t>• 2. Stackable National Credentials (Teaching):</a:t>
            </a:r>
            <a:r>
              <a:rPr b="0">
                <a:solidFill>
                  <a:srgbClr val="14191E"/>
                </a:solidFill>
              </a:rPr>
              <a:t> Prepares 45+ students for NRCS Conservation Planner and SITES AP certifications.</a:t>
            </a:r>
          </a:p>
          <a:p>
            <a:pPr>
              <a:lnSpc>
                <a:spcPct val="112000"/>
              </a:lnSpc>
              <a:defRPr sz="919" b="1">
                <a:solidFill>
                  <a:srgbClr val="14191E"/>
                </a:solidFill>
                <a:latin typeface="Segoe UI"/>
              </a:defRPr>
            </a:pPr>
            <a:r>
              <a:t>• 3. Agroforestry Living Lab (Research):</a:t>
            </a:r>
            <a:r>
              <a:rPr b="0">
                <a:solidFill>
                  <a:srgbClr val="14191E"/>
                </a:solidFill>
              </a:rPr>
              <a:t> Establishes 100 living forest stations at SFRIC for microclimate, soil, and fungal bioeconomy research.</a:t>
            </a:r>
          </a:p>
          <a:p>
            <a:pPr>
              <a:lnSpc>
                <a:spcPct val="112000"/>
              </a:lnSpc>
              <a:defRPr sz="919" b="1">
                <a:solidFill>
                  <a:srgbClr val="14191E"/>
                </a:solidFill>
                <a:latin typeface="Segoe UI"/>
              </a:defRPr>
            </a:pPr>
            <a:r>
              <a:t>• 4. Producer Outreach (Extension):</a:t>
            </a:r>
            <a:r>
              <a:rPr b="0">
                <a:solidFill>
                  <a:srgbClr val="14191E"/>
                </a:solidFill>
              </a:rPr>
              <a:t> Delivers mobile digital twin tools, charrettes, and training to 1,200+ underserved woodland owners.</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REVIEWER-FIRST STRATEGY</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Simplicity &amp; Clarity:</a:t>
            </a:r>
            <a:r>
              <a:rPr b="0">
                <a:solidFill>
                  <a:srgbClr val="14191E"/>
                </a:solidFill>
              </a:rPr>
              <a:t> Reviewers see a clear, cohesive narrative—not fragmented, competing sub-projects across disconnected units.</a:t>
            </a:r>
          </a:p>
          <a:p>
            <a:pPr>
              <a:lnSpc>
                <a:spcPct val="112000"/>
              </a:lnSpc>
              <a:defRPr sz="919" b="1">
                <a:solidFill>
                  <a:srgbClr val="14191E"/>
                </a:solidFill>
                <a:latin typeface="Segoe UI"/>
              </a:defRPr>
            </a:pPr>
            <a:r>
              <a:t>• Measurable Metrics:</a:t>
            </a:r>
            <a:r>
              <a:rPr b="0">
                <a:solidFill>
                  <a:srgbClr val="14191E"/>
                </a:solidFill>
              </a:rPr>
              <a:t> Every objective has concrete numerical targets: 45+ student certifications, 100 field stations, 1,200+ producers reached.</a:t>
            </a:r>
          </a:p>
          <a:p>
            <a:pPr>
              <a:lnSpc>
                <a:spcPct val="112000"/>
              </a:lnSpc>
              <a:defRPr sz="919" b="1">
                <a:solidFill>
                  <a:srgbClr val="14191E"/>
                </a:solidFill>
                <a:latin typeface="Segoe UI"/>
              </a:defRPr>
            </a:pPr>
            <a:r>
              <a:t>• HBCU Leadership:</a:t>
            </a:r>
            <a:r>
              <a:rPr b="0">
                <a:solidFill>
                  <a:srgbClr val="14191E"/>
                </a:solidFill>
              </a:rPr>
              <a:t> Positions NC A&amp;T as the national leader in spatial agroforestry and HBCU landscape architecture education.</a:t>
            </a:r>
          </a:p>
          <a:p>
            <a:pPr>
              <a:lnSpc>
                <a:spcPct val="112000"/>
              </a:lnSpc>
              <a:defRPr sz="919" b="1">
                <a:solidFill>
                  <a:srgbClr val="14191E"/>
                </a:solidFill>
                <a:latin typeface="Segoe UI"/>
              </a:defRPr>
            </a:pPr>
            <a:r>
              <a:t>• Interdisciplinary Synergy:</a:t>
            </a:r>
            <a:r>
              <a:rPr b="0">
                <a:solidFill>
                  <a:srgbClr val="14191E"/>
                </a:solidFill>
              </a:rPr>
              <a:t> True multi-college collaboration uniting CAES, COE, CoST, and Cooperative Extension.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Spatial Design Studio: Empowering Next-Gen Aggie Designers</a:t>
            </a:r>
          </a:p>
          <a:p>
            <a:pPr>
              <a:defRPr sz="1150" b="1">
                <a:solidFill>
                  <a:srgbClr val="B45309"/>
                </a:solidFill>
                <a:latin typeface="Montserrat"/>
              </a:defRPr>
            </a:pPr>
            <a:r>
              <a:t>[Q&amp;A REFERENCE VAULT] Transforming Undergraduate Design Education Through GPU Computing &amp; 3D Telemetry</a:t>
            </a:r>
          </a:p>
        </p:txBody>
      </p:sp>
      <p:sp>
        <p:nvSpPr>
          <p:cNvPr id="4" name="Rounded Rectangle 3"/>
          <p:cNvSpPr/>
          <p:nvPr/>
        </p:nvSpPr>
        <p:spPr>
          <a:xfrm>
            <a:off x="768096" y="2057400"/>
            <a:ext cx="566928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66928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CARVER HALL DESIGN STUDIO IN ACTION</a:t>
            </a:r>
          </a:p>
        </p:txBody>
      </p:sp>
      <p:pic>
        <p:nvPicPr>
          <p:cNvPr id="6" name="Picture 5" descr="photo_ncat_students_studio.jpg"/>
          <p:cNvPicPr>
            <a:picLocks noChangeAspect="1"/>
          </p:cNvPicPr>
          <p:nvPr/>
        </p:nvPicPr>
        <p:blipFill>
          <a:blip r:embed="rId2"/>
          <a:stretch>
            <a:fillRect/>
          </a:stretch>
        </p:blipFill>
        <p:spPr>
          <a:xfrm>
            <a:off x="950976" y="2532888"/>
            <a:ext cx="5303520" cy="2980944"/>
          </a:xfrm>
          <a:prstGeom prst="rect">
            <a:avLst/>
          </a:prstGeom>
        </p:spPr>
      </p:pic>
      <p:sp>
        <p:nvSpPr>
          <p:cNvPr id="7" name="TextBox 6"/>
          <p:cNvSpPr txBox="1"/>
          <p:nvPr/>
        </p:nvSpPr>
        <p:spPr>
          <a:xfrm>
            <a:off x="950976" y="5586983"/>
            <a:ext cx="5303520" cy="292608"/>
          </a:xfrm>
          <a:prstGeom prst="rect">
            <a:avLst/>
          </a:prstGeom>
          <a:noFill/>
        </p:spPr>
        <p:txBody>
          <a:bodyPr wrap="square" lIns="0" tIns="0" rIns="0" bIns="0">
            <a:spAutoFit/>
          </a:bodyPr>
          <a:lstStyle/>
          <a:p>
            <a:pPr algn="ctr">
              <a:defRPr sz="880" i="1">
                <a:solidFill>
                  <a:srgbClr val="5A646E"/>
                </a:solidFill>
                <a:latin typeface="Segoe UI"/>
              </a:defRPr>
            </a:pPr>
            <a:r>
              <a:t>Figure 4A: Landscape Architecture Students Collaborating on 3D Digital Terrain Meshes in Carver Hall</a:t>
            </a:r>
          </a:p>
        </p:txBody>
      </p:sp>
      <p:sp>
        <p:nvSpPr>
          <p:cNvPr id="8" name="Rounded Rectangle 7"/>
          <p:cNvSpPr/>
          <p:nvPr/>
        </p:nvSpPr>
        <p:spPr>
          <a:xfrm>
            <a:off x="6574536" y="2057400"/>
            <a:ext cx="484632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4536" y="2057400"/>
            <a:ext cx="484632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STUDIO PEDAGOGICAL TRANSFORMATION</a:t>
            </a:r>
          </a:p>
        </p:txBody>
      </p:sp>
      <p:sp>
        <p:nvSpPr>
          <p:cNvPr id="10" name="TextBox 9"/>
          <p:cNvSpPr txBox="1"/>
          <p:nvPr/>
        </p:nvSpPr>
        <p:spPr>
          <a:xfrm>
            <a:off x="6720840" y="2514600"/>
            <a:ext cx="4553712" cy="3694175"/>
          </a:xfrm>
          <a:prstGeom prst="rect">
            <a:avLst/>
          </a:prstGeom>
          <a:noFill/>
        </p:spPr>
        <p:txBody>
          <a:bodyPr wrap="square" lIns="0" tIns="0" rIns="0" bIns="0">
            <a:spAutoFit/>
          </a:bodyPr>
          <a:lstStyle/>
          <a:p>
            <a:pPr>
              <a:lnSpc>
                <a:spcPct val="110000"/>
              </a:lnSpc>
              <a:defRPr sz="860" b="1">
                <a:solidFill>
                  <a:srgbClr val="14191E"/>
                </a:solidFill>
                <a:latin typeface="Segoe UI"/>
              </a:defRPr>
            </a:pPr>
            <a:r>
              <a:t>• GPU Spatial Workstations ($105k):</a:t>
            </a:r>
            <a:r>
              <a:rPr b="0">
                <a:solidFill>
                  <a:srgbClr val="14191E"/>
                </a:solidFill>
              </a:rPr>
              <a:t> Equips Carver Hall Studio with 15 high-performance workstations for point-cloud processing.</a:t>
            </a:r>
          </a:p>
          <a:p>
            <a:pPr>
              <a:lnSpc>
                <a:spcPct val="110000"/>
              </a:lnSpc>
              <a:defRPr sz="860" b="1">
                <a:solidFill>
                  <a:srgbClr val="14191E"/>
                </a:solidFill>
                <a:latin typeface="Segoe UI"/>
              </a:defRPr>
            </a:pPr>
            <a:r>
              <a:t>• Experiential Learning:</a:t>
            </a:r>
            <a:r>
              <a:rPr b="0">
                <a:solidFill>
                  <a:srgbClr val="14191E"/>
                </a:solidFill>
              </a:rPr>
              <a:t> BSLA and MLA students directly manipulate drone LiDAR datasets captured from SFRIC research plots.</a:t>
            </a:r>
          </a:p>
          <a:p>
            <a:pPr>
              <a:lnSpc>
                <a:spcPct val="110000"/>
              </a:lnSpc>
              <a:defRPr sz="860" b="1">
                <a:solidFill>
                  <a:srgbClr val="14191E"/>
                </a:solidFill>
                <a:latin typeface="Segoe UI"/>
              </a:defRPr>
            </a:pPr>
            <a:r>
              <a:t>• SITES v2 Design Integration:</a:t>
            </a:r>
            <a:r>
              <a:rPr b="0">
                <a:solidFill>
                  <a:srgbClr val="14191E"/>
                </a:solidFill>
              </a:rPr>
              <a:t> Students evaluate studio projects using the formal 250-point SITES sustainability rating scorecard.</a:t>
            </a:r>
          </a:p>
          <a:p>
            <a:pPr>
              <a:lnSpc>
                <a:spcPct val="110000"/>
              </a:lnSpc>
              <a:defRPr sz="860" b="1">
                <a:solidFill>
                  <a:srgbClr val="14191E"/>
                </a:solidFill>
                <a:latin typeface="Segoe UI"/>
              </a:defRPr>
            </a:pPr>
            <a:r>
              <a:t>• Community Co-Design Studio:</a:t>
            </a:r>
            <a:r>
              <a:rPr b="0">
                <a:solidFill>
                  <a:srgbClr val="14191E"/>
                </a:solidFill>
              </a:rPr>
              <a:t> Studio projects directly incorporate real-world stakeholder input from regional woodland owners.</a:t>
            </a:r>
          </a:p>
          <a:p>
            <a:pPr>
              <a:lnSpc>
                <a:spcPct val="110000"/>
              </a:lnSpc>
              <a:defRPr sz="860" b="1">
                <a:solidFill>
                  <a:srgbClr val="14191E"/>
                </a:solidFill>
                <a:latin typeface="Segoe UI"/>
              </a:defRPr>
            </a:pPr>
            <a:r>
              <a:t>• Competitive Workforce Placement:</a:t>
            </a:r>
            <a:r>
              <a:rPr b="0">
                <a:solidFill>
                  <a:srgbClr val="14191E"/>
                </a:solidFill>
              </a:rPr>
              <a:t> Prepares Aggies for top-tier landscape architecture, GIS, and urban forestry careers.</a:t>
            </a:r>
          </a:p>
          <a:p>
            <a:pPr>
              <a:lnSpc>
                <a:spcPct val="110000"/>
              </a:lnSpc>
              <a:defRPr sz="860" b="1">
                <a:solidFill>
                  <a:srgbClr val="14191E"/>
                </a:solidFill>
                <a:latin typeface="Segoe UI"/>
              </a:defRPr>
            </a:pPr>
            <a:r>
              <a:t>• Protected Contact Hours:</a:t>
            </a:r>
            <a:r>
              <a:rPr b="0">
                <a:solidFill>
                  <a:srgbClr val="14191E"/>
                </a:solidFill>
              </a:rPr>
              <a:t> Zero studio time lost to test prep—all certification study conducted via asynchronous homework modules.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Executive Leadership &amp; Strategic Governance</a:t>
            </a:r>
          </a:p>
          <a:p>
            <a:pPr>
              <a:defRPr sz="1150" b="1">
                <a:solidFill>
                  <a:srgbClr val="B45309"/>
                </a:solidFill>
                <a:latin typeface="Montserrat"/>
              </a:defRPr>
            </a:pPr>
            <a:r>
              <a:t>[Q&amp;A REFERENCE VAULT] Investigator Backgrounds, Administrative Roles &amp; Core SILVA Deliverables</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W. CHRIS HARRISON, MLA — LEAD PI &amp; PROJECT DIRECTOR</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Lecturer of Landscape Architecture, Dept. of Natural Resources &amp; Environmental Design (NRED).</a:t>
            </a:r>
          </a:p>
          <a:p>
            <a:pPr>
              <a:lnSpc>
                <a:spcPct val="112000"/>
              </a:lnSpc>
              <a:defRPr sz="919" b="1">
                <a:solidFill>
                  <a:srgbClr val="14191E"/>
                </a:solidFill>
                <a:latin typeface="Segoe UI"/>
              </a:defRPr>
            </a:pPr>
            <a:r>
              <a:t>• Domain Expertise:</a:t>
            </a:r>
            <a:r>
              <a:rPr b="0">
                <a:solidFill>
                  <a:srgbClr val="14191E"/>
                </a:solidFill>
              </a:rPr>
              <a:t> Spatial computing, generative AI workflow synthesis, 3D GIS web platforms, SITES v2 design integration.</a:t>
            </a:r>
          </a:p>
          <a:p>
            <a:pPr>
              <a:lnSpc>
                <a:spcPct val="112000"/>
              </a:lnSpc>
              <a:defRPr sz="919" b="1">
                <a:solidFill>
                  <a:srgbClr val="14191E"/>
                </a:solidFill>
                <a:latin typeface="Segoe UI"/>
              </a:defRPr>
            </a:pPr>
            <a:r>
              <a:t>• Project Role:</a:t>
            </a:r>
            <a:r>
              <a:rPr b="0">
                <a:solidFill>
                  <a:srgbClr val="14191E"/>
                </a:solidFill>
              </a:rPr>
              <a:t> Lead PI &amp; Overall Project Director (0.75 summer mo/yr • $22,464). Primary operational coordinator across all colleges.</a:t>
            </a:r>
          </a:p>
          <a:p>
            <a:pPr>
              <a:lnSpc>
                <a:spcPct val="112000"/>
              </a:lnSpc>
              <a:defRPr sz="919" b="1">
                <a:solidFill>
                  <a:srgbClr val="14191E"/>
                </a:solidFill>
                <a:latin typeface="Segoe UI"/>
              </a:defRPr>
            </a:pPr>
            <a:r>
              <a:t>• Core Deliverables:</a:t>
            </a:r>
            <a:r>
              <a:rPr b="0">
                <a:solidFill>
                  <a:srgbClr val="14191E"/>
                </a:solidFill>
              </a:rPr>
              <a:t> Directs Spatial Design Center installation; leads AVA/GeoScope software; coordinates graduate curriculum integration.</a:t>
            </a:r>
          </a:p>
          <a:p>
            <a:pPr>
              <a:lnSpc>
                <a:spcPct val="112000"/>
              </a:lnSpc>
              <a:defRPr sz="919" b="1">
                <a:solidFill>
                  <a:srgbClr val="14191E"/>
                </a:solidFill>
                <a:latin typeface="Segoe UI"/>
              </a:defRPr>
            </a:pPr>
            <a:r>
              <a:t>• Scholarly Leadership:</a:t>
            </a:r>
            <a:r>
              <a:rPr b="0">
                <a:solidFill>
                  <a:srgbClr val="14191E"/>
                </a:solidFill>
              </a:rPr>
              <a:t> Co-lead author on Paper 1 (CELA LRR) and Paper 2 (Computers &amp; Electronics in Ag); guides 45+ student credentials.</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OMON ISIKHUEMHEN — SENIOR SCIENTIFIC ADVISOR</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Professor of Mushroom Biology &amp; Mycology, Dept. of Natural Resources &amp; Environmental Design (NRED).</a:t>
            </a:r>
          </a:p>
          <a:p>
            <a:pPr>
              <a:lnSpc>
                <a:spcPct val="112000"/>
              </a:lnSpc>
              <a:defRPr sz="919" b="1">
                <a:solidFill>
                  <a:srgbClr val="14191E"/>
                </a:solidFill>
                <a:latin typeface="Segoe UI"/>
              </a:defRPr>
            </a:pPr>
            <a:r>
              <a:t>• Domain Expertise:</a:t>
            </a:r>
            <a:r>
              <a:rPr b="0">
                <a:solidFill>
                  <a:srgbClr val="14191E"/>
                </a:solidFill>
              </a:rPr>
              <a:t> Globally recognized authority in biotechnology, fungal germplasm conservation, and trufficulture.</a:t>
            </a:r>
          </a:p>
          <a:p>
            <a:pPr>
              <a:lnSpc>
                <a:spcPct val="112000"/>
              </a:lnSpc>
              <a:defRPr sz="919" b="1">
                <a:solidFill>
                  <a:srgbClr val="14191E"/>
                </a:solidFill>
                <a:latin typeface="Segoe UI"/>
              </a:defRPr>
            </a:pPr>
            <a:r>
              <a:t>• Project Role:</a:t>
            </a:r>
            <a:r>
              <a:rPr b="0">
                <a:solidFill>
                  <a:srgbClr val="14191E"/>
                </a:solidFill>
              </a:rPr>
              <a:t> Senior Scientific &amp; Strategic Advisor ($0 Grant Salary Advisory Role). Quality assurance across living forest plots.</a:t>
            </a:r>
          </a:p>
          <a:p>
            <a:pPr>
              <a:lnSpc>
                <a:spcPct val="112000"/>
              </a:lnSpc>
              <a:defRPr sz="919" b="1">
                <a:solidFill>
                  <a:srgbClr val="14191E"/>
                </a:solidFill>
                <a:latin typeface="Segoe UI"/>
              </a:defRPr>
            </a:pPr>
            <a:r>
              <a:t>• Core Deliverables:</a:t>
            </a:r>
            <a:r>
              <a:rPr b="0">
                <a:solidFill>
                  <a:srgbClr val="14191E"/>
                </a:solidFill>
              </a:rPr>
              <a:t> Guides fungal strain selection and truffle inoculation protocols; advises on living fungal germplasm preservation.</a:t>
            </a:r>
          </a:p>
          <a:p>
            <a:pPr>
              <a:lnSpc>
                <a:spcPct val="112000"/>
              </a:lnSpc>
              <a:defRPr sz="919" b="1">
                <a:solidFill>
                  <a:srgbClr val="14191E"/>
                </a:solidFill>
                <a:latin typeface="Segoe UI"/>
              </a:defRPr>
            </a:pPr>
            <a:r>
              <a:t>• Mentorship Impact:</a:t>
            </a:r>
            <a:r>
              <a:rPr b="0">
                <a:solidFill>
                  <a:srgbClr val="14191E"/>
                </a:solidFill>
              </a:rPr>
              <a:t> Serves as senior faculty mentor for junior investigators Dr. Anike, Dr. Chakraborty, and Dr. Talton; co-authors Paper 3 in Agroforestry Systems.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Advanced Engineering &amp; Aerial Sensing Co-Leads</a:t>
            </a:r>
          </a:p>
          <a:p>
            <a:pPr>
              <a:defRPr sz="1150" b="1">
                <a:solidFill>
                  <a:srgbClr val="B45309"/>
                </a:solidFill>
                <a:latin typeface="Montserrat"/>
              </a:defRPr>
            </a:pPr>
            <a:r>
              <a:t>[Q&amp;A REFERENCE VAULT] Computational Data Science, Autonomous Systems &amp; Drone Photogrammetry</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MOMTANU CHAKRABORTY — COE CO-PI</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Assistant Professor, Dept. of Computational Data Science &amp; Engineering, College of Engineering (COE).</a:t>
            </a:r>
          </a:p>
          <a:p>
            <a:pPr>
              <a:lnSpc>
                <a:spcPct val="112000"/>
              </a:lnSpc>
              <a:defRPr sz="919" b="1">
                <a:solidFill>
                  <a:srgbClr val="14191E"/>
                </a:solidFill>
                <a:latin typeface="Segoe UI"/>
              </a:defRPr>
            </a:pPr>
            <a:r>
              <a:t>• Elite Training:</a:t>
            </a:r>
            <a:r>
              <a:rPr b="0">
                <a:solidFill>
                  <a:srgbClr val="14191E"/>
                </a:solidFill>
              </a:rPr>
              <a:t> Postdoctoral Fellow at UC Davis and ETH Zurich; Ph.D. in Biological &amp; Ag Engineering from Washington State.</a:t>
            </a:r>
          </a:p>
          <a:p>
            <a:pPr>
              <a:lnSpc>
                <a:spcPct val="112000"/>
              </a:lnSpc>
              <a:defRPr sz="919" b="1">
                <a:solidFill>
                  <a:srgbClr val="14191E"/>
                </a:solidFill>
                <a:latin typeface="Segoe UI"/>
              </a:defRPr>
            </a:pPr>
            <a:r>
              <a:t>• Domain Expertise:</a:t>
            </a:r>
            <a:r>
              <a:rPr b="0">
                <a:solidFill>
                  <a:srgbClr val="14191E"/>
                </a:solidFill>
              </a:rPr>
              <a:t> Precision agriculture, agricultural robotics, multi-modal sensor fusion, ROS navigation, and digital twins.</a:t>
            </a:r>
          </a:p>
          <a:p>
            <a:pPr>
              <a:lnSpc>
                <a:spcPct val="112000"/>
              </a:lnSpc>
              <a:defRPr sz="919" b="1">
                <a:solidFill>
                  <a:srgbClr val="14191E"/>
                </a:solidFill>
                <a:latin typeface="Segoe UI"/>
              </a:defRPr>
            </a:pPr>
            <a:r>
              <a:t>• Project Role:</a:t>
            </a:r>
            <a:r>
              <a:rPr b="0">
                <a:solidFill>
                  <a:srgbClr val="14191E"/>
                </a:solidFill>
              </a:rPr>
              <a:t> Digital Twin Research Co-Lead (0.50 summer mo/yr • $17,046). Co-directs the 4D digital twin understory sensing pipeline.</a:t>
            </a:r>
          </a:p>
          <a:p>
            <a:pPr>
              <a:lnSpc>
                <a:spcPct val="112000"/>
              </a:lnSpc>
              <a:defRPr sz="919" b="1">
                <a:solidFill>
                  <a:srgbClr val="14191E"/>
                </a:solidFill>
                <a:latin typeface="Segoe UI"/>
              </a:defRPr>
            </a:pPr>
            <a:r>
              <a:t>• Student Supervision:</a:t>
            </a:r>
            <a:r>
              <a:rPr b="0">
                <a:solidFill>
                  <a:srgbClr val="14191E"/>
                </a:solidFill>
              </a:rPr>
              <a:t> Supervises the funded CS/Engineering Student Assistant; co-authors Paper 2 and Paper 4.</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LEILA HASHEMI-BENI — CoST CO-PI</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Associate Professor of Remote Sensing &amp; Geomatics, College of Science and Technology (CoST).</a:t>
            </a:r>
          </a:p>
          <a:p>
            <a:pPr>
              <a:lnSpc>
                <a:spcPct val="112000"/>
              </a:lnSpc>
              <a:defRPr sz="919" b="1">
                <a:solidFill>
                  <a:srgbClr val="14191E"/>
                </a:solidFill>
                <a:latin typeface="Segoe UI"/>
              </a:defRPr>
            </a:pPr>
            <a:r>
              <a:t>• Domain Expertise:</a:t>
            </a:r>
            <a:r>
              <a:rPr b="0">
                <a:solidFill>
                  <a:srgbClr val="14191E"/>
                </a:solidFill>
              </a:rPr>
              <a:t> UAV multispectral mapping, airborne LiDAR point clouds, 3D photogrammetric reconstruction, spatial AI.</a:t>
            </a:r>
          </a:p>
          <a:p>
            <a:pPr>
              <a:lnSpc>
                <a:spcPct val="112000"/>
              </a:lnSpc>
              <a:defRPr sz="919" b="1">
                <a:solidFill>
                  <a:srgbClr val="14191E"/>
                </a:solidFill>
                <a:latin typeface="Segoe UI"/>
              </a:defRPr>
            </a:pPr>
            <a:r>
              <a:t>• Project Role:</a:t>
            </a:r>
            <a:r>
              <a:rPr b="0">
                <a:solidFill>
                  <a:srgbClr val="14191E"/>
                </a:solidFill>
              </a:rPr>
              <a:t> Remote Sensing &amp; Aerial Mapping Co-Lead (0.50 summer mo/yr • $17,643). Oversees all drone flight operations.</a:t>
            </a:r>
          </a:p>
          <a:p>
            <a:pPr>
              <a:lnSpc>
                <a:spcPct val="112000"/>
              </a:lnSpc>
              <a:defRPr sz="919" b="1">
                <a:solidFill>
                  <a:srgbClr val="14191E"/>
                </a:solidFill>
                <a:latin typeface="Segoe UI"/>
              </a:defRPr>
            </a:pPr>
            <a:r>
              <a:t>• Core Deliverables:</a:t>
            </a:r>
            <a:r>
              <a:rPr b="0">
                <a:solidFill>
                  <a:srgbClr val="14191E"/>
                </a:solidFill>
              </a:rPr>
              <a:t> Executes seasonal drone LiDAR and multispectral overstory flights over SFRIC; processes point cloud meshes.</a:t>
            </a:r>
          </a:p>
          <a:p>
            <a:pPr>
              <a:lnSpc>
                <a:spcPct val="112000"/>
              </a:lnSpc>
              <a:defRPr sz="919" b="1">
                <a:solidFill>
                  <a:srgbClr val="14191E"/>
                </a:solidFill>
                <a:latin typeface="Segoe UI"/>
              </a:defRPr>
            </a:pPr>
            <a:r>
              <a:t>• Scholarly Leadership:</a:t>
            </a:r>
            <a:r>
              <a:rPr b="0">
                <a:solidFill>
                  <a:srgbClr val="14191E"/>
                </a:solidFill>
              </a:rPr>
              <a:t> Lead author on Paper 4 in IEEE JSTARS; provides raw orthomosaics and DEMs for student design studios.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Biological Sciences &amp; Living Forest Co-Leads</a:t>
            </a:r>
          </a:p>
          <a:p>
            <a:pPr>
              <a:defRPr sz="1150" b="1">
                <a:solidFill>
                  <a:srgbClr val="B45309"/>
                </a:solidFill>
                <a:latin typeface="Montserrat"/>
              </a:defRPr>
            </a:pPr>
            <a:r>
              <a:t>[Q&amp;A REFERENCE VAULT] Mycology, Horticulture Polycultures, Soil Biogeochemistry &amp; Field Diagnostics</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FELICIA N. ANIKE &amp; DR. G. YANG</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06000"/>
              </a:lnSpc>
              <a:defRPr sz="819" b="1">
                <a:solidFill>
                  <a:srgbClr val="14191E"/>
                </a:solidFill>
                <a:latin typeface="Segoe UI"/>
              </a:defRPr>
            </a:pPr>
            <a:r>
              <a:t>• Dr. Felicia N. Anike (Co-PI • 0.50 mo/yr • $15,840):</a:t>
            </a:r>
            <a:r>
              <a:rPr b="0">
                <a:solidFill>
                  <a:srgbClr val="14191E"/>
                </a:solidFill>
              </a:rPr>
              <a:t> Research Assistant Professor of Mycology. Forest Bioeconomy Lead; directs 100 living fungal stations and pecan truffle plots; supervises Mycology GRA.</a:t>
            </a:r>
          </a:p>
          <a:p>
            <a:pPr>
              <a:lnSpc>
                <a:spcPct val="106000"/>
              </a:lnSpc>
              <a:defRPr sz="819" b="1">
                <a:solidFill>
                  <a:srgbClr val="14191E"/>
                </a:solidFill>
                <a:latin typeface="Segoe UI"/>
              </a:defRPr>
            </a:pPr>
            <a:r>
              <a:t>• Dr. Guochen Yang (Co-PI • 0.50 mo/yr • $17,808):</a:t>
            </a:r>
            <a:r>
              <a:rPr b="0">
                <a:solidFill>
                  <a:srgbClr val="14191E"/>
                </a:solidFill>
              </a:rPr>
              <a:t> Professor of Horticulture; named 2025 ASHS HortLegend. Directs micropropagated ginger understory trials evaluating canopy shade and yield.</a:t>
            </a:r>
          </a:p>
          <a:p>
            <a:pPr>
              <a:lnSpc>
                <a:spcPct val="106000"/>
              </a:lnSpc>
              <a:defRPr sz="819" b="1">
                <a:solidFill>
                  <a:srgbClr val="14191E"/>
                </a:solidFill>
                <a:latin typeface="Segoe UI"/>
              </a:defRPr>
            </a:pPr>
            <a:r>
              <a:t>• Living Forest Integration:</a:t>
            </a:r>
            <a:r>
              <a:rPr b="0">
                <a:solidFill>
                  <a:srgbClr val="14191E"/>
                </a:solidFill>
              </a:rPr>
              <a:t> Fuses fungal logs and shade ginger into integrated woodland polycultures.</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PORCHÉ L. SPENCE — CAES CO-PI</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Assistant Professor of Soil Science, Dept. of Natural Resources &amp; Environmental Design.</a:t>
            </a:r>
          </a:p>
          <a:p>
            <a:pPr>
              <a:lnSpc>
                <a:spcPct val="112000"/>
              </a:lnSpc>
              <a:defRPr sz="919" b="1">
                <a:solidFill>
                  <a:srgbClr val="14191E"/>
                </a:solidFill>
                <a:latin typeface="Segoe UI"/>
              </a:defRPr>
            </a:pPr>
            <a:r>
              <a:t>• Domain Expertise:</a:t>
            </a:r>
            <a:r>
              <a:rPr b="0">
                <a:solidFill>
                  <a:srgbClr val="14191E"/>
                </a:solidFill>
              </a:rPr>
              <a:t> Soil biogeochemistry, nutrient cycling, watershed ecology, and conservation planning.</a:t>
            </a:r>
          </a:p>
          <a:p>
            <a:pPr>
              <a:lnSpc>
                <a:spcPct val="112000"/>
              </a:lnSpc>
              <a:defRPr sz="919" b="1">
                <a:solidFill>
                  <a:srgbClr val="14191E"/>
                </a:solidFill>
                <a:latin typeface="Segoe UI"/>
              </a:defRPr>
            </a:pPr>
            <a:r>
              <a:t>• Project Role:</a:t>
            </a:r>
            <a:r>
              <a:rPr b="0">
                <a:solidFill>
                  <a:srgbClr val="14191E"/>
                </a:solidFill>
              </a:rPr>
              <a:t> Soil Biogeochemistry &amp; Conservation Co-Lead (0.50 summer mo/yr • $15,585).</a:t>
            </a:r>
          </a:p>
          <a:p>
            <a:pPr>
              <a:lnSpc>
                <a:spcPct val="112000"/>
              </a:lnSpc>
              <a:defRPr sz="919" b="1">
                <a:solidFill>
                  <a:srgbClr val="14191E"/>
                </a:solidFill>
                <a:latin typeface="Segoe UI"/>
              </a:defRPr>
            </a:pPr>
            <a:r>
              <a:t>• Core Deliverables:</a:t>
            </a:r>
            <a:r>
              <a:rPr b="0">
                <a:solidFill>
                  <a:srgbClr val="14191E"/>
                </a:solidFill>
              </a:rPr>
              <a:t> Directs baseline soil testing across 100 forest stations; oversees USDA NRCS-CP credential curriculum integration.</a:t>
            </a:r>
          </a:p>
          <a:p>
            <a:pPr>
              <a:lnSpc>
                <a:spcPct val="112000"/>
              </a:lnSpc>
              <a:defRPr sz="919" b="1">
                <a:solidFill>
                  <a:srgbClr val="14191E"/>
                </a:solidFill>
                <a:latin typeface="Segoe UI"/>
              </a:defRPr>
            </a:pPr>
            <a:r>
              <a:t>• Scholarly Impact:</a:t>
            </a:r>
            <a:r>
              <a:rPr b="0">
                <a:solidFill>
                  <a:srgbClr val="14191E"/>
                </a:solidFill>
              </a:rPr>
              <a:t> Co-authors Paper 3 in Agroforestry Systems on soil carbon and nutrient sequestration.</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HANNAH TALTON — CoST CO-PI</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Assistant Professor of Biology, College of Science and Technology (CoST).</a:t>
            </a:r>
          </a:p>
          <a:p>
            <a:pPr>
              <a:lnSpc>
                <a:spcPct val="112000"/>
              </a:lnSpc>
              <a:defRPr sz="919" b="1">
                <a:solidFill>
                  <a:srgbClr val="14191E"/>
                </a:solidFill>
                <a:latin typeface="Segoe UI"/>
              </a:defRPr>
            </a:pPr>
            <a:r>
              <a:t>• Domain Expertise:</a:t>
            </a:r>
            <a:r>
              <a:rPr b="0">
                <a:solidFill>
                  <a:srgbClr val="14191E"/>
                </a:solidFill>
              </a:rPr>
              <a:t> Environmental entomology, insect trapping, microbial pathology, and taxonomic identification.</a:t>
            </a:r>
          </a:p>
          <a:p>
            <a:pPr>
              <a:lnSpc>
                <a:spcPct val="112000"/>
              </a:lnSpc>
              <a:defRPr sz="919" b="1">
                <a:solidFill>
                  <a:srgbClr val="14191E"/>
                </a:solidFill>
                <a:latin typeface="Segoe UI"/>
              </a:defRPr>
            </a:pPr>
            <a:r>
              <a:t>• Project Role:</a:t>
            </a:r>
            <a:r>
              <a:rPr b="0">
                <a:solidFill>
                  <a:srgbClr val="14191E"/>
                </a:solidFill>
              </a:rPr>
              <a:t> Field Entomology &amp; Pest Diagnostics Co-Lead (0.50 summer mo/yr • $16,848).</a:t>
            </a:r>
          </a:p>
          <a:p>
            <a:pPr>
              <a:lnSpc>
                <a:spcPct val="112000"/>
              </a:lnSpc>
              <a:defRPr sz="919" b="1">
                <a:solidFill>
                  <a:srgbClr val="14191E"/>
                </a:solidFill>
                <a:latin typeface="Segoe UI"/>
              </a:defRPr>
            </a:pPr>
            <a:r>
              <a:t>• Core Deliverables:</a:t>
            </a:r>
            <a:r>
              <a:rPr b="0">
                <a:solidFill>
                  <a:srgbClr val="14191E"/>
                </a:solidFill>
              </a:rPr>
              <a:t> Leads forest insect surveys; provides biological diagnostics; authors 4 grower extension bulletins.</a:t>
            </a:r>
          </a:p>
          <a:p>
            <a:pPr>
              <a:lnSpc>
                <a:spcPct val="112000"/>
              </a:lnSpc>
              <a:defRPr sz="919" b="1">
                <a:solidFill>
                  <a:srgbClr val="14191E"/>
                </a:solidFill>
                <a:latin typeface="Segoe UI"/>
              </a:defRPr>
            </a:pPr>
            <a:r>
              <a:t>• Protected Role:</a:t>
            </a:r>
            <a:r>
              <a:rPr b="0">
                <a:solidFill>
                  <a:srgbClr val="14191E"/>
                </a:solidFill>
              </a:rPr>
              <a:t> 100% focused on field taxonomy and diagnostics—zero drone piloting or software coding burden.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Design Studio Pedagogy, Practice &amp; Evaluation</a:t>
            </a:r>
          </a:p>
          <a:p>
            <a:pPr>
              <a:defRPr sz="1150" b="1">
                <a:solidFill>
                  <a:srgbClr val="B45309"/>
                </a:solidFill>
                <a:latin typeface="Montserrat"/>
              </a:defRPr>
            </a:pPr>
            <a:r>
              <a:t>[Q&amp;A REFERENCE VAULT] Curricular Integration, Professional Licensure Standards &amp; Project Evaluation</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JEFFREY A. KUEHNER, MLA — PRACTICE CO-LEAD</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Adjunct Professor of Landscape Architecture, Dept. of Natural Resources &amp; Environmental Design.</a:t>
            </a:r>
          </a:p>
          <a:p>
            <a:pPr>
              <a:lnSpc>
                <a:spcPct val="112000"/>
              </a:lnSpc>
              <a:defRPr sz="919" b="1">
                <a:solidFill>
                  <a:srgbClr val="14191E"/>
                </a:solidFill>
                <a:latin typeface="Segoe UI"/>
              </a:defRPr>
            </a:pPr>
            <a:r>
              <a:t>• Domain Expertise:</a:t>
            </a:r>
            <a:r>
              <a:rPr b="0">
                <a:solidFill>
                  <a:srgbClr val="14191E"/>
                </a:solidFill>
              </a:rPr>
              <a:t> Construction documentation, grading and drainage, planting design, site engineering, and professional practice.</a:t>
            </a:r>
          </a:p>
          <a:p>
            <a:pPr>
              <a:lnSpc>
                <a:spcPct val="112000"/>
              </a:lnSpc>
              <a:defRPr sz="919" b="1">
                <a:solidFill>
                  <a:srgbClr val="14191E"/>
                </a:solidFill>
                <a:latin typeface="Segoe UI"/>
              </a:defRPr>
            </a:pPr>
            <a:r>
              <a:t>• Project Role:</a:t>
            </a:r>
            <a:r>
              <a:rPr b="0">
                <a:solidFill>
                  <a:srgbClr val="14191E"/>
                </a:solidFill>
              </a:rPr>
              <a:t> Studio Pedagogy &amp; Professional Practice Co-Lead (0.50 summer mo/yr • $15,120).</a:t>
            </a:r>
          </a:p>
          <a:p>
            <a:pPr>
              <a:lnSpc>
                <a:spcPct val="112000"/>
              </a:lnSpc>
              <a:defRPr sz="919" b="1">
                <a:solidFill>
                  <a:srgbClr val="14191E"/>
                </a:solidFill>
                <a:latin typeface="Segoe UI"/>
              </a:defRPr>
            </a:pPr>
            <a:r>
              <a:t>• Core Deliverables:</a:t>
            </a:r>
            <a:r>
              <a:rPr b="0">
                <a:solidFill>
                  <a:srgbClr val="14191E"/>
                </a:solidFill>
              </a:rPr>
              <a:t> Integrates SITES v2 grading rubrics and NRCS conservation practice standards into LDAR 247, 248, and 448 studios.</a:t>
            </a:r>
          </a:p>
          <a:p>
            <a:pPr>
              <a:lnSpc>
                <a:spcPct val="112000"/>
              </a:lnSpc>
              <a:defRPr sz="919" b="1">
                <a:solidFill>
                  <a:srgbClr val="14191E"/>
                </a:solidFill>
                <a:latin typeface="Segoe UI"/>
              </a:defRPr>
            </a:pPr>
            <a:r>
              <a:t>• Credential Alignment:</a:t>
            </a:r>
            <a:r>
              <a:rPr b="0">
                <a:solidFill>
                  <a:srgbClr val="14191E"/>
                </a:solidFill>
              </a:rPr>
              <a:t> Develops asynchronous study guides and exam preparation materials for student SITES AP certifications.</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DR. ARYAL &amp; EXTERNAL EVALUATION TEAM</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Dr. Niroj Aryal (Executive Sponsor):</a:t>
            </a:r>
            <a:r>
              <a:rPr b="0">
                <a:solidFill>
                  <a:srgbClr val="14191E"/>
                </a:solidFill>
              </a:rPr>
              <a:t> Department Chairperson &amp; Associate Professor, NRED. Institutional alignment and space allocation.</a:t>
            </a:r>
          </a:p>
          <a:p>
            <a:pPr>
              <a:lnSpc>
                <a:spcPct val="112000"/>
              </a:lnSpc>
              <a:defRPr sz="919" b="1">
                <a:solidFill>
                  <a:srgbClr val="14191E"/>
                </a:solidFill>
                <a:latin typeface="Segoe UI"/>
              </a:defRPr>
            </a:pPr>
            <a:r>
              <a:t>• External Project Evaluator (TBD • $21,000 across 3 years):</a:t>
            </a:r>
            <a:r>
              <a:rPr b="0">
                <a:solidFill>
                  <a:srgbClr val="14191E"/>
                </a:solidFill>
              </a:rPr>
              <a:t> Independent educational evaluator to conduct annual reviews and USDA reporting.</a:t>
            </a:r>
          </a:p>
          <a:p>
            <a:pPr>
              <a:lnSpc>
                <a:spcPct val="112000"/>
              </a:lnSpc>
              <a:defRPr sz="919" b="1">
                <a:solidFill>
                  <a:srgbClr val="14191E"/>
                </a:solidFill>
                <a:latin typeface="Segoe UI"/>
              </a:defRPr>
            </a:pPr>
            <a:r>
              <a:t>• Formative &amp; Summative Metrics:</a:t>
            </a:r>
            <a:r>
              <a:rPr b="0">
                <a:solidFill>
                  <a:srgbClr val="14191E"/>
                </a:solidFill>
              </a:rPr>
              <a:t> Tracking student certification pass rates, course learning outcomes, and extension workshop participant feedback.</a:t>
            </a:r>
          </a:p>
          <a:p>
            <a:pPr>
              <a:lnSpc>
                <a:spcPct val="112000"/>
              </a:lnSpc>
              <a:defRPr sz="919" b="1">
                <a:solidFill>
                  <a:srgbClr val="14191E"/>
                </a:solidFill>
                <a:latin typeface="Segoe UI"/>
              </a:defRPr>
            </a:pPr>
            <a:r>
              <a:t>• Accreditation Alignment:</a:t>
            </a:r>
            <a:r>
              <a:rPr b="0">
                <a:solidFill>
                  <a:srgbClr val="14191E"/>
                </a:solidFill>
              </a:rPr>
              <a:t> Ensures all curriculum modifications align with Landscape Architectural Accreditation Board (LAAB) standards.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Extension Outreach &amp; Farm Operations Co-Leads</a:t>
            </a:r>
          </a:p>
          <a:p>
            <a:pPr>
              <a:defRPr sz="1150" b="1">
                <a:solidFill>
                  <a:srgbClr val="B45309"/>
                </a:solidFill>
                <a:latin typeface="Montserrat"/>
              </a:defRPr>
            </a:pPr>
            <a:r>
              <a:t>[Q&amp;A REFERENCE VAULT] Producer Networks, Field Demonstration Logistics &amp; 100-Acre Living Lab</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CHARLIE HOPPER — SFRIC DIRECTOR &amp; EXTENSION CO-PI</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Appointment:</a:t>
            </a:r>
            <a:r>
              <a:rPr b="0">
                <a:solidFill>
                  <a:srgbClr val="14191E"/>
                </a:solidFill>
              </a:rPr>
              <a:t> Director, Small Farm Research and Innovation Center (SFRIC), NC A&amp;T Cooperative Extension.</a:t>
            </a:r>
          </a:p>
          <a:p>
            <a:pPr>
              <a:lnSpc>
                <a:spcPct val="112000"/>
              </a:lnSpc>
              <a:defRPr sz="919" b="1">
                <a:solidFill>
                  <a:srgbClr val="14191E"/>
                </a:solidFill>
                <a:latin typeface="Segoe UI"/>
              </a:defRPr>
            </a:pPr>
            <a:r>
              <a:t>• Leadership Role:</a:t>
            </a:r>
            <a:r>
              <a:rPr b="0">
                <a:solidFill>
                  <a:srgbClr val="14191E"/>
                </a:solidFill>
              </a:rPr>
              <a:t> Oversees 100+ acre SFRIC facility in Greensboro; manages field demonstration plots and producer education facilities.</a:t>
            </a:r>
          </a:p>
          <a:p>
            <a:pPr>
              <a:lnSpc>
                <a:spcPct val="112000"/>
              </a:lnSpc>
              <a:defRPr sz="919" b="1">
                <a:solidFill>
                  <a:srgbClr val="14191E"/>
                </a:solidFill>
                <a:latin typeface="Segoe UI"/>
              </a:defRPr>
            </a:pPr>
            <a:r>
              <a:t>• Project Role:</a:t>
            </a:r>
            <a:r>
              <a:rPr b="0">
                <a:solidFill>
                  <a:srgbClr val="14191E"/>
                </a:solidFill>
              </a:rPr>
              <a:t> Farm Operations &amp; Living Lab Co-Lead ($0 grant salary — institutional cost-share / facility support).</a:t>
            </a:r>
          </a:p>
          <a:p>
            <a:pPr>
              <a:lnSpc>
                <a:spcPct val="112000"/>
              </a:lnSpc>
              <a:defRPr sz="919" b="1">
                <a:solidFill>
                  <a:srgbClr val="14191E"/>
                </a:solidFill>
                <a:latin typeface="Segoe UI"/>
              </a:defRPr>
            </a:pPr>
            <a:r>
              <a:t>• Core Deliverables:</a:t>
            </a:r>
            <a:r>
              <a:rPr b="0">
                <a:solidFill>
                  <a:srgbClr val="14191E"/>
                </a:solidFill>
              </a:rPr>
              <a:t> Allocates and maintains 5-acre living agroforestry research plot; coordinates site access for drone flights and soil sampling.</a:t>
            </a:r>
          </a:p>
          <a:p>
            <a:pPr>
              <a:lnSpc>
                <a:spcPct val="112000"/>
              </a:lnSpc>
              <a:defRPr sz="919" b="1">
                <a:solidFill>
                  <a:srgbClr val="14191E"/>
                </a:solidFill>
                <a:latin typeface="Segoe UI"/>
              </a:defRPr>
            </a:pPr>
            <a:r>
              <a:t>• Producer Network:</a:t>
            </a:r>
            <a:r>
              <a:rPr b="0">
                <a:solidFill>
                  <a:srgbClr val="14191E"/>
                </a:solidFill>
              </a:rPr>
              <a:t> Connects Project SILVA directly to NC A&amp;T's network of 1,200+ small, limited-resource, and minority farmers.</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COOPERATIVE EXTENSION &amp; AGENT NETWORK</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10 Regional Extension Offices:</a:t>
            </a:r>
            <a:r>
              <a:rPr b="0">
                <a:solidFill>
                  <a:srgbClr val="14191E"/>
                </a:solidFill>
              </a:rPr>
              <a:t> Direct dissemination pipeline across North Carolina Piedmont, Sandhills, and Coastal Plain counties.</a:t>
            </a:r>
          </a:p>
          <a:p>
            <a:pPr>
              <a:lnSpc>
                <a:spcPct val="112000"/>
              </a:lnSpc>
              <a:defRPr sz="919" b="1">
                <a:solidFill>
                  <a:srgbClr val="14191E"/>
                </a:solidFill>
                <a:latin typeface="Segoe UI"/>
              </a:defRPr>
            </a:pPr>
            <a:r>
              <a:t>• Producer Charrettes:</a:t>
            </a:r>
            <a:r>
              <a:rPr b="0">
                <a:solidFill>
                  <a:srgbClr val="14191E"/>
                </a:solidFill>
              </a:rPr>
              <a:t> Hosting 6 hands-on participatory design charrettes at SFRIC connecting landowners with student design teams.</a:t>
            </a:r>
          </a:p>
          <a:p>
            <a:pPr>
              <a:lnSpc>
                <a:spcPct val="112000"/>
              </a:lnSpc>
              <a:defRPr sz="919" b="1">
                <a:solidFill>
                  <a:srgbClr val="14191E"/>
                </a:solidFill>
                <a:latin typeface="Segoe UI"/>
              </a:defRPr>
            </a:pPr>
            <a:r>
              <a:t>• Field Day Demonstrations:</a:t>
            </a:r>
            <a:r>
              <a:rPr b="0">
                <a:solidFill>
                  <a:srgbClr val="14191E"/>
                </a:solidFill>
              </a:rPr>
              <a:t> Annual Agroforestry Field Days showcasing living truffle plots, shade ginger, and mobile digital twin apps.</a:t>
            </a:r>
          </a:p>
          <a:p>
            <a:pPr>
              <a:lnSpc>
                <a:spcPct val="112000"/>
              </a:lnSpc>
              <a:defRPr sz="919" b="1">
                <a:solidFill>
                  <a:srgbClr val="14191E"/>
                </a:solidFill>
                <a:latin typeface="Segoe UI"/>
              </a:defRPr>
            </a:pPr>
            <a:r>
              <a:t>• Grower SOP Bulletins:</a:t>
            </a:r>
            <a:r>
              <a:rPr b="0">
                <a:solidFill>
                  <a:srgbClr val="14191E"/>
                </a:solidFill>
              </a:rPr>
              <a:t> Co-authoring and distributing 6 open-access grower Standard Operating Procedures in plain, accessible language.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Workload Protection: Clear, Defensible Scopes</a:t>
            </a:r>
          </a:p>
          <a:p>
            <a:pPr>
              <a:defRPr sz="1150" b="1">
                <a:solidFill>
                  <a:srgbClr val="B45309"/>
                </a:solidFill>
                <a:latin typeface="Montserrat"/>
              </a:defRPr>
            </a:pPr>
            <a:r>
              <a:t>[Q&amp;A REFERENCE VAULT] Protecting Faculty Capacity While Ensuring Flawless Grant Execution</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THE WORKLOAD CHALLENGE AT AN 1890 HBCU</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High Teaching Loads:</a:t>
            </a:r>
            <a:r>
              <a:rPr b="0">
                <a:solidFill>
                  <a:srgbClr val="14191E"/>
                </a:solidFill>
              </a:rPr>
              <a:t> Faculty typically carry 3–4 courses per semester; adding complex grant administration creates severe burnout risk.</a:t>
            </a:r>
          </a:p>
          <a:p>
            <a:pPr>
              <a:lnSpc>
                <a:spcPct val="112000"/>
              </a:lnSpc>
              <a:defRPr sz="919" b="1">
                <a:solidFill>
                  <a:srgbClr val="14191E"/>
                </a:solidFill>
                <a:latin typeface="Segoe UI"/>
              </a:defRPr>
            </a:pPr>
            <a:r>
              <a:t>• Reviewer Scrutiny:</a:t>
            </a:r>
            <a:r>
              <a:rPr b="0">
                <a:solidFill>
                  <a:srgbClr val="14191E"/>
                </a:solidFill>
              </a:rPr>
              <a:t> USDA review panels penalize proposals where faculty commitments appear unrealistic or unsupported by staff.</a:t>
            </a:r>
          </a:p>
          <a:p>
            <a:pPr>
              <a:lnSpc>
                <a:spcPct val="112000"/>
              </a:lnSpc>
              <a:defRPr sz="919" b="1">
                <a:solidFill>
                  <a:srgbClr val="14191E"/>
                </a:solidFill>
                <a:latin typeface="Segoe UI"/>
              </a:defRPr>
            </a:pPr>
            <a:r>
              <a:t>• The SILVA Solution:</a:t>
            </a:r>
            <a:r>
              <a:rPr b="0">
                <a:solidFill>
                  <a:srgbClr val="14191E"/>
                </a:solidFill>
              </a:rPr>
              <a:t> Project SILVA funds dedicated full-time staff and graduate assistants to handle the day-to-day operational labor.</a:t>
            </a:r>
          </a:p>
          <a:p>
            <a:pPr>
              <a:lnSpc>
                <a:spcPct val="112000"/>
              </a:lnSpc>
              <a:defRPr sz="919" b="1">
                <a:solidFill>
                  <a:srgbClr val="14191E"/>
                </a:solidFill>
                <a:latin typeface="Segoe UI"/>
              </a:defRPr>
            </a:pPr>
            <a:r>
              <a:t>• Capped Faculty Effort:</a:t>
            </a:r>
            <a:r>
              <a:rPr b="0">
                <a:solidFill>
                  <a:srgbClr val="14191E"/>
                </a:solidFill>
              </a:rPr>
              <a:t> Faculty commitments are strictly calibrated to summer months (0.50–0.75 mo/yr), protecting academic-year teaching.</a:t>
            </a:r>
          </a:p>
          <a:p>
            <a:pPr>
              <a:lnSpc>
                <a:spcPct val="112000"/>
              </a:lnSpc>
              <a:defRPr sz="919" b="1">
                <a:solidFill>
                  <a:srgbClr val="14191E"/>
                </a:solidFill>
                <a:latin typeface="Segoe UI"/>
              </a:defRPr>
            </a:pPr>
            <a:r>
              <a:t>• Tenure Protection:</a:t>
            </a:r>
            <a:r>
              <a:rPr b="0">
                <a:solidFill>
                  <a:srgbClr val="14191E"/>
                </a:solidFill>
              </a:rPr>
              <a:t> Early-career faculty receive protected research time, dedicated student assistants, and guaranteed co-authorships.</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DEDICATED FULL-TIME GRANT STAFFING</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Full-Time Post-Doctoral Researcher ($60k/yr • $180k total):</a:t>
            </a:r>
            <a:r>
              <a:rPr b="0">
                <a:solidFill>
                  <a:srgbClr val="14191E"/>
                </a:solidFill>
              </a:rPr>
              <a:t> Runs daily field trials, sensor maintenance, drone flights, and data analysis.</a:t>
            </a:r>
          </a:p>
          <a:p>
            <a:pPr>
              <a:lnSpc>
                <a:spcPct val="112000"/>
              </a:lnSpc>
              <a:defRPr sz="919" b="1">
                <a:solidFill>
                  <a:srgbClr val="14191E"/>
                </a:solidFill>
                <a:latin typeface="Segoe UI"/>
              </a:defRPr>
            </a:pPr>
            <a:r>
              <a:t>• Graduate Research Assistant — Mycology ($25k/yr • $75k total):</a:t>
            </a:r>
            <a:r>
              <a:rPr b="0">
                <a:solidFill>
                  <a:srgbClr val="14191E"/>
                </a:solidFill>
              </a:rPr>
              <a:t> Supports Dr. Anike with fungal culturing, spore slurry, and station checks.</a:t>
            </a:r>
          </a:p>
          <a:p>
            <a:pPr>
              <a:lnSpc>
                <a:spcPct val="112000"/>
              </a:lnSpc>
              <a:defRPr sz="919" b="1">
                <a:solidFill>
                  <a:srgbClr val="14191E"/>
                </a:solidFill>
                <a:latin typeface="Segoe UI"/>
              </a:defRPr>
            </a:pPr>
            <a:r>
              <a:t>• Graduate Research Assistant — Data Science ($25k/yr • $75k total):</a:t>
            </a:r>
            <a:r>
              <a:rPr b="0">
                <a:solidFill>
                  <a:srgbClr val="14191E"/>
                </a:solidFill>
              </a:rPr>
              <a:t> Supports Dr. Chakraborty and Dr. Hashemi-Beni with 3D point cloud pipelines.</a:t>
            </a:r>
          </a:p>
          <a:p>
            <a:pPr>
              <a:lnSpc>
                <a:spcPct val="112000"/>
              </a:lnSpc>
              <a:defRPr sz="919" b="1">
                <a:solidFill>
                  <a:srgbClr val="14191E"/>
                </a:solidFill>
                <a:latin typeface="Segoe UI"/>
              </a:defRPr>
            </a:pPr>
            <a:r>
              <a:t>• Undergraduate Student Assistants ($15/hr • $35k total):</a:t>
            </a:r>
            <a:r>
              <a:rPr b="0">
                <a:solidFill>
                  <a:srgbClr val="14191E"/>
                </a:solidFill>
              </a:rPr>
              <a:t> 4 student workers assisting with field charrettes and studio lab maintenance.</a:t>
            </a:r>
          </a:p>
          <a:p>
            <a:pPr>
              <a:lnSpc>
                <a:spcPct val="112000"/>
              </a:lnSpc>
              <a:defRPr sz="919" b="1">
                <a:solidFill>
                  <a:srgbClr val="14191E"/>
                </a:solidFill>
                <a:latin typeface="Segoe UI"/>
              </a:defRPr>
            </a:pPr>
            <a:r>
              <a:t>• Administrative Burden Removed:</a:t>
            </a:r>
            <a:r>
              <a:rPr b="0">
                <a:solidFill>
                  <a:srgbClr val="14191E"/>
                </a:solidFill>
              </a:rPr>
              <a:t> The Post-Doc and Lead PI handle all reporting, purchasing, travel, and logistics.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Pillar 1: Teaching Track ($350,000 • 46.7%)</a:t>
            </a:r>
          </a:p>
          <a:p>
            <a:pPr>
              <a:defRPr sz="1150" b="1">
                <a:solidFill>
                  <a:srgbClr val="B45309"/>
                </a:solidFill>
                <a:latin typeface="Montserrat"/>
              </a:defRPr>
            </a:pPr>
            <a:r>
              <a:t>[Q&amp;A REFERENCE VAULT] Curricular Scaffolding, Degree Bridge &amp; Stackable Credentials</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CURRICULAR INFUSION (5 COURSES)</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LDAR 147 (Intro to Computing):</a:t>
            </a:r>
            <a:r>
              <a:rPr b="0">
                <a:solidFill>
                  <a:srgbClr val="14191E"/>
                </a:solidFill>
              </a:rPr>
              <a:t> Foundations of spatial thinking, QGIS fundamentals, digital terrain representation.</a:t>
            </a:r>
          </a:p>
          <a:p>
            <a:pPr>
              <a:lnSpc>
                <a:spcPct val="112000"/>
              </a:lnSpc>
              <a:defRPr sz="919" b="1">
                <a:solidFill>
                  <a:srgbClr val="14191E"/>
                </a:solidFill>
                <a:latin typeface="Segoe UI"/>
              </a:defRPr>
            </a:pPr>
            <a:r>
              <a:t>• LDAR 247 (Site Planning):</a:t>
            </a:r>
            <a:r>
              <a:rPr b="0">
                <a:solidFill>
                  <a:srgbClr val="14191E"/>
                </a:solidFill>
              </a:rPr>
              <a:t> Integrating NRCS conservation planning principles, watershed analysis, slope-aspect calculations.</a:t>
            </a:r>
          </a:p>
          <a:p>
            <a:pPr>
              <a:lnSpc>
                <a:spcPct val="112000"/>
              </a:lnSpc>
              <a:defRPr sz="919" b="1">
                <a:solidFill>
                  <a:srgbClr val="14191E"/>
                </a:solidFill>
                <a:latin typeface="Segoe UI"/>
              </a:defRPr>
            </a:pPr>
            <a:r>
              <a:t>• LDAR 248 (Design Studio II):</a:t>
            </a:r>
            <a:r>
              <a:rPr b="0">
                <a:solidFill>
                  <a:srgbClr val="14191E"/>
                </a:solidFill>
              </a:rPr>
              <a:t> Ecological site analysis, SITES v2 rating system integration, baseline site inventory for SFRIC living lab.</a:t>
            </a:r>
          </a:p>
          <a:p>
            <a:pPr>
              <a:lnSpc>
                <a:spcPct val="112000"/>
              </a:lnSpc>
              <a:defRPr sz="919" b="1">
                <a:solidFill>
                  <a:srgbClr val="14191E"/>
                </a:solidFill>
                <a:latin typeface="Segoe UI"/>
              </a:defRPr>
            </a:pPr>
            <a:r>
              <a:t>• LDAR 448 (Advanced Studio):</a:t>
            </a:r>
            <a:r>
              <a:rPr b="0">
                <a:solidFill>
                  <a:srgbClr val="14191E"/>
                </a:solidFill>
              </a:rPr>
              <a:t> Capstone studio utilizing 3D digital twin meshes for community agroforestry master planning.</a:t>
            </a:r>
          </a:p>
          <a:p>
            <a:pPr>
              <a:lnSpc>
                <a:spcPct val="112000"/>
              </a:lnSpc>
              <a:defRPr sz="919" b="1">
                <a:solidFill>
                  <a:srgbClr val="14191E"/>
                </a:solidFill>
                <a:latin typeface="Segoe UI"/>
              </a:defRPr>
            </a:pPr>
            <a:r>
              <a:t>• LDAR 612 &amp; 624 (Graduate Courses):</a:t>
            </a:r>
            <a:r>
              <a:rPr b="0">
                <a:solidFill>
                  <a:srgbClr val="14191E"/>
                </a:solidFill>
              </a:rPr>
              <a:t> Advanced site systems and community spatial practice for the accelerated 4+1 MLA.</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STACKABLE CREDENTIAL PIPELINE</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Dual-Track Scaffolding:</a:t>
            </a:r>
            <a:r>
              <a:rPr b="0">
                <a:solidFill>
                  <a:srgbClr val="14191E"/>
                </a:solidFill>
              </a:rPr>
              <a:t> Pairs industry-recognized certifications directly with existing course learning objectives.</a:t>
            </a:r>
          </a:p>
          <a:p>
            <a:pPr>
              <a:lnSpc>
                <a:spcPct val="112000"/>
              </a:lnSpc>
              <a:defRPr sz="919" b="1">
                <a:solidFill>
                  <a:srgbClr val="14191E"/>
                </a:solidFill>
                <a:latin typeface="Segoe UI"/>
              </a:defRPr>
            </a:pPr>
            <a:r>
              <a:t>• USDA NRCS Apprentice Planner (Level I):</a:t>
            </a:r>
            <a:r>
              <a:rPr b="0">
                <a:solidFill>
                  <a:srgbClr val="14191E"/>
                </a:solidFill>
              </a:rPr>
              <a:t> Integrated into LDAR 247 and 248; prepares students for federal conservation careers.</a:t>
            </a:r>
          </a:p>
          <a:p>
            <a:pPr>
              <a:lnSpc>
                <a:spcPct val="112000"/>
              </a:lnSpc>
              <a:defRPr sz="919" b="1">
                <a:solidFill>
                  <a:srgbClr val="14191E"/>
                </a:solidFill>
                <a:latin typeface="Segoe UI"/>
              </a:defRPr>
            </a:pPr>
            <a:r>
              <a:t>• SITES AP Credential:</a:t>
            </a:r>
            <a:r>
              <a:rPr b="0">
                <a:solidFill>
                  <a:srgbClr val="14191E"/>
                </a:solidFill>
              </a:rPr>
              <a:t> Integrated into LDAR 248 and 612; certifies expertise in sustainable land development.</a:t>
            </a:r>
          </a:p>
          <a:p>
            <a:pPr>
              <a:lnSpc>
                <a:spcPct val="112000"/>
              </a:lnSpc>
              <a:defRPr sz="919" b="1">
                <a:solidFill>
                  <a:srgbClr val="14191E"/>
                </a:solidFill>
                <a:latin typeface="Segoe UI"/>
              </a:defRPr>
            </a:pPr>
            <a:r>
              <a:t>• ABCD Community Facilitator:</a:t>
            </a:r>
            <a:r>
              <a:rPr b="0">
                <a:solidFill>
                  <a:srgbClr val="14191E"/>
                </a:solidFill>
              </a:rPr>
              <a:t> Integrated into LDAR 448 and 624; trains students in Asset-Based Community Development.</a:t>
            </a:r>
          </a:p>
          <a:p>
            <a:pPr>
              <a:lnSpc>
                <a:spcPct val="112000"/>
              </a:lnSpc>
              <a:defRPr sz="919" b="1">
                <a:solidFill>
                  <a:srgbClr val="14191E"/>
                </a:solidFill>
                <a:latin typeface="Segoe UI"/>
              </a:defRPr>
            </a:pPr>
            <a:r>
              <a:t>• Exam Voucher Program:</a:t>
            </a:r>
            <a:r>
              <a:rPr b="0">
                <a:solidFill>
                  <a:srgbClr val="14191E"/>
                </a:solidFill>
              </a:rPr>
              <a:t> $15,000 allocated to cover 100% of student exam registration fees (45+ certifications funded).</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PERMANENT COMPUTING INFRASTRUCTURE</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GPU Spatial Workstations ($105k):</a:t>
            </a:r>
            <a:r>
              <a:rPr b="0">
                <a:solidFill>
                  <a:srgbClr val="14191E"/>
                </a:solidFill>
              </a:rPr>
              <a:t> 15 high-performance dual-GPU workstations in Carver Hall Studio Lab.</a:t>
            </a:r>
          </a:p>
          <a:p>
            <a:pPr>
              <a:lnSpc>
                <a:spcPct val="112000"/>
              </a:lnSpc>
              <a:defRPr sz="919" b="1">
                <a:solidFill>
                  <a:srgbClr val="14191E"/>
                </a:solidFill>
                <a:latin typeface="Segoe UI"/>
              </a:defRPr>
            </a:pPr>
            <a:r>
              <a:t>• Software Licenses ($30k):</a:t>
            </a:r>
            <a:r>
              <a:rPr b="0">
                <a:solidFill>
                  <a:srgbClr val="14191E"/>
                </a:solidFill>
              </a:rPr>
              <a:t> Multi-year educational licenses for ArcGIS Pro, Agisoft Metashape, Rhino/Grasshopper, and Unreal Engine.</a:t>
            </a:r>
          </a:p>
          <a:p>
            <a:pPr>
              <a:lnSpc>
                <a:spcPct val="112000"/>
              </a:lnSpc>
              <a:defRPr sz="919" b="1">
                <a:solidFill>
                  <a:srgbClr val="14191E"/>
                </a:solidFill>
                <a:latin typeface="Segoe UI"/>
              </a:defRPr>
            </a:pPr>
            <a:r>
              <a:t>• Mobile VR/AR Field Kits ($15k):</a:t>
            </a:r>
            <a:r>
              <a:rPr b="0">
                <a:solidFill>
                  <a:srgbClr val="14191E"/>
                </a:solidFill>
              </a:rPr>
              <a:t> 5 ruggedized field tablets and AR headsets for on-site digital twin visualization at SFRIC.</a:t>
            </a:r>
          </a:p>
          <a:p>
            <a:pPr>
              <a:lnSpc>
                <a:spcPct val="112000"/>
              </a:lnSpc>
              <a:defRPr sz="919" b="1">
                <a:solidFill>
                  <a:srgbClr val="14191E"/>
                </a:solidFill>
                <a:latin typeface="Segoe UI"/>
              </a:defRPr>
            </a:pPr>
            <a:r>
              <a:t>• Long-Term Impact:</a:t>
            </a:r>
            <a:r>
              <a:rPr b="0">
                <a:solidFill>
                  <a:srgbClr val="14191E"/>
                </a:solidFill>
              </a:rPr>
              <a:t> Hardware and software assets remain institutional property, serving 60+ design students annually.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Pillar 2: Research Track ($225,000 • 30.0%)</a:t>
            </a:r>
          </a:p>
          <a:p>
            <a:pPr>
              <a:defRPr sz="1150" b="1">
                <a:solidFill>
                  <a:srgbClr val="B45309"/>
                </a:solidFill>
                <a:latin typeface="Montserrat"/>
              </a:defRPr>
            </a:pPr>
            <a:r>
              <a:t>[Q&amp;A REFERENCE VAULT] Living Forest Testbed, Microclimate Telemetry &amp; High-Value Understory Polycultures</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SFRIC LIVING FOREST TESTBED</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5-Acre Dedicated Site:</a:t>
            </a:r>
            <a:r>
              <a:rPr b="0">
                <a:solidFill>
                  <a:srgbClr val="14191E"/>
                </a:solidFill>
              </a:rPr>
              <a:t> Establishing 100 permanently marked monitoring stations within SFRIC's mature pecan forest.</a:t>
            </a:r>
          </a:p>
          <a:p>
            <a:pPr>
              <a:lnSpc>
                <a:spcPct val="112000"/>
              </a:lnSpc>
              <a:defRPr sz="919" b="1">
                <a:solidFill>
                  <a:srgbClr val="14191E"/>
                </a:solidFill>
                <a:latin typeface="Segoe UI"/>
              </a:defRPr>
            </a:pPr>
            <a:r>
              <a:t>• Sensor Mesh Network:</a:t>
            </a:r>
            <a:r>
              <a:rPr b="0">
                <a:solidFill>
                  <a:srgbClr val="14191E"/>
                </a:solidFill>
              </a:rPr>
              <a:t> Low-power LoRaWAN nodes measuring soil moisture, temperature, PAR (light), and sap flow every 15 minutes.</a:t>
            </a:r>
          </a:p>
          <a:p>
            <a:pPr>
              <a:lnSpc>
                <a:spcPct val="112000"/>
              </a:lnSpc>
              <a:defRPr sz="919" b="1">
                <a:solidFill>
                  <a:srgbClr val="14191E"/>
                </a:solidFill>
                <a:latin typeface="Segoe UI"/>
              </a:defRPr>
            </a:pPr>
            <a:r>
              <a:t>• Multi-Layer Forest Inventory:</a:t>
            </a:r>
            <a:r>
              <a:rPr b="0">
                <a:solidFill>
                  <a:srgbClr val="14191E"/>
                </a:solidFill>
              </a:rPr>
              <a:t> Comprehensive baseline of overstory canopy, understory vegetation, and soil characteristics.</a:t>
            </a:r>
          </a:p>
          <a:p>
            <a:pPr>
              <a:lnSpc>
                <a:spcPct val="112000"/>
              </a:lnSpc>
              <a:defRPr sz="919" b="1">
                <a:solidFill>
                  <a:srgbClr val="14191E"/>
                </a:solidFill>
                <a:latin typeface="Segoe UI"/>
              </a:defRPr>
            </a:pPr>
            <a:r>
              <a:t>• Living Fungal Stations:</a:t>
            </a:r>
            <a:r>
              <a:rPr b="0">
                <a:solidFill>
                  <a:srgbClr val="14191E"/>
                </a:solidFill>
              </a:rPr>
              <a:t> Inoculated log stations and root-zone truffle observation plots distributed across the testbed.</a:t>
            </a:r>
          </a:p>
          <a:p>
            <a:pPr>
              <a:lnSpc>
                <a:spcPct val="112000"/>
              </a:lnSpc>
              <a:defRPr sz="919" b="1">
                <a:solidFill>
                  <a:srgbClr val="14191E"/>
                </a:solidFill>
                <a:latin typeface="Segoe UI"/>
              </a:defRPr>
            </a:pPr>
            <a:r>
              <a:t>• Open Research Testbed:</a:t>
            </a:r>
            <a:r>
              <a:rPr b="0">
                <a:solidFill>
                  <a:srgbClr val="14191E"/>
                </a:solidFill>
              </a:rPr>
              <a:t> Infrastructure designed to support future grant proposals from across the university.</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HIGH-VALUE BIOECONOMY CROPS</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Pecan Truffle Inoculation:</a:t>
            </a:r>
            <a:r>
              <a:rPr b="0">
                <a:solidFill>
                  <a:srgbClr val="14191E"/>
                </a:solidFill>
              </a:rPr>
              <a:t> Evaluating Tuber lyonii colonization on mature Carya illinoinensis root systems under varied soil treatments.</a:t>
            </a:r>
          </a:p>
          <a:p>
            <a:pPr>
              <a:lnSpc>
                <a:spcPct val="112000"/>
              </a:lnSpc>
              <a:defRPr sz="919" b="1">
                <a:solidFill>
                  <a:srgbClr val="14191E"/>
                </a:solidFill>
                <a:latin typeface="Segoe UI"/>
              </a:defRPr>
            </a:pPr>
            <a:r>
              <a:t>• Shade-Tolerant Ginger:</a:t>
            </a:r>
            <a:r>
              <a:rPr b="0">
                <a:solidFill>
                  <a:srgbClr val="14191E"/>
                </a:solidFill>
              </a:rPr>
              <a:t> Assessing Zingiber officinale yield, rhizome quality, and market readiness under varied canopy densities.</a:t>
            </a:r>
          </a:p>
          <a:p>
            <a:pPr>
              <a:lnSpc>
                <a:spcPct val="112000"/>
              </a:lnSpc>
              <a:defRPr sz="919" b="1">
                <a:solidFill>
                  <a:srgbClr val="14191E"/>
                </a:solidFill>
                <a:latin typeface="Segoe UI"/>
              </a:defRPr>
            </a:pPr>
            <a:r>
              <a:t>• Specialty Mushrooms:</a:t>
            </a:r>
            <a:r>
              <a:rPr b="0">
                <a:solidFill>
                  <a:srgbClr val="14191E"/>
                </a:solidFill>
              </a:rPr>
              <a:t> Testing Pleurotus, Shiitake, and Ganoderma production on forestry thinning byproducts.</a:t>
            </a:r>
          </a:p>
          <a:p>
            <a:pPr>
              <a:lnSpc>
                <a:spcPct val="112000"/>
              </a:lnSpc>
              <a:defRPr sz="919" b="1">
                <a:solidFill>
                  <a:srgbClr val="14191E"/>
                </a:solidFill>
                <a:latin typeface="Segoe UI"/>
              </a:defRPr>
            </a:pPr>
            <a:r>
              <a:t>• Economic Viability Modeling:</a:t>
            </a:r>
            <a:r>
              <a:rPr b="0">
                <a:solidFill>
                  <a:srgbClr val="14191E"/>
                </a:solidFill>
              </a:rPr>
              <a:t> Developing enterprise budgets and ROI projections for small-scale agroforestry transitions.</a:t>
            </a:r>
          </a:p>
          <a:p>
            <a:pPr>
              <a:lnSpc>
                <a:spcPct val="112000"/>
              </a:lnSpc>
              <a:defRPr sz="919" b="1">
                <a:solidFill>
                  <a:srgbClr val="14191E"/>
                </a:solidFill>
                <a:latin typeface="Segoe UI"/>
              </a:defRPr>
            </a:pPr>
            <a:r>
              <a:t>• Scientific Rigor:</a:t>
            </a:r>
            <a:r>
              <a:rPr b="0">
                <a:solidFill>
                  <a:srgbClr val="14191E"/>
                </a:solidFill>
              </a:rPr>
              <a:t> Governed by Dr. Omon Isikhuemhen's proven fungal biotechnology protocols.</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AUTONOMOUS SPATIAL SENSING</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Seasonal UAV LiDAR Flights:</a:t>
            </a:r>
            <a:r>
              <a:rPr b="0">
                <a:solidFill>
                  <a:srgbClr val="14191E"/>
                </a:solidFill>
              </a:rPr>
              <a:t> Capturing leaf-on and leaf-off point clouds at sub-centimeter resolution (Dr. Leila Hashemi-Beni).</a:t>
            </a:r>
          </a:p>
          <a:p>
            <a:pPr>
              <a:lnSpc>
                <a:spcPct val="112000"/>
              </a:lnSpc>
              <a:defRPr sz="919" b="1">
                <a:solidFill>
                  <a:srgbClr val="14191E"/>
                </a:solidFill>
                <a:latin typeface="Segoe UI"/>
              </a:defRPr>
            </a:pPr>
            <a:r>
              <a:t>• Understory Robotic Surveys:</a:t>
            </a:r>
            <a:r>
              <a:rPr b="0">
                <a:solidFill>
                  <a:srgbClr val="14191E"/>
                </a:solidFill>
              </a:rPr>
              <a:t> Ground-based photogrammetry and LiDAR to reconstruct 3D branch architecture (Dr. Momtanu Chakraborty).</a:t>
            </a:r>
          </a:p>
          <a:p>
            <a:pPr>
              <a:lnSpc>
                <a:spcPct val="112000"/>
              </a:lnSpc>
              <a:defRPr sz="919" b="1">
                <a:solidFill>
                  <a:srgbClr val="14191E"/>
                </a:solidFill>
                <a:latin typeface="Segoe UI"/>
              </a:defRPr>
            </a:pPr>
            <a:r>
              <a:t>• Digital Twin Synthesis:</a:t>
            </a:r>
            <a:r>
              <a:rPr b="0">
                <a:solidFill>
                  <a:srgbClr val="14191E"/>
                </a:solidFill>
              </a:rPr>
              <a:t> Merging aerial LiDAR and ground sensors into real-time 4D virtual forest models (Dr. Chakraborty &amp; Lead PI).</a:t>
            </a:r>
          </a:p>
          <a:p>
            <a:pPr>
              <a:lnSpc>
                <a:spcPct val="112000"/>
              </a:lnSpc>
              <a:defRPr sz="919" b="1">
                <a:solidFill>
                  <a:srgbClr val="14191E"/>
                </a:solidFill>
                <a:latin typeface="Segoe UI"/>
              </a:defRPr>
            </a:pPr>
            <a:r>
              <a:t>• Automated Pest Detection:</a:t>
            </a:r>
            <a:r>
              <a:rPr b="0">
                <a:solidFill>
                  <a:srgbClr val="14191E"/>
                </a:solidFill>
              </a:rPr>
              <a:t> Computer-vision algorithms flagging stress-induced canopy discolouration (Dr. Hannah Talton &amp; COE).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Pillar 3: Extension Track ($175,000 • 23.3%)</a:t>
            </a:r>
          </a:p>
          <a:p>
            <a:pPr>
              <a:defRPr sz="1150" b="1">
                <a:solidFill>
                  <a:srgbClr val="B45309"/>
                </a:solidFill>
                <a:latin typeface="Montserrat"/>
              </a:defRPr>
            </a:pPr>
            <a:r>
              <a:t>[Q&amp;A REFERENCE VAULT] Mobile Digital Twins, Participatory Charrettes &amp; Small Producer Empowerment</a:t>
            </a:r>
          </a:p>
        </p:txBody>
      </p:sp>
      <p:sp>
        <p:nvSpPr>
          <p:cNvPr id="4" name="Rounded Rectangle 3"/>
          <p:cNvSpPr/>
          <p:nvPr/>
        </p:nvSpPr>
        <p:spPr>
          <a:xfrm>
            <a:off x="7680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33375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MOBILE DIGITAL TWIN APPLICATION</a:t>
            </a:r>
          </a:p>
        </p:txBody>
      </p:sp>
      <p:sp>
        <p:nvSpPr>
          <p:cNvPr id="6" name="TextBox 5"/>
          <p:cNvSpPr txBox="1"/>
          <p:nvPr/>
        </p:nvSpPr>
        <p:spPr>
          <a:xfrm>
            <a:off x="9144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AVA/GeoScope Extension:</a:t>
            </a:r>
            <a:r>
              <a:rPr b="0">
                <a:solidFill>
                  <a:srgbClr val="14191E"/>
                </a:solidFill>
              </a:rPr>
              <a:t> Adapting existing web platforms into a lightweight, mobile-first farm assessment tool for county agents.</a:t>
            </a:r>
          </a:p>
          <a:p>
            <a:pPr>
              <a:lnSpc>
                <a:spcPct val="112000"/>
              </a:lnSpc>
              <a:defRPr sz="919" b="1">
                <a:solidFill>
                  <a:srgbClr val="14191E"/>
                </a:solidFill>
                <a:latin typeface="Segoe UI"/>
              </a:defRPr>
            </a:pPr>
            <a:r>
              <a:t>• Parcel-Level Intelligence:</a:t>
            </a:r>
            <a:r>
              <a:rPr b="0">
                <a:solidFill>
                  <a:srgbClr val="14191E"/>
                </a:solidFill>
              </a:rPr>
              <a:t> One-click lookup combining soils (SSURGO), slope (USGS), floodplains (FEMA), and zoning (local ordinances).</a:t>
            </a:r>
          </a:p>
          <a:p>
            <a:pPr>
              <a:lnSpc>
                <a:spcPct val="112000"/>
              </a:lnSpc>
              <a:defRPr sz="919" b="1">
                <a:solidFill>
                  <a:srgbClr val="14191E"/>
                </a:solidFill>
                <a:latin typeface="Segoe UI"/>
              </a:defRPr>
            </a:pPr>
            <a:r>
              <a:t>• Augmented Reality Visualization:</a:t>
            </a:r>
            <a:r>
              <a:rPr b="0">
                <a:solidFill>
                  <a:srgbClr val="14191E"/>
                </a:solidFill>
              </a:rPr>
              <a:t> Landowners view simulated future canopy growth and understory layouts on their own property.</a:t>
            </a:r>
          </a:p>
          <a:p>
            <a:pPr>
              <a:lnSpc>
                <a:spcPct val="112000"/>
              </a:lnSpc>
              <a:defRPr sz="919" b="1">
                <a:solidFill>
                  <a:srgbClr val="14191E"/>
                </a:solidFill>
                <a:latin typeface="Segoe UI"/>
              </a:defRPr>
            </a:pPr>
            <a:r>
              <a:t>• Offline-Capable:</a:t>
            </a:r>
            <a:r>
              <a:rPr b="0">
                <a:solidFill>
                  <a:srgbClr val="14191E"/>
                </a:solidFill>
              </a:rPr>
              <a:t> Designed to function in rural areas with limited broadband connectivity via cached field packages.</a:t>
            </a:r>
          </a:p>
          <a:p>
            <a:pPr>
              <a:lnSpc>
                <a:spcPct val="112000"/>
              </a:lnSpc>
              <a:defRPr sz="919" b="1">
                <a:solidFill>
                  <a:srgbClr val="14191E"/>
                </a:solidFill>
                <a:latin typeface="Segoe UI"/>
              </a:defRPr>
            </a:pPr>
            <a:r>
              <a:t>• Cost-Free Deployment:</a:t>
            </a:r>
            <a:r>
              <a:rPr b="0">
                <a:solidFill>
                  <a:srgbClr val="14191E"/>
                </a:solidFill>
              </a:rPr>
              <a:t> Open-source software delivered to producers and agents at zero subscription cost.</a:t>
            </a:r>
          </a:p>
        </p:txBody>
      </p:sp>
      <p:sp>
        <p:nvSpPr>
          <p:cNvPr id="7" name="Rounded Rectangle 6"/>
          <p:cNvSpPr/>
          <p:nvPr/>
        </p:nvSpPr>
        <p:spPr>
          <a:xfrm>
            <a:off x="44256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25696" y="2057400"/>
            <a:ext cx="33375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PARTICIPATORY DESIGN CHARRETTES</a:t>
            </a:r>
          </a:p>
        </p:txBody>
      </p:sp>
      <p:sp>
        <p:nvSpPr>
          <p:cNvPr id="9" name="TextBox 8"/>
          <p:cNvSpPr txBox="1"/>
          <p:nvPr/>
        </p:nvSpPr>
        <p:spPr>
          <a:xfrm>
            <a:off x="45720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6 Hands-On Charrettes:</a:t>
            </a:r>
            <a:r>
              <a:rPr b="0">
                <a:solidFill>
                  <a:srgbClr val="14191E"/>
                </a:solidFill>
              </a:rPr>
              <a:t> Hosted at SFRIC, pairing student design teams with local woodland owners and county agents.</a:t>
            </a:r>
          </a:p>
          <a:p>
            <a:pPr>
              <a:lnSpc>
                <a:spcPct val="112000"/>
              </a:lnSpc>
              <a:defRPr sz="919" b="1">
                <a:solidFill>
                  <a:srgbClr val="14191E"/>
                </a:solidFill>
                <a:latin typeface="Segoe UI"/>
              </a:defRPr>
            </a:pPr>
            <a:r>
              <a:t>• Asset-Based Community Co-Design:</a:t>
            </a:r>
            <a:r>
              <a:rPr b="0">
                <a:solidFill>
                  <a:srgbClr val="14191E"/>
                </a:solidFill>
              </a:rPr>
              <a:t> Landowners define their goals (income, conservation, succession); students develop 3D proposals.</a:t>
            </a:r>
          </a:p>
          <a:p>
            <a:pPr>
              <a:lnSpc>
                <a:spcPct val="112000"/>
              </a:lnSpc>
              <a:defRPr sz="919" b="1">
                <a:solidFill>
                  <a:srgbClr val="14191E"/>
                </a:solidFill>
                <a:latin typeface="Segoe UI"/>
              </a:defRPr>
            </a:pPr>
            <a:r>
              <a:t>• Real-World Deliverables:</a:t>
            </a:r>
            <a:r>
              <a:rPr b="0">
                <a:solidFill>
                  <a:srgbClr val="14191E"/>
                </a:solidFill>
              </a:rPr>
              <a:t> Participating landowners receive customized site plans, enterprise budgets, and USDA program roadmaps.</a:t>
            </a:r>
          </a:p>
          <a:p>
            <a:pPr>
              <a:lnSpc>
                <a:spcPct val="112000"/>
              </a:lnSpc>
              <a:defRPr sz="919" b="1">
                <a:solidFill>
                  <a:srgbClr val="14191E"/>
                </a:solidFill>
                <a:latin typeface="Segoe UI"/>
              </a:defRPr>
            </a:pPr>
            <a:r>
              <a:t>• Community Trust Building:</a:t>
            </a:r>
            <a:r>
              <a:rPr b="0">
                <a:solidFill>
                  <a:srgbClr val="14191E"/>
                </a:solidFill>
              </a:rPr>
              <a:t> Deepens NC A&amp;T's relationship with historically underserved and minority landowners.</a:t>
            </a:r>
          </a:p>
          <a:p>
            <a:pPr>
              <a:lnSpc>
                <a:spcPct val="112000"/>
              </a:lnSpc>
              <a:defRPr sz="919" b="1">
                <a:solidFill>
                  <a:srgbClr val="14191E"/>
                </a:solidFill>
                <a:latin typeface="Segoe UI"/>
              </a:defRPr>
            </a:pPr>
            <a:r>
              <a:t>• Student Impact:</a:t>
            </a:r>
            <a:r>
              <a:rPr b="0">
                <a:solidFill>
                  <a:srgbClr val="14191E"/>
                </a:solidFill>
              </a:rPr>
              <a:t> Students gain invaluable client-facing experience before entering the professional workforce.</a:t>
            </a:r>
          </a:p>
        </p:txBody>
      </p:sp>
      <p:sp>
        <p:nvSpPr>
          <p:cNvPr id="10" name="Rounded Rectangle 9"/>
          <p:cNvSpPr/>
          <p:nvPr/>
        </p:nvSpPr>
        <p:spPr>
          <a:xfrm>
            <a:off x="8083296" y="2057400"/>
            <a:ext cx="33375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083296" y="2057400"/>
            <a:ext cx="3337560" cy="384048"/>
          </a:xfrm>
          <a:prstGeom prst="roundRect">
            <a:avLst/>
          </a:prstGeom>
          <a:solidFill>
            <a:srgbClr val="FDB927"/>
          </a:solidFill>
          <a:ln>
            <a:solidFill>
              <a:srgbClr val="FDB9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001F3F"/>
                </a:solidFill>
                <a:latin typeface="Montserrat"/>
              </a:defRPr>
            </a:pPr>
            <a:r>
              <a:t>STATEWIDE PRODUCER OUTREACH</a:t>
            </a:r>
          </a:p>
        </p:txBody>
      </p:sp>
      <p:sp>
        <p:nvSpPr>
          <p:cNvPr id="12" name="TextBox 11"/>
          <p:cNvSpPr txBox="1"/>
          <p:nvPr/>
        </p:nvSpPr>
        <p:spPr>
          <a:xfrm>
            <a:off x="8229600" y="2514600"/>
            <a:ext cx="30449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1,200+ Producers Engaged:</a:t>
            </a:r>
            <a:r>
              <a:rPr b="0">
                <a:solidFill>
                  <a:srgbClr val="14191E"/>
                </a:solidFill>
              </a:rPr>
              <a:t> Reaching small, limited-resource, and socially disadvantaged farmers across North Carolina.</a:t>
            </a:r>
          </a:p>
          <a:p>
            <a:pPr>
              <a:lnSpc>
                <a:spcPct val="112000"/>
              </a:lnSpc>
              <a:defRPr sz="919" b="1">
                <a:solidFill>
                  <a:srgbClr val="14191E"/>
                </a:solidFill>
                <a:latin typeface="Segoe UI"/>
              </a:defRPr>
            </a:pPr>
            <a:r>
              <a:t>• 10 County Extension Network:</a:t>
            </a:r>
            <a:r>
              <a:rPr b="0">
                <a:solidFill>
                  <a:srgbClr val="14191E"/>
                </a:solidFill>
              </a:rPr>
              <a:t> Training extension agents in spatial agroforestry tools and enterprise budgets.</a:t>
            </a:r>
          </a:p>
          <a:p>
            <a:pPr>
              <a:lnSpc>
                <a:spcPct val="112000"/>
              </a:lnSpc>
              <a:defRPr sz="919" b="1">
                <a:solidFill>
                  <a:srgbClr val="14191E"/>
                </a:solidFill>
                <a:latin typeface="Segoe UI"/>
              </a:defRPr>
            </a:pPr>
            <a:r>
              <a:t>• 6 Grower SOP Bulletins:</a:t>
            </a:r>
            <a:r>
              <a:rPr b="0">
                <a:solidFill>
                  <a:srgbClr val="14191E"/>
                </a:solidFill>
              </a:rPr>
              <a:t> Plain-language guides on truffle inoculation, shade ginger cultivation, and USDA EQIP access.</a:t>
            </a:r>
          </a:p>
          <a:p>
            <a:pPr>
              <a:lnSpc>
                <a:spcPct val="112000"/>
              </a:lnSpc>
              <a:defRPr sz="919" b="1">
                <a:solidFill>
                  <a:srgbClr val="14191E"/>
                </a:solidFill>
                <a:latin typeface="Segoe UI"/>
              </a:defRPr>
            </a:pPr>
            <a:r>
              <a:t>• Annual Agroforestry Field Days:</a:t>
            </a:r>
            <a:r>
              <a:rPr b="0">
                <a:solidFill>
                  <a:srgbClr val="14191E"/>
                </a:solidFill>
              </a:rPr>
              <a:t> Live demonstration events showcasing research plots and robotic equipment at SFRIC.</a:t>
            </a:r>
          </a:p>
          <a:p>
            <a:pPr>
              <a:lnSpc>
                <a:spcPct val="112000"/>
              </a:lnSpc>
              <a:defRPr sz="919" b="1">
                <a:solidFill>
                  <a:srgbClr val="14191E"/>
                </a:solidFill>
                <a:latin typeface="Segoe UI"/>
              </a:defRPr>
            </a:pPr>
            <a:r>
              <a:t>• Charlie Hopper Leadership:</a:t>
            </a:r>
            <a:r>
              <a:rPr b="0">
                <a:solidFill>
                  <a:srgbClr val="14191E"/>
                </a:solidFill>
              </a:rPr>
              <a:t> SFRIC serves as the welcoming regional demonstration hub for all extension activities.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Scientific Rigor: Dr. Omon Research Mandate</a:t>
            </a:r>
          </a:p>
          <a:p>
            <a:pPr>
              <a:defRPr sz="1150" b="1">
                <a:solidFill>
                  <a:srgbClr val="B45309"/>
                </a:solidFill>
                <a:latin typeface="Montserrat"/>
              </a:defRPr>
            </a:pPr>
            <a:r>
              <a:t>[Q&amp;A REFERENCE VAULT] World-Class Biological Standards, Controlled Replications &amp; Peer-Reviewed Publishing</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BIOLOGICAL VALIDATION &amp; QUALITY ASSURANCE</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Dr. Omon's Gold Standard:</a:t>
            </a:r>
            <a:r>
              <a:rPr b="0">
                <a:solidFill>
                  <a:srgbClr val="14191E"/>
                </a:solidFill>
              </a:rPr>
              <a:t> Research protocols must adhere to the highest international standards of fungal biology and agronomy.</a:t>
            </a:r>
          </a:p>
          <a:p>
            <a:pPr>
              <a:lnSpc>
                <a:spcPct val="112000"/>
              </a:lnSpc>
              <a:defRPr sz="919" b="1">
                <a:solidFill>
                  <a:srgbClr val="14191E"/>
                </a:solidFill>
                <a:latin typeface="Segoe UI"/>
              </a:defRPr>
            </a:pPr>
            <a:r>
              <a:t>• Controlled Inoculation Replications:</a:t>
            </a:r>
            <a:r>
              <a:rPr b="0">
                <a:solidFill>
                  <a:srgbClr val="14191E"/>
                </a:solidFill>
              </a:rPr>
              <a:t> 4 randomized blocks × 25 monitoring stations = 100 statistically robust data points.</a:t>
            </a:r>
          </a:p>
          <a:p>
            <a:pPr>
              <a:lnSpc>
                <a:spcPct val="112000"/>
              </a:lnSpc>
              <a:defRPr sz="919" b="1">
                <a:solidFill>
                  <a:srgbClr val="14191E"/>
                </a:solidFill>
                <a:latin typeface="Segoe UI"/>
              </a:defRPr>
            </a:pPr>
            <a:r>
              <a:t>• Sterile Lab Protocols:</a:t>
            </a:r>
            <a:r>
              <a:rPr b="0">
                <a:solidFill>
                  <a:srgbClr val="14191E"/>
                </a:solidFill>
              </a:rPr>
              <a:t> Mycelial cultures and spore slurries prepared under laminar flow conditions in Carver Hall mycology labs.</a:t>
            </a:r>
          </a:p>
          <a:p>
            <a:pPr>
              <a:lnSpc>
                <a:spcPct val="112000"/>
              </a:lnSpc>
              <a:defRPr sz="919" b="1">
                <a:solidFill>
                  <a:srgbClr val="14191E"/>
                </a:solidFill>
                <a:latin typeface="Segoe UI"/>
              </a:defRPr>
            </a:pPr>
            <a:r>
              <a:t>• DNA Barcoding Verification:</a:t>
            </a:r>
            <a:r>
              <a:rPr b="0">
                <a:solidFill>
                  <a:srgbClr val="14191E"/>
                </a:solidFill>
              </a:rPr>
              <a:t> PCR amplification and ITS sequencing to verify truffle mycorrhization on root tips.</a:t>
            </a:r>
          </a:p>
          <a:p>
            <a:pPr>
              <a:lnSpc>
                <a:spcPct val="112000"/>
              </a:lnSpc>
              <a:defRPr sz="919" b="1">
                <a:solidFill>
                  <a:srgbClr val="14191E"/>
                </a:solidFill>
                <a:latin typeface="Segoe UI"/>
              </a:defRPr>
            </a:pPr>
            <a:r>
              <a:t>• Senior Mentorship:</a:t>
            </a:r>
            <a:r>
              <a:rPr b="0">
                <a:solidFill>
                  <a:srgbClr val="14191E"/>
                </a:solidFill>
              </a:rPr>
              <a:t> Dr. Omon directly mentors junior faculty (Dr. Anike, Dr. Chakraborty) on experimental design and grant compliance.</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1B5E20"/>
          </a:solidFill>
          <a:ln>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HIGH-IMPACT SCHOLARLY SUITE (5 TARGET PAPERS)</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12000"/>
              </a:lnSpc>
              <a:defRPr sz="919" b="1">
                <a:solidFill>
                  <a:srgbClr val="14191E"/>
                </a:solidFill>
                <a:latin typeface="Segoe UI"/>
              </a:defRPr>
            </a:pPr>
            <a:r>
              <a:t>• Paper 1 (Teaching):</a:t>
            </a:r>
            <a:r>
              <a:rPr b="0">
                <a:solidFill>
                  <a:srgbClr val="14191E"/>
                </a:solidFill>
              </a:rPr>
              <a:t> CELA Landscape Research Record (LRR) — 4+1 MLA curriculum scaffolding and credential integration.</a:t>
            </a:r>
          </a:p>
          <a:p>
            <a:pPr>
              <a:lnSpc>
                <a:spcPct val="112000"/>
              </a:lnSpc>
              <a:defRPr sz="919" b="1">
                <a:solidFill>
                  <a:srgbClr val="14191E"/>
                </a:solidFill>
                <a:latin typeface="Segoe UI"/>
              </a:defRPr>
            </a:pPr>
            <a:r>
              <a:t>• Paper 2 (Engineering):</a:t>
            </a:r>
            <a:r>
              <a:rPr b="0">
                <a:solidFill>
                  <a:srgbClr val="14191E"/>
                </a:solidFill>
              </a:rPr>
              <a:t> Computers and Electronics in Agriculture (Elsevier, IF 8.3) — 4D digital twin framework.</a:t>
            </a:r>
          </a:p>
          <a:p>
            <a:pPr>
              <a:lnSpc>
                <a:spcPct val="112000"/>
              </a:lnSpc>
              <a:defRPr sz="919" b="1">
                <a:solidFill>
                  <a:srgbClr val="14191E"/>
                </a:solidFill>
                <a:latin typeface="Segoe UI"/>
              </a:defRPr>
            </a:pPr>
            <a:r>
              <a:t>• Paper 3 (Research):</a:t>
            </a:r>
            <a:r>
              <a:rPr b="0">
                <a:solidFill>
                  <a:srgbClr val="14191E"/>
                </a:solidFill>
              </a:rPr>
              <a:t> Agroforestry Systems (Springer, IF 2.8) — Pecan truffle inoculation and understory ginger polycultures.</a:t>
            </a:r>
          </a:p>
          <a:p>
            <a:pPr>
              <a:lnSpc>
                <a:spcPct val="112000"/>
              </a:lnSpc>
              <a:defRPr sz="919" b="1">
                <a:solidFill>
                  <a:srgbClr val="14191E"/>
                </a:solidFill>
                <a:latin typeface="Segoe UI"/>
              </a:defRPr>
            </a:pPr>
            <a:r>
              <a:t>• Paper 4 (Remote Sensing):</a:t>
            </a:r>
            <a:r>
              <a:rPr b="0">
                <a:solidFill>
                  <a:srgbClr val="14191E"/>
                </a:solidFill>
              </a:rPr>
              <a:t> IEEE JSTARS / Remote Sensing (IF 4.2–5.0) — Seasonal UAV LiDAR point cloud processing.</a:t>
            </a:r>
          </a:p>
          <a:p>
            <a:pPr>
              <a:lnSpc>
                <a:spcPct val="112000"/>
              </a:lnSpc>
              <a:defRPr sz="919" b="1">
                <a:solidFill>
                  <a:srgbClr val="14191E"/>
                </a:solidFill>
                <a:latin typeface="Segoe UI"/>
              </a:defRPr>
            </a:pPr>
            <a:r>
              <a:t>• Paper 5 (Extension):</a:t>
            </a:r>
            <a:r>
              <a:rPr b="0">
                <a:solidFill>
                  <a:srgbClr val="14191E"/>
                </a:solidFill>
              </a:rPr>
              <a:t> Journal of Extension (JOX) — Participatory design charrettes and mobile digital twin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USDA NIFA CBG Official 5-Column Logic Model</a:t>
            </a:r>
          </a:p>
          <a:p>
            <a:pPr>
              <a:defRPr sz="1150" b="1">
                <a:solidFill>
                  <a:srgbClr val="B45309"/>
                </a:solidFill>
                <a:latin typeface="Montserrat"/>
              </a:defRPr>
            </a:pPr>
            <a:r>
              <a:t>[Q&amp;A REFERENCE VAULT] Figure 2: Comprehensive Alignment Across Inputs, Activities, Outputs, Outcomes, and Impacts</a:t>
            </a:r>
          </a:p>
        </p:txBody>
      </p:sp>
      <p:sp>
        <p:nvSpPr>
          <p:cNvPr id="4" name="Rounded Rectangle 3"/>
          <p:cNvSpPr/>
          <p:nvPr/>
        </p:nvSpPr>
        <p:spPr>
          <a:xfrm>
            <a:off x="768096" y="2057400"/>
            <a:ext cx="1065276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10652760" cy="402336"/>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OFFICIAL USDA NIFA 5-COLUMN LOGIC MODEL</a:t>
            </a:r>
          </a:p>
        </p:txBody>
      </p:sp>
      <p:pic>
        <p:nvPicPr>
          <p:cNvPr id="6" name="Picture 5" descr="graphic_silva_logic_model.png"/>
          <p:cNvPicPr>
            <a:picLocks noChangeAspect="1"/>
          </p:cNvPicPr>
          <p:nvPr/>
        </p:nvPicPr>
        <p:blipFill>
          <a:blip r:embed="rId2"/>
          <a:stretch>
            <a:fillRect/>
          </a:stretch>
        </p:blipFill>
        <p:spPr>
          <a:xfrm>
            <a:off x="1746788" y="2496312"/>
            <a:ext cx="8695374" cy="3694175"/>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Comprehensive $750,000 Budget: Line-Item Ledger</a:t>
            </a:r>
          </a:p>
          <a:p>
            <a:pPr>
              <a:defRPr sz="1150" b="1">
                <a:solidFill>
                  <a:srgbClr val="B45309"/>
                </a:solidFill>
                <a:latin typeface="Montserrat"/>
              </a:defRPr>
            </a:pPr>
            <a:r>
              <a:t>[Q&amp;A REFERENCE VAULT] Detailed Budget Categories, Multi-Year Allocations &amp; Cost-Efficiency Analysis</a:t>
            </a:r>
          </a:p>
        </p:txBody>
      </p:sp>
      <p:sp>
        <p:nvSpPr>
          <p:cNvPr id="4" name="Rounded Rectangle 3"/>
          <p:cNvSpPr/>
          <p:nvPr/>
        </p:nvSpPr>
        <p:spPr>
          <a:xfrm>
            <a:off x="7680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166360" cy="384048"/>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LINE-ITEM BUDGET LEDGER SUMMARY</a:t>
            </a:r>
          </a:p>
        </p:txBody>
      </p:sp>
      <p:sp>
        <p:nvSpPr>
          <p:cNvPr id="6" name="TextBox 5"/>
          <p:cNvSpPr txBox="1"/>
          <p:nvPr/>
        </p:nvSpPr>
        <p:spPr>
          <a:xfrm>
            <a:off x="914400" y="2514600"/>
            <a:ext cx="4873752" cy="3054096"/>
          </a:xfrm>
          <a:prstGeom prst="rect">
            <a:avLst/>
          </a:prstGeom>
          <a:noFill/>
        </p:spPr>
        <p:txBody>
          <a:bodyPr wrap="square" lIns="0" tIns="0" rIns="0" bIns="0">
            <a:spAutoFit/>
          </a:bodyPr>
          <a:lstStyle/>
          <a:p>
            <a:pPr>
              <a:lnSpc>
                <a:spcPct val="104000"/>
              </a:lnSpc>
              <a:defRPr sz="800" b="1">
                <a:solidFill>
                  <a:srgbClr val="14191E"/>
                </a:solidFill>
                <a:latin typeface="Segoe UI"/>
              </a:defRPr>
            </a:pPr>
            <a:r>
              <a:t>• Faculty Salaries (32% • $240,000):</a:t>
            </a:r>
            <a:r>
              <a:rPr b="0">
                <a:solidFill>
                  <a:srgbClr val="14191E"/>
                </a:solidFill>
              </a:rPr>
              <a:t> 9 investigators across 3 colleges; 0.50–0.75 summer mo/yr; zero academic year overload.</a:t>
            </a:r>
          </a:p>
          <a:p>
            <a:pPr>
              <a:lnSpc>
                <a:spcPct val="104000"/>
              </a:lnSpc>
              <a:defRPr sz="800" b="1">
                <a:solidFill>
                  <a:srgbClr val="14191E"/>
                </a:solidFill>
                <a:latin typeface="Segoe UI"/>
              </a:defRPr>
            </a:pPr>
            <a:r>
              <a:t>• Post-Doctoral Researcher ($180,000):</a:t>
            </a:r>
            <a:r>
              <a:rPr b="0">
                <a:solidFill>
                  <a:srgbClr val="14191E"/>
                </a:solidFill>
              </a:rPr>
              <a:t> Full-time post-doc ($60k/yr × 3 yrs) managing day-to-day experimental trials and sensor calibration.</a:t>
            </a:r>
          </a:p>
          <a:p>
            <a:pPr>
              <a:lnSpc>
                <a:spcPct val="104000"/>
              </a:lnSpc>
              <a:defRPr sz="800" b="1">
                <a:solidFill>
                  <a:srgbClr val="14191E"/>
                </a:solidFill>
                <a:latin typeface="Segoe UI"/>
              </a:defRPr>
            </a:pPr>
            <a:r>
              <a:t>• Graduate Research Assistants ($150,000):</a:t>
            </a:r>
            <a:r>
              <a:rPr b="0">
                <a:solidFill>
                  <a:srgbClr val="14191E"/>
                </a:solidFill>
              </a:rPr>
              <a:t> 2 full GRAs ($25k/yr each × 3 yrs) in Mycology and Computational Data Science.</a:t>
            </a:r>
          </a:p>
          <a:p>
            <a:pPr>
              <a:lnSpc>
                <a:spcPct val="104000"/>
              </a:lnSpc>
              <a:defRPr sz="800" b="1">
                <a:solidFill>
                  <a:srgbClr val="14191E"/>
                </a:solidFill>
                <a:latin typeface="Segoe UI"/>
              </a:defRPr>
            </a:pPr>
            <a:r>
              <a:t>• Undergraduate Student Labor ($35,000):</a:t>
            </a:r>
            <a:r>
              <a:rPr b="0">
                <a:solidFill>
                  <a:srgbClr val="14191E"/>
                </a:solidFill>
              </a:rPr>
              <a:t> 4 undergraduate assistants ($15/hr) supporting studio computing and field charrettes.</a:t>
            </a:r>
          </a:p>
          <a:p>
            <a:pPr>
              <a:lnSpc>
                <a:spcPct val="104000"/>
              </a:lnSpc>
              <a:defRPr sz="800" b="1">
                <a:solidFill>
                  <a:srgbClr val="14191E"/>
                </a:solidFill>
                <a:latin typeface="Segoe UI"/>
              </a:defRPr>
            </a:pPr>
            <a:r>
              <a:t>• Capital Equipment ($105,000):</a:t>
            </a:r>
            <a:r>
              <a:rPr b="0">
                <a:solidFill>
                  <a:srgbClr val="14191E"/>
                </a:solidFill>
              </a:rPr>
              <a:t> 15 GPU spatial workstations for Carver Hall Studio Lab and central computing nodes.</a:t>
            </a:r>
          </a:p>
          <a:p>
            <a:pPr>
              <a:lnSpc>
                <a:spcPct val="104000"/>
              </a:lnSpc>
              <a:defRPr sz="800" b="1">
                <a:solidFill>
                  <a:srgbClr val="14191E"/>
                </a:solidFill>
                <a:latin typeface="Segoe UI"/>
              </a:defRPr>
            </a:pPr>
            <a:r>
              <a:t>• Field Telemetry &amp; Sensing ($65,000):</a:t>
            </a:r>
            <a:r>
              <a:rPr b="0">
                <a:solidFill>
                  <a:srgbClr val="14191E"/>
                </a:solidFill>
              </a:rPr>
              <a:t> Multispectral UAV sensors, quadruped robotic payload, and 100 living forest stations.</a:t>
            </a:r>
          </a:p>
          <a:p>
            <a:pPr>
              <a:lnSpc>
                <a:spcPct val="104000"/>
              </a:lnSpc>
              <a:defRPr sz="800" b="1">
                <a:solidFill>
                  <a:srgbClr val="14191E"/>
                </a:solidFill>
                <a:latin typeface="Segoe UI"/>
              </a:defRPr>
            </a:pPr>
            <a:r>
              <a:t>• Student Credentials &amp; Indirect Costs ($140,000):</a:t>
            </a:r>
            <a:r>
              <a:rPr b="0">
                <a:solidFill>
                  <a:srgbClr val="14191E"/>
                </a:solidFill>
              </a:rPr>
              <a:t> $15,000 for 45+ student exam vouchers + $125,000 in statutory university indirect cost (F&amp;A) recovery to NC A&amp;T DOR and CAES.</a:t>
            </a:r>
          </a:p>
          <a:p>
            <a:pPr>
              <a:lnSpc>
                <a:spcPct val="104000"/>
              </a:lnSpc>
              <a:defRPr sz="800" b="1">
                <a:solidFill>
                  <a:srgbClr val="14191E"/>
                </a:solidFill>
                <a:latin typeface="Segoe UI"/>
              </a:defRPr>
            </a:pPr>
            <a:r>
              <a:t>• Travel &amp; Dissemination ($30,000):</a:t>
            </a:r>
            <a:r>
              <a:rPr b="0">
                <a:solidFill>
                  <a:srgbClr val="14191E"/>
                </a:solidFill>
              </a:rPr>
              <a:t> CELA, ASLA, and USDA project directors meetings; regional extension field charrettes.</a:t>
            </a:r>
          </a:p>
        </p:txBody>
      </p:sp>
      <p:sp>
        <p:nvSpPr>
          <p:cNvPr id="7" name="Rounded Rectangle 6"/>
          <p:cNvSpPr/>
          <p:nvPr/>
        </p:nvSpPr>
        <p:spPr>
          <a:xfrm>
            <a:off x="6254496" y="2057400"/>
            <a:ext cx="5166360" cy="356616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54496" y="2057400"/>
            <a:ext cx="51663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AUDIT-READY COST EFFICIENCY</a:t>
            </a:r>
          </a:p>
        </p:txBody>
      </p:sp>
      <p:sp>
        <p:nvSpPr>
          <p:cNvPr id="9" name="TextBox 8"/>
          <p:cNvSpPr txBox="1"/>
          <p:nvPr/>
        </p:nvSpPr>
        <p:spPr>
          <a:xfrm>
            <a:off x="6400800" y="2514600"/>
            <a:ext cx="4873752" cy="3054096"/>
          </a:xfrm>
          <a:prstGeom prst="rect">
            <a:avLst/>
          </a:prstGeom>
          <a:noFill/>
        </p:spPr>
        <p:txBody>
          <a:bodyPr wrap="square" lIns="0" tIns="0" rIns="0" bIns="0">
            <a:spAutoFit/>
          </a:bodyPr>
          <a:lstStyle/>
          <a:p>
            <a:pPr>
              <a:lnSpc>
                <a:spcPct val="105000"/>
              </a:lnSpc>
              <a:defRPr sz="800" b="1">
                <a:solidFill>
                  <a:srgbClr val="14191E"/>
                </a:solidFill>
                <a:latin typeface="Segoe UI"/>
              </a:defRPr>
            </a:pPr>
            <a:r>
              <a:t>• Full Negotiated Indirect Recovery:</a:t>
            </a:r>
            <a:r>
              <a:rPr b="0">
                <a:solidFill>
                  <a:srgbClr val="14191E"/>
                </a:solidFill>
              </a:rPr>
              <a:t> Applies NC A&amp;T's federally negotiated ~45% MTDC rate (with capital equipment and student tuition exempt), yielding ~$125k in overhead for university and college research infrastructure.</a:t>
            </a:r>
          </a:p>
          <a:p>
            <a:pPr>
              <a:lnSpc>
                <a:spcPct val="105000"/>
              </a:lnSpc>
              <a:defRPr sz="800" b="1">
                <a:solidFill>
                  <a:srgbClr val="14191E"/>
                </a:solidFill>
                <a:latin typeface="Segoe UI"/>
              </a:defRPr>
            </a:pPr>
            <a:r>
              <a:t>• Maximum Student &amp; Infrastructure Investment:</a:t>
            </a:r>
            <a:r>
              <a:rPr b="0">
                <a:solidFill>
                  <a:srgbClr val="14191E"/>
                </a:solidFill>
              </a:rPr>
              <a:t> Over 68% of the entire grant budget flows directly into students, computing, field assets, and university F&amp;A.</a:t>
            </a:r>
          </a:p>
          <a:p>
            <a:pPr>
              <a:lnSpc>
                <a:spcPct val="105000"/>
              </a:lnSpc>
              <a:defRPr sz="800" b="1">
                <a:solidFill>
                  <a:srgbClr val="14191E"/>
                </a:solidFill>
                <a:latin typeface="Segoe UI"/>
              </a:defRPr>
            </a:pPr>
            <a:r>
              <a:t>• Lean Administrative Overhead:</a:t>
            </a:r>
            <a:r>
              <a:rPr b="0">
                <a:solidFill>
                  <a:srgbClr val="14191E"/>
                </a:solidFill>
              </a:rPr>
              <a:t> Dr. Omon Isikhuemhen ($0 salary advisory role) and Charlie Hopper ($0 salary institutional cost-share).</a:t>
            </a:r>
          </a:p>
          <a:p>
            <a:pPr>
              <a:lnSpc>
                <a:spcPct val="105000"/>
              </a:lnSpc>
              <a:defRPr sz="800" b="1">
                <a:solidFill>
                  <a:srgbClr val="14191E"/>
                </a:solidFill>
                <a:latin typeface="Segoe UI"/>
              </a:defRPr>
            </a:pPr>
            <a:r>
              <a:t>• No Redundant Supplies:</a:t>
            </a:r>
            <a:r>
              <a:rPr b="0">
                <a:solidFill>
                  <a:srgbClr val="14191E"/>
                </a:solidFill>
              </a:rPr>
              <a:t> Consumable laboratory supplies are minimized; spending focuses on permanent reusable field hardware.</a:t>
            </a:r>
          </a:p>
          <a:p>
            <a:pPr>
              <a:lnSpc>
                <a:spcPct val="105000"/>
              </a:lnSpc>
              <a:defRPr sz="800" b="1">
                <a:solidFill>
                  <a:srgbClr val="14191E"/>
                </a:solidFill>
                <a:latin typeface="Segoe UI"/>
              </a:defRPr>
            </a:pPr>
            <a:r>
              <a:t>• Pre-Award Routing Compliance:</a:t>
            </a:r>
            <a:r>
              <a:rPr b="0">
                <a:solidFill>
                  <a:srgbClr val="14191E"/>
                </a:solidFill>
              </a:rPr>
              <a:t> Aligns fully with NC A&amp;T Division of Research (DOR) fringe benefit and indirect cost structures.</a:t>
            </a:r>
          </a:p>
          <a:p>
            <a:pPr>
              <a:lnSpc>
                <a:spcPct val="105000"/>
              </a:lnSpc>
              <a:defRPr sz="800" b="1">
                <a:solidFill>
                  <a:srgbClr val="14191E"/>
                </a:solidFill>
                <a:latin typeface="Segoe UI"/>
              </a:defRPr>
            </a:pPr>
            <a:r>
              <a:t>• Multi-Year Scalability:</a:t>
            </a:r>
            <a:r>
              <a:rPr b="0">
                <a:solidFill>
                  <a:srgbClr val="14191E"/>
                </a:solidFill>
              </a:rPr>
              <a:t> Equipment purchased in Year 1 serves students and researchers across Years 2, 3, and for a decade beyond.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Closing the Digital Divide: Mobile Digital Twins in the Field</a:t>
            </a:r>
          </a:p>
          <a:p>
            <a:pPr>
              <a:defRPr sz="1150" b="1">
                <a:solidFill>
                  <a:srgbClr val="B45309"/>
                </a:solidFill>
                <a:latin typeface="Montserrat"/>
              </a:defRPr>
            </a:pPr>
            <a:r>
              <a:t>[Q&amp;A REFERENCE VAULT] Translating Advanced Remote Sensing into Intuitive Smartphone Tools for Underserved Farmers</a:t>
            </a:r>
          </a:p>
        </p:txBody>
      </p:sp>
      <p:sp>
        <p:nvSpPr>
          <p:cNvPr id="4" name="Rounded Rectangle 3"/>
          <p:cNvSpPr/>
          <p:nvPr/>
        </p:nvSpPr>
        <p:spPr>
          <a:xfrm>
            <a:off x="768096" y="2057400"/>
            <a:ext cx="5669280"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566928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MOBILE DIGITAL TWIN IN PRODUCER HANDS</a:t>
            </a:r>
          </a:p>
        </p:txBody>
      </p:sp>
      <p:pic>
        <p:nvPicPr>
          <p:cNvPr id="6" name="Picture 5" descr="photo_black_farmer_digital_twin.jpg"/>
          <p:cNvPicPr>
            <a:picLocks noChangeAspect="1"/>
          </p:cNvPicPr>
          <p:nvPr/>
        </p:nvPicPr>
        <p:blipFill>
          <a:blip r:embed="rId2"/>
          <a:stretch>
            <a:fillRect/>
          </a:stretch>
        </p:blipFill>
        <p:spPr>
          <a:xfrm>
            <a:off x="950976" y="2532888"/>
            <a:ext cx="5303520" cy="2980944"/>
          </a:xfrm>
          <a:prstGeom prst="rect">
            <a:avLst/>
          </a:prstGeom>
        </p:spPr>
      </p:pic>
      <p:sp>
        <p:nvSpPr>
          <p:cNvPr id="7" name="TextBox 6"/>
          <p:cNvSpPr txBox="1"/>
          <p:nvPr/>
        </p:nvSpPr>
        <p:spPr>
          <a:xfrm>
            <a:off x="950976" y="5586983"/>
            <a:ext cx="5303520" cy="292608"/>
          </a:xfrm>
          <a:prstGeom prst="rect">
            <a:avLst/>
          </a:prstGeom>
          <a:noFill/>
        </p:spPr>
        <p:txBody>
          <a:bodyPr wrap="square" lIns="0" tIns="0" rIns="0" bIns="0">
            <a:spAutoFit/>
          </a:bodyPr>
          <a:lstStyle/>
          <a:p>
            <a:pPr algn="ctr">
              <a:defRPr sz="880" i="1">
                <a:solidFill>
                  <a:srgbClr val="5A646E"/>
                </a:solidFill>
                <a:latin typeface="Segoe UI"/>
              </a:defRPr>
            </a:pPr>
            <a:r>
              <a:t>Figure 5A: Landowner Reviewing Real-Time 3D Digital Twin Parcel Analysis on a Field Tablet at SFRIC</a:t>
            </a:r>
          </a:p>
        </p:txBody>
      </p:sp>
      <p:sp>
        <p:nvSpPr>
          <p:cNvPr id="8" name="Rounded Rectangle 7"/>
          <p:cNvSpPr/>
          <p:nvPr/>
        </p:nvSpPr>
        <p:spPr>
          <a:xfrm>
            <a:off x="6574536" y="2057400"/>
            <a:ext cx="484632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74536" y="2057400"/>
            <a:ext cx="484632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CLOSING THE DIGITAL FORESTRY DIVIDE</a:t>
            </a:r>
          </a:p>
        </p:txBody>
      </p:sp>
      <p:sp>
        <p:nvSpPr>
          <p:cNvPr id="10" name="TextBox 9"/>
          <p:cNvSpPr txBox="1"/>
          <p:nvPr/>
        </p:nvSpPr>
        <p:spPr>
          <a:xfrm>
            <a:off x="6720840" y="2514600"/>
            <a:ext cx="4553712" cy="3694175"/>
          </a:xfrm>
          <a:prstGeom prst="rect">
            <a:avLst/>
          </a:prstGeom>
          <a:noFill/>
        </p:spPr>
        <p:txBody>
          <a:bodyPr wrap="square" lIns="0" tIns="0" rIns="0" bIns="0">
            <a:spAutoFit/>
          </a:bodyPr>
          <a:lstStyle/>
          <a:p>
            <a:pPr>
              <a:lnSpc>
                <a:spcPct val="110000"/>
              </a:lnSpc>
              <a:defRPr sz="860" b="1">
                <a:solidFill>
                  <a:srgbClr val="14191E"/>
                </a:solidFill>
                <a:latin typeface="Segoe UI"/>
              </a:defRPr>
            </a:pPr>
            <a:r>
              <a:t>• Democratizing Spatial AI:</a:t>
            </a:r>
            <a:r>
              <a:rPr b="0">
                <a:solidFill>
                  <a:srgbClr val="14191E"/>
                </a:solidFill>
              </a:rPr>
              <a:t> Puts cutting-edge digital twin technology directly into the hands of minority and small-scale landowners.</a:t>
            </a:r>
          </a:p>
          <a:p>
            <a:pPr>
              <a:lnSpc>
                <a:spcPct val="110000"/>
              </a:lnSpc>
              <a:defRPr sz="860" b="1">
                <a:solidFill>
                  <a:srgbClr val="14191E"/>
                </a:solidFill>
                <a:latin typeface="Segoe UI"/>
              </a:defRPr>
            </a:pPr>
            <a:r>
              <a:t>• Zero-Install Web Platform:</a:t>
            </a:r>
            <a:r>
              <a:rPr b="0">
                <a:solidFill>
                  <a:srgbClr val="14191E"/>
                </a:solidFill>
              </a:rPr>
              <a:t> Built on lightweight web standards—runs smoothly on standard iPhones, Androids, and tablets.</a:t>
            </a:r>
          </a:p>
          <a:p>
            <a:pPr>
              <a:lnSpc>
                <a:spcPct val="110000"/>
              </a:lnSpc>
              <a:defRPr sz="860" b="1">
                <a:solidFill>
                  <a:srgbClr val="14191E"/>
                </a:solidFill>
                <a:latin typeface="Segoe UI"/>
              </a:defRPr>
            </a:pPr>
            <a:r>
              <a:t>• One-Click Site Diagnostics:</a:t>
            </a:r>
            <a:r>
              <a:rPr b="0">
                <a:solidFill>
                  <a:srgbClr val="14191E"/>
                </a:solidFill>
              </a:rPr>
              <a:t> Instantly overlays SSURGO soil data, topography, flood hazard zones, and canopy density for any NC parcel.</a:t>
            </a:r>
          </a:p>
          <a:p>
            <a:pPr>
              <a:lnSpc>
                <a:spcPct val="110000"/>
              </a:lnSpc>
              <a:defRPr sz="860" b="1">
                <a:solidFill>
                  <a:srgbClr val="14191E"/>
                </a:solidFill>
                <a:latin typeface="Segoe UI"/>
              </a:defRPr>
            </a:pPr>
            <a:r>
              <a:t>• Augmented Reality Forestry:</a:t>
            </a:r>
            <a:r>
              <a:rPr b="0">
                <a:solidFill>
                  <a:srgbClr val="14191E"/>
                </a:solidFill>
              </a:rPr>
              <a:t> Enables producers to visualize multi-tier pecan truffle and ginger layouts overlaid on their actual land.</a:t>
            </a:r>
          </a:p>
          <a:p>
            <a:pPr>
              <a:lnSpc>
                <a:spcPct val="110000"/>
              </a:lnSpc>
              <a:defRPr sz="860" b="1">
                <a:solidFill>
                  <a:srgbClr val="14191E"/>
                </a:solidFill>
                <a:latin typeface="Segoe UI"/>
              </a:defRPr>
            </a:pPr>
            <a:r>
              <a:t>• Open-Source Accessibility:</a:t>
            </a:r>
            <a:r>
              <a:rPr b="0">
                <a:solidFill>
                  <a:srgbClr val="14191E"/>
                </a:solidFill>
              </a:rPr>
              <a:t> Freely available to North Carolina woodland owners and county extension agents with zero user fees.</a:t>
            </a:r>
          </a:p>
          <a:p>
            <a:pPr>
              <a:lnSpc>
                <a:spcPct val="110000"/>
              </a:lnSpc>
              <a:defRPr sz="860" b="1">
                <a:solidFill>
                  <a:srgbClr val="14191E"/>
                </a:solidFill>
                <a:latin typeface="Segoe UI"/>
              </a:defRPr>
            </a:pPr>
            <a:r>
              <a:t>• Direct Economic Empowerment:</a:t>
            </a:r>
            <a:r>
              <a:rPr b="0">
                <a:solidFill>
                  <a:srgbClr val="14191E"/>
                </a:solidFill>
              </a:rPr>
              <a:t> Enables underserved landowners to qualify for USDA NRCS conservation cost-share funding (EQIP).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p:txBody>
      </p:sp>
      <p:sp>
        <p:nvSpPr>
          <p:cNvPr id="3" name="TextBox 2"/>
          <p:cNvSpPr txBox="1"/>
          <p:nvPr/>
        </p:nvSpPr>
        <p:spPr>
          <a:xfrm>
            <a:off x="768096" y="777240"/>
            <a:ext cx="10652760" cy="1051560"/>
          </a:xfrm>
          <a:prstGeom prst="rect">
            <a:avLst/>
          </a:prstGeom>
          <a:noFill/>
        </p:spPr>
        <p:txBody>
          <a:bodyPr wrap="square" lIns="0" tIns="0" rIns="0" bIns="0">
            <a:spAutoFit/>
          </a:bodyPr>
          <a:lstStyle/>
          <a:p>
            <a:pPr>
              <a:defRPr sz="2200" b="1">
                <a:solidFill>
                  <a:srgbClr val="004684"/>
                </a:solidFill>
                <a:latin typeface="Montserrat"/>
              </a:defRPr>
            </a:pPr>
            <a:r>
              <a:t>5-Paper Scholarly Publishing Suite &amp; Impact Metrics</a:t>
            </a:r>
          </a:p>
          <a:p>
            <a:pPr>
              <a:defRPr sz="1150" b="1">
                <a:solidFill>
                  <a:srgbClr val="B45309"/>
                </a:solidFill>
                <a:latin typeface="Montserrat"/>
              </a:defRPr>
            </a:pPr>
            <a:r>
              <a:t>[Q&amp;A REFERENCE VAULT] Strategic Target Journals, Co-Authorship Scaffolding &amp; Academic Legacy</a:t>
            </a:r>
          </a:p>
        </p:txBody>
      </p:sp>
      <p:sp>
        <p:nvSpPr>
          <p:cNvPr id="4" name="Rounded Rectangle 3"/>
          <p:cNvSpPr/>
          <p:nvPr/>
        </p:nvSpPr>
        <p:spPr>
          <a:xfrm>
            <a:off x="768096" y="2057400"/>
            <a:ext cx="6254496" cy="4206240"/>
          </a:xfrm>
          <a:prstGeom prst="roundRect">
            <a:avLst/>
          </a:prstGeom>
          <a:solidFill>
            <a:srgbClr val="FFFFFF"/>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68096" y="2057400"/>
            <a:ext cx="6254496" cy="402336"/>
          </a:xfrm>
          <a:prstGeom prst="roundRect">
            <a:avLst/>
          </a:prstGeom>
          <a:solidFill>
            <a:srgbClr val="004684"/>
          </a:solidFill>
          <a:ln>
            <a:solidFill>
              <a:srgbClr val="00468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PROJECT SILVA SCHOLARLY PUBLISHING ARCHITECTURE</a:t>
            </a:r>
          </a:p>
        </p:txBody>
      </p:sp>
      <p:pic>
        <p:nvPicPr>
          <p:cNvPr id="6" name="Picture 5" descr="graphic_5paper_suite.png"/>
          <p:cNvPicPr>
            <a:picLocks noChangeAspect="1"/>
          </p:cNvPicPr>
          <p:nvPr/>
        </p:nvPicPr>
        <p:blipFill>
          <a:blip r:embed="rId2"/>
          <a:stretch>
            <a:fillRect/>
          </a:stretch>
        </p:blipFill>
        <p:spPr>
          <a:xfrm>
            <a:off x="896112" y="3069840"/>
            <a:ext cx="5998464" cy="2547118"/>
          </a:xfrm>
          <a:prstGeom prst="rect">
            <a:avLst/>
          </a:prstGeom>
        </p:spPr>
      </p:pic>
      <p:sp>
        <p:nvSpPr>
          <p:cNvPr id="7" name="Rounded Rectangle 6"/>
          <p:cNvSpPr/>
          <p:nvPr/>
        </p:nvSpPr>
        <p:spPr>
          <a:xfrm>
            <a:off x="7168896" y="2057400"/>
            <a:ext cx="4251960" cy="4206240"/>
          </a:xfrm>
          <a:prstGeom prst="roundRect">
            <a:avLst/>
          </a:prstGeom>
          <a:solidFill>
            <a:srgbClr val="F8F9FA"/>
          </a:solidFill>
          <a:ln w="15240">
            <a:solidFill>
              <a:srgbClr val="DCE0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168896" y="2057400"/>
            <a:ext cx="4251960" cy="384048"/>
          </a:xfrm>
          <a:prstGeom prst="roundRect">
            <a:avLst/>
          </a:prstGeom>
          <a:solidFill>
            <a:srgbClr val="001F3F"/>
          </a:solidFill>
          <a:ln>
            <a:solidFill>
              <a:srgbClr val="001F3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FFFFFF"/>
                </a:solidFill>
                <a:latin typeface="Montserrat"/>
              </a:defRPr>
            </a:pPr>
            <a:r>
              <a:t>TARGET JOURNALS &amp; SCHOLARLY DELIVERABLES</a:t>
            </a:r>
          </a:p>
        </p:txBody>
      </p:sp>
      <p:sp>
        <p:nvSpPr>
          <p:cNvPr id="9" name="TextBox 8"/>
          <p:cNvSpPr txBox="1"/>
          <p:nvPr/>
        </p:nvSpPr>
        <p:spPr>
          <a:xfrm>
            <a:off x="7315200" y="2514600"/>
            <a:ext cx="3959352" cy="3694175"/>
          </a:xfrm>
          <a:prstGeom prst="rect">
            <a:avLst/>
          </a:prstGeom>
          <a:noFill/>
        </p:spPr>
        <p:txBody>
          <a:bodyPr wrap="square" lIns="0" tIns="0" rIns="0" bIns="0">
            <a:spAutoFit/>
          </a:bodyPr>
          <a:lstStyle/>
          <a:p>
            <a:pPr>
              <a:lnSpc>
                <a:spcPct val="106000"/>
              </a:lnSpc>
              <a:defRPr sz="819" b="1">
                <a:solidFill>
                  <a:srgbClr val="14191E"/>
                </a:solidFill>
                <a:latin typeface="Segoe UI"/>
              </a:defRPr>
            </a:pPr>
            <a:r>
              <a:t>• Paper 1 (Teaching / Pedagogy):</a:t>
            </a:r>
            <a:r>
              <a:rPr b="0">
                <a:solidFill>
                  <a:srgbClr val="14191E"/>
                </a:solidFill>
              </a:rPr>
              <a:t> CELA Landscape Research Record (LRR) — 4+1 MLA degree bridge and credential integration.</a:t>
            </a:r>
          </a:p>
          <a:p>
            <a:pPr>
              <a:lnSpc>
                <a:spcPct val="106000"/>
              </a:lnSpc>
              <a:defRPr sz="819" b="1">
                <a:solidFill>
                  <a:srgbClr val="14191E"/>
                </a:solidFill>
                <a:latin typeface="Segoe UI"/>
              </a:defRPr>
            </a:pPr>
            <a:r>
              <a:t>• Paper 2 (Computational Engineering):</a:t>
            </a:r>
            <a:r>
              <a:rPr b="0">
                <a:solidFill>
                  <a:srgbClr val="14191E"/>
                </a:solidFill>
              </a:rPr>
              <a:t> Computers &amp; Electronics in Agriculture (Elsevier, IF 8.3) — 4D digital twin framework.</a:t>
            </a:r>
          </a:p>
          <a:p>
            <a:pPr>
              <a:lnSpc>
                <a:spcPct val="106000"/>
              </a:lnSpc>
              <a:defRPr sz="819" b="1">
                <a:solidFill>
                  <a:srgbClr val="14191E"/>
                </a:solidFill>
                <a:latin typeface="Segoe UI"/>
              </a:defRPr>
            </a:pPr>
            <a:r>
              <a:t>• Paper 3 (Agroforestry Research):</a:t>
            </a:r>
            <a:r>
              <a:rPr b="0">
                <a:solidFill>
                  <a:srgbClr val="14191E"/>
                </a:solidFill>
              </a:rPr>
              <a:t> Agroforestry Systems (Springer, IF 2.8) — Pecan truffle inoculation and ginger understory trials.</a:t>
            </a:r>
          </a:p>
          <a:p>
            <a:pPr>
              <a:lnSpc>
                <a:spcPct val="106000"/>
              </a:lnSpc>
              <a:defRPr sz="819" b="1">
                <a:solidFill>
                  <a:srgbClr val="14191E"/>
                </a:solidFill>
                <a:latin typeface="Segoe UI"/>
              </a:defRPr>
            </a:pPr>
            <a:r>
              <a:t>• Paper 4 (Remote Sensing):</a:t>
            </a:r>
            <a:r>
              <a:rPr b="0">
                <a:solidFill>
                  <a:srgbClr val="14191E"/>
                </a:solidFill>
              </a:rPr>
              <a:t> IEEE JSTARS / Remote Sensing (IF 4.2–5.0) — Seasonal UAV LiDAR and point cloud processing.</a:t>
            </a:r>
          </a:p>
          <a:p>
            <a:pPr>
              <a:lnSpc>
                <a:spcPct val="106000"/>
              </a:lnSpc>
              <a:defRPr sz="819" b="1">
                <a:solidFill>
                  <a:srgbClr val="14191E"/>
                </a:solidFill>
                <a:latin typeface="Segoe UI"/>
              </a:defRPr>
            </a:pPr>
            <a:r>
              <a:t>• Paper 5 (Extension &amp; Community):</a:t>
            </a:r>
            <a:r>
              <a:rPr b="0">
                <a:solidFill>
                  <a:srgbClr val="14191E"/>
                </a:solidFill>
              </a:rPr>
              <a:t> Journal of Extension (JOX) — Participatory design charrettes and mobile digital twin deployment.</a:t>
            </a:r>
          </a:p>
          <a:p>
            <a:pPr>
              <a:lnSpc>
                <a:spcPct val="106000"/>
              </a:lnSpc>
              <a:defRPr sz="819" b="1">
                <a:solidFill>
                  <a:srgbClr val="14191E"/>
                </a:solidFill>
                <a:latin typeface="Segoe UI"/>
              </a:defRPr>
            </a:pPr>
            <a:r>
              <a:t>• Cross-College Co-Authorship:</a:t>
            </a:r>
            <a:r>
              <a:rPr b="0">
                <a:solidFill>
                  <a:srgbClr val="14191E"/>
                </a:solidFill>
              </a:rPr>
              <a:t> Every paper pairs senior and junior investigators across CAES, COE, and CoST.</a:t>
            </a:r>
          </a:p>
        </p:txBody>
      </p:sp>
    </p:spTree>
  </p:cSld>
  <p:clrMapOvr>
    <a:masterClrMapping/>
  </p:clrMapOvr>
</p:sld>
</file>

<file path=ppt/theme/theme1.xml><?xml version="1.0" encoding="utf-8"?>
<a:theme xmlns:a="http://schemas.openxmlformats.org/drawingml/2006/main" name="Custom Design">
  <a:themeElements>
    <a:clrScheme name="Blue">
      <a:dk1>
        <a:srgbClr val="000000"/>
      </a:dk1>
      <a:lt1>
        <a:srgbClr val="FFFFFF"/>
      </a:lt1>
      <a:dk2>
        <a:srgbClr val="44546A"/>
      </a:dk2>
      <a:lt2>
        <a:srgbClr val="E7E6E6"/>
      </a:lt2>
      <a:accent1>
        <a:srgbClr val="004684"/>
      </a:accent1>
      <a:accent2>
        <a:srgbClr val="FDB931"/>
      </a:accent2>
      <a:accent3>
        <a:srgbClr val="666666"/>
      </a:accent3>
      <a:accent4>
        <a:srgbClr val="FFC000"/>
      </a:accent4>
      <a:accent5>
        <a:srgbClr val="4472C4"/>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1180</TotalTime>
  <Words>0</Words>
  <Application>Microsoft Macintosh PowerPoint</Application>
  <PresentationFormat>Widescreen</PresentationFormat>
  <Paragraphs>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.HelveticaNeueDeskInterface-Regular</vt:lpstr>
      <vt:lpstr>Times New Roman</vt:lpstr>
      <vt:lpstr>Wingdings</vt:lpstr>
      <vt:lpstr>Arial</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15.0025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Gray Luckett</dc:creator>
  <cp:lastModifiedBy>Gray Luckett</cp:lastModifiedBy>
  <cp:revision>24</cp:revision>
  <dcterms:created xsi:type="dcterms:W3CDTF">2016-08-12T21:58:39Z</dcterms:created>
  <dcterms:modified xsi:type="dcterms:W3CDTF">2016-10-18T14:03:37Z</dcterms:modified>
</cp:coreProperties>
</file>