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We're students in the Landscape Architecture program at North Carolina A&amp;T State University. Today we want to show you a career where you get to design the places people live, play and grow, and why A&amp;T is the place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landscape architecture? It's the art and science of designing outdoor places. Every park you've played in, every campus quad, every greenway and plaza was designed by someone. Landscape architects blend art, nature, engineering and people to make those places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landscape architects design. Every one of these places started as a sketch: parks like Klyde Warren Park in Dallas, built right over a highway; elevated parks like New York's High Line; city plazas; playgrounds; waterfronts like Brooklyn Bridge Park; and greenway trails like the American Tobacco Trail here in North Carolina. If it's outside, a landscape architect probably shaped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there's more: college campuses like this quad, public gardens like Duke Gardens in Durham, and memorial landscapes like the Wright Brothers National Memorial right here in North Carolina.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program has a proud history. It was founded in 1976 by Dr. Charles Fountain. In 1989, Perry Howard became director, and in 1992 we became the first accredited landscape architecture program at any HBCU. Professor Howard went on to become the first African American president of the American Society of Landscape Architects in 2008, and he received the ASLA Medal in 2024. That same year our accreditation was renewed, and in 2026 we launched a brand-new curriculum.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pioneers who built our program. Dr. Charles Fountain founded it in 1976 and taught generations of students. Perry Howard led it to become the first accredited program at an HBCU and became the first African American president of ASLA. And Walter Hood, class of 1981, is now one of the most celebrated landscape architects in the world.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what makes A&amp;T special: we are the only accredited undergraduate landscape architecture program at any HBCU in the entire country. One of one. If you want this degree at an HBCU, this is the place.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our most famous graduates is Walter Hood, who earned his landscape architecture degree right here at A&amp;T in 1981. He founded Hood Design Studio in Oakland, California. He designed the landscape for the International African American Museum in Charleston and the gardens at San Francisco's de Young Museum. He won a MacArthur 'Genius' Fellowship in 2019 and the Vincent Scully Prize in 2024. He started where you could start: at A&amp;T.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learning happens in studio. That's where we sketch, build models, design on the computer and present our ideas to classmates and professors. Each class year moves through the program together as a cohort, with its own faculty lead, so you're never on your own.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learn by hand and by computer. We start with drawing and sketching, then add the same software professionals use: AutoCAD Civil 3D, SketchUp, Adobe Creative Cloud and Land F/X. You'll also work with GIS mapping, drones and 3D digital twins, and even AI tools for site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classroom doesn't stop at the studio door. NC A&amp;T's University Farm in east Greensboro is one of the largest university farms in the country, and with our 492-acre living field lab our students have more than 1,000 acres to study real soil, water, crops and forests, and to design for real places.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don't just draw. We build. In our design-build projects, students design a structure, build it with their own hands on campus, and then present it to faculty and visiting professionals. This is where your ideas become real places people can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degree take you? Our graduates work at design firms, for cities and counties, for the state DOT, for the National Park Service and USDA, for developers, and some start their own firms. Landscape architecture is a licensed profession in all 50 states, just like architecture or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money. According to the U.S. Bureau of Labor Statistics, the median pay for landscape architects was about $79,660 a year in 2024. That means half earned more. There are about 1,700 job openings every year, and pay goes up with your license, your experience, or by starting your own firm.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you get here? If you're in high school, take art, drafting or CAD, biology or environmental science, and geometry, and start sketching the places around you. Apply to A&amp;T and choose landscape architecture. If you're at a community college, you can transfer in. This fall alone, seven transfer students joined us. Talk to us early so your credits line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A&amp;T? You'll join the nation's largest HBCU, learn in small studios from faculty who know your name, design on real land, and graduate into a profession that needs your voice. And yes, there are scholarships, including the NC chapter of ASLA's scholarship for landscape architecture students.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listening! If you want to learn more, visit our studios in Carver Hall, follow the program, or scan the QR code to visit our website. We'd love to see you in studio. Aggie Pride!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credits.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 Id="rId7" Type="http://schemas.openxmlformats.org/officeDocument/2006/relationships/image" Target="../media/image7.jpg"/><Relationship Id="rId8"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6.jpg"/><Relationship Id="rId4" Type="http://schemas.openxmlformats.org/officeDocument/2006/relationships/image" Target="../media/image1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5.jpg"/><Relationship Id="rId4" Type="http://schemas.openxmlformats.org/officeDocument/2006/relationships/image" Target="../media/image1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image" Target="../media/image2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5.jpg"/><Relationship Id="rId4" Type="http://schemas.openxmlformats.org/officeDocument/2006/relationships/image" Target="../media/image26.jpg"/><Relationship Id="rId5" Type="http://schemas.openxmlformats.org/officeDocument/2006/relationships/image" Target="../media/image27.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8.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8.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1.jp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itle_lurie.jpg"/>
          <p:cNvPicPr>
            <a:picLocks noChangeAspect="1"/>
          </p:cNvPicPr>
          <p:nvPr/>
        </p:nvPicPr>
        <p:blipFill>
          <a:blip r:embed="rId3"/>
          <a:srcRect l="1" r="1"/>
          <a:stretch>
            <a:fillRect/>
          </a:stretch>
        </p:blipFill>
        <p:spPr>
          <a:xfrm>
            <a:off x="0" y="0"/>
            <a:ext cx="12191695" cy="6858000"/>
          </a:xfrm>
          <a:prstGeom prst="rect">
            <a:avLst/>
          </a:prstGeom>
        </p:spPr>
      </p:pic>
      <p:sp>
        <p:nvSpPr>
          <p:cNvPr id="3" name="Rectangle 2"/>
          <p:cNvSpPr/>
          <p:nvPr/>
        </p:nvSpPr>
        <p:spPr>
          <a:xfrm>
            <a:off x="0" y="0"/>
            <a:ext cx="5669280" cy="6858000"/>
          </a:xfrm>
          <a:prstGeom prst="rect">
            <a:avLst/>
          </a:prstGeom>
          <a:solidFill>
            <a:srgbClr val="004684">
              <a:alpha val="8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63040"/>
            <a:ext cx="7315200" cy="365760"/>
          </a:xfrm>
          <a:prstGeom prst="rect">
            <a:avLst/>
          </a:prstGeom>
          <a:noFill/>
        </p:spPr>
        <p:txBody>
          <a:bodyPr wrap="square" anchor="t" lIns="0" rIns="0" tIns="0" bIns="0">
            <a:spAutoFit/>
          </a:bodyPr>
          <a:lstStyle/>
          <a:p>
            <a:pPr algn="l"/>
            <a:r>
              <a:rPr sz="1400" b="1">
                <a:solidFill>
                  <a:srgbClr val="FDB931"/>
                </a:solidFill>
                <a:latin typeface="Montserrat"/>
              </a:rPr>
              <a:t>NC A&amp;T LANDSCAPE ARCHITECTURE</a:t>
            </a:r>
          </a:p>
        </p:txBody>
      </p:sp>
      <p:sp>
        <p:nvSpPr>
          <p:cNvPr id="5" name="TextBox 4"/>
          <p:cNvSpPr txBox="1"/>
          <p:nvPr/>
        </p:nvSpPr>
        <p:spPr>
          <a:xfrm>
            <a:off x="640080" y="1920240"/>
            <a:ext cx="4754880" cy="2194560"/>
          </a:xfrm>
          <a:prstGeom prst="rect">
            <a:avLst/>
          </a:prstGeom>
          <a:noFill/>
        </p:spPr>
        <p:txBody>
          <a:bodyPr wrap="square" anchor="t" lIns="0" rIns="0" tIns="0" bIns="0">
            <a:spAutoFit/>
          </a:bodyPr>
          <a:lstStyle/>
          <a:p>
            <a:pPr algn="l"/>
            <a:r>
              <a:rPr sz="4400" b="1">
                <a:solidFill>
                  <a:srgbClr val="FFFFFF"/>
                </a:solidFill>
                <a:latin typeface="Montserrat"/>
              </a:rPr>
              <a:t>Design the world around you.</a:t>
            </a:r>
          </a:p>
        </p:txBody>
      </p:sp>
      <p:sp>
        <p:nvSpPr>
          <p:cNvPr id="6" name="Rectangle 5"/>
          <p:cNvSpPr/>
          <p:nvPr/>
        </p:nvSpPr>
        <p:spPr>
          <a:xfrm>
            <a:off x="640080" y="425196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4526280"/>
            <a:ext cx="4754880" cy="1097280"/>
          </a:xfrm>
          <a:prstGeom prst="rect">
            <a:avLst/>
          </a:prstGeom>
          <a:noFill/>
        </p:spPr>
        <p:txBody>
          <a:bodyPr wrap="square" anchor="t" lIns="0" rIns="0" tIns="0" bIns="0">
            <a:spAutoFit/>
          </a:bodyPr>
          <a:lstStyle/>
          <a:p>
            <a:pPr algn="l"/>
            <a:r>
              <a:rPr sz="1800" b="0">
                <a:solidFill>
                  <a:srgbClr val="FFFFFF"/>
                </a:solidFill>
                <a:latin typeface="Montserrat"/>
              </a:rPr>
              <a:t>Bachelor of Science in Landscape Architecture</a:t>
            </a:r>
          </a:p>
          <a:p>
            <a:pPr algn="l">
              <a:spcBef>
                <a:spcPts val="600"/>
              </a:spcBef>
            </a:pPr>
            <a:r>
              <a:rPr sz="1400" b="0">
                <a:solidFill>
                  <a:srgbClr val="FDB931"/>
                </a:solidFill>
                <a:latin typeface="Montserrat"/>
              </a:rPr>
              <a:t>College of Agriculture &amp; Environmental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mural2.jpg"/>
          <p:cNvPicPr>
            <a:picLocks noChangeAspect="1"/>
          </p:cNvPicPr>
          <p:nvPr/>
        </p:nvPicPr>
        <p:blipFill>
          <a:blip r:embed="rId3"/>
          <a:srcRect l="15196" r="15196"/>
          <a:stretch>
            <a:fillRect/>
          </a:stretch>
        </p:blipFill>
        <p:spPr>
          <a:xfrm>
            <a:off x="5852013" y="0"/>
            <a:ext cx="6339681"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WHAT IS IT?</a:t>
            </a:r>
          </a:p>
        </p:txBody>
      </p:sp>
      <p:sp>
        <p:nvSpPr>
          <p:cNvPr id="4" name="TextBox 3"/>
          <p:cNvSpPr txBox="1"/>
          <p:nvPr/>
        </p:nvSpPr>
        <p:spPr>
          <a:xfrm>
            <a:off x="640080" y="1645920"/>
            <a:ext cx="4937760" cy="1645920"/>
          </a:xfrm>
          <a:prstGeom prst="rect">
            <a:avLst/>
          </a:prstGeom>
          <a:noFill/>
        </p:spPr>
        <p:txBody>
          <a:bodyPr wrap="square" anchor="t" lIns="0" rIns="0" tIns="0" bIns="0">
            <a:spAutoFit/>
          </a:bodyPr>
          <a:lstStyle/>
          <a:p>
            <a:pPr algn="l"/>
            <a:r>
              <a:rPr sz="3400" b="1">
                <a:solidFill>
                  <a:srgbClr val="004684"/>
                </a:solidFill>
                <a:latin typeface="Montserrat"/>
              </a:rPr>
              <a:t>What is landscape architecture?</a:t>
            </a:r>
          </a:p>
        </p:txBody>
      </p:sp>
      <p:sp>
        <p:nvSpPr>
          <p:cNvPr id="5" name="Rectangle 4"/>
          <p:cNvSpPr/>
          <p:nvPr/>
        </p:nvSpPr>
        <p:spPr>
          <a:xfrm>
            <a:off x="640080" y="34290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4846320" cy="2377440"/>
          </a:xfrm>
          <a:prstGeom prst="rect">
            <a:avLst/>
          </a:prstGeom>
          <a:noFill/>
        </p:spPr>
        <p:txBody>
          <a:bodyPr wrap="square" anchor="t" lIns="0" rIns="0" tIns="0" bIns="0">
            <a:spAutoFit/>
          </a:bodyPr>
          <a:lstStyle/>
          <a:p>
            <a:pPr algn="l"/>
            <a:r>
              <a:rPr sz="2000" b="0">
                <a:solidFill>
                  <a:srgbClr val="1F2937"/>
                </a:solidFill>
                <a:latin typeface="Montserrat"/>
              </a:rPr>
              <a:t>The art and science of designing outdoor places, so they work for people and for nature.</a:t>
            </a:r>
          </a:p>
          <a:p>
            <a:pPr algn="l">
              <a:spcBef>
                <a:spcPts val="1400"/>
              </a:spcBef>
            </a:pPr>
            <a:r>
              <a:rPr sz="1800" b="1">
                <a:solidFill>
                  <a:srgbClr val="004684"/>
                </a:solidFill>
                <a:latin typeface="Montserrat"/>
              </a:rPr>
              <a:t>Part artist. Part scientist. Part engineer. All about people.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What could you design?</a:t>
            </a:r>
          </a:p>
        </p:txBody>
      </p:sp>
      <p:pic>
        <p:nvPicPr>
          <p:cNvPr id="4" name="Picture 3" descr="p_park.jpg"/>
          <p:cNvPicPr>
            <a:picLocks noChangeAspect="1"/>
          </p:cNvPicPr>
          <p:nvPr/>
        </p:nvPicPr>
        <p:blipFill>
          <a:blip r:embed="rId3"/>
          <a:srcRect l="2555" r="2555"/>
          <a:stretch>
            <a:fillRect/>
          </a:stretch>
        </p:blipFill>
        <p:spPr>
          <a:xfrm>
            <a:off x="0" y="1143000"/>
            <a:ext cx="4015130" cy="2820924"/>
          </a:xfrm>
          <a:prstGeom prst="rect">
            <a:avLst/>
          </a:prstGeom>
        </p:spPr>
      </p:pic>
      <p:sp>
        <p:nvSpPr>
          <p:cNvPr id="5" name="Rectangle 4"/>
          <p:cNvSpPr/>
          <p:nvPr/>
        </p:nvSpPr>
        <p:spPr>
          <a:xfrm>
            <a:off x="0"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Parks</a:t>
            </a:r>
          </a:p>
        </p:txBody>
      </p:sp>
      <p:pic>
        <p:nvPicPr>
          <p:cNvPr id="7" name="Picture 6" descr="p_highline.jpg"/>
          <p:cNvPicPr>
            <a:picLocks noChangeAspect="1"/>
          </p:cNvPicPr>
          <p:nvPr/>
        </p:nvPicPr>
        <p:blipFill>
          <a:blip r:embed="rId4"/>
          <a:srcRect l="10024" r="10024"/>
          <a:stretch>
            <a:fillRect/>
          </a:stretch>
        </p:blipFill>
        <p:spPr>
          <a:xfrm>
            <a:off x="4088282" y="1143000"/>
            <a:ext cx="4015130" cy="2820924"/>
          </a:xfrm>
          <a:prstGeom prst="rect">
            <a:avLst/>
          </a:prstGeom>
        </p:spPr>
      </p:pic>
      <p:sp>
        <p:nvSpPr>
          <p:cNvPr id="8" name="Rectangle 7"/>
          <p:cNvSpPr/>
          <p:nvPr/>
        </p:nvSpPr>
        <p:spPr>
          <a:xfrm>
            <a:off x="4088282"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Elevated parks</a:t>
            </a:r>
          </a:p>
        </p:txBody>
      </p:sp>
      <p:pic>
        <p:nvPicPr>
          <p:cNvPr id="10" name="Picture 9" descr="p_plaza.jpg"/>
          <p:cNvPicPr>
            <a:picLocks noChangeAspect="1"/>
          </p:cNvPicPr>
          <p:nvPr/>
        </p:nvPicPr>
        <p:blipFill>
          <a:blip r:embed="rId5"/>
          <a:srcRect l="2555" r="2555"/>
          <a:stretch>
            <a:fillRect/>
          </a:stretch>
        </p:blipFill>
        <p:spPr>
          <a:xfrm>
            <a:off x="8176564" y="1143000"/>
            <a:ext cx="4015130" cy="2820924"/>
          </a:xfrm>
          <a:prstGeom prst="rect">
            <a:avLst/>
          </a:prstGeom>
        </p:spPr>
      </p:pic>
      <p:sp>
        <p:nvSpPr>
          <p:cNvPr id="11" name="Rectangle 10"/>
          <p:cNvSpPr/>
          <p:nvPr/>
        </p:nvSpPr>
        <p:spPr>
          <a:xfrm>
            <a:off x="8176564" y="3396996"/>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3396996"/>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Plazas</a:t>
            </a:r>
          </a:p>
        </p:txBody>
      </p:sp>
      <p:pic>
        <p:nvPicPr>
          <p:cNvPr id="13" name="Picture 12" descr="p_play.jpg"/>
          <p:cNvPicPr>
            <a:picLocks noChangeAspect="1"/>
          </p:cNvPicPr>
          <p:nvPr/>
        </p:nvPicPr>
        <p:blipFill>
          <a:blip r:embed="rId6"/>
          <a:srcRect l="2555" r="2555"/>
          <a:stretch>
            <a:fillRect/>
          </a:stretch>
        </p:blipFill>
        <p:spPr>
          <a:xfrm>
            <a:off x="0" y="4037076"/>
            <a:ext cx="4015130" cy="2820924"/>
          </a:xfrm>
          <a:prstGeom prst="rect">
            <a:avLst/>
          </a:prstGeom>
        </p:spPr>
      </p:pic>
      <p:sp>
        <p:nvSpPr>
          <p:cNvPr id="14" name="Rectangle 13"/>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Playgrounds</a:t>
            </a:r>
          </a:p>
        </p:txBody>
      </p:sp>
      <p:pic>
        <p:nvPicPr>
          <p:cNvPr id="16" name="Picture 15" descr="p_water.jpg"/>
          <p:cNvPicPr>
            <a:picLocks noChangeAspect="1"/>
          </p:cNvPicPr>
          <p:nvPr/>
        </p:nvPicPr>
        <p:blipFill>
          <a:blip r:embed="rId7"/>
          <a:srcRect l="2574" r="2574"/>
          <a:stretch>
            <a:fillRect/>
          </a:stretch>
        </p:blipFill>
        <p:spPr>
          <a:xfrm>
            <a:off x="4088282" y="4037076"/>
            <a:ext cx="4015130" cy="2820924"/>
          </a:xfrm>
          <a:prstGeom prst="rect">
            <a:avLst/>
          </a:prstGeom>
        </p:spPr>
      </p:pic>
      <p:sp>
        <p:nvSpPr>
          <p:cNvPr id="17" name="Rectangle 16"/>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Waterfronts</a:t>
            </a:r>
          </a:p>
        </p:txBody>
      </p:sp>
      <p:pic>
        <p:nvPicPr>
          <p:cNvPr id="19" name="Picture 18" descr="p_trail.jpg"/>
          <p:cNvPicPr>
            <a:picLocks noChangeAspect="1"/>
          </p:cNvPicPr>
          <p:nvPr/>
        </p:nvPicPr>
        <p:blipFill>
          <a:blip r:embed="rId8"/>
          <a:srcRect t="3162" b="3162"/>
          <a:stretch>
            <a:fillRect/>
          </a:stretch>
        </p:blipFill>
        <p:spPr>
          <a:xfrm>
            <a:off x="8176564" y="4037076"/>
            <a:ext cx="4015130" cy="2820924"/>
          </a:xfrm>
          <a:prstGeom prst="rect">
            <a:avLst/>
          </a:prstGeom>
        </p:spPr>
      </p:pic>
      <p:sp>
        <p:nvSpPr>
          <p:cNvPr id="20" name="Rectangle 19"/>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Trails &amp; greenways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Campuses, gardens &amp; memorials</a:t>
            </a:r>
          </a:p>
        </p:txBody>
      </p:sp>
      <p:pic>
        <p:nvPicPr>
          <p:cNvPr id="4" name="Picture 3" descr="campus.jpg"/>
          <p:cNvPicPr>
            <a:picLocks noChangeAspect="1"/>
          </p:cNvPicPr>
          <p:nvPr/>
        </p:nvPicPr>
        <p:blipFill>
          <a:blip r:embed="rId3"/>
          <a:srcRect l="37595" r="37595"/>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Campuses</a:t>
            </a:r>
          </a:p>
        </p:txBody>
      </p:sp>
      <p:pic>
        <p:nvPicPr>
          <p:cNvPr id="7" name="Picture 6" descr="p_duke.jpg"/>
          <p:cNvPicPr>
            <a:picLocks noChangeAspect="1"/>
          </p:cNvPicPr>
          <p:nvPr/>
        </p:nvPicPr>
        <p:blipFill>
          <a:blip r:embed="rId4"/>
          <a:srcRect l="26581" r="26581"/>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Gardens (Duke Gardens, NC)</a:t>
            </a:r>
          </a:p>
        </p:txBody>
      </p:sp>
      <p:pic>
        <p:nvPicPr>
          <p:cNvPr id="10" name="Picture 9" descr="memorial.jpg"/>
          <p:cNvPicPr>
            <a:picLocks noChangeAspect="1"/>
          </p:cNvPicPr>
          <p:nvPr/>
        </p:nvPicPr>
        <p:blipFill>
          <a:blip r:embed="rId5"/>
          <a:srcRect l="31435" r="31435"/>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Memorials (Wright Brothers, NC)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blue.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1234440" y="960120"/>
            <a:ext cx="7315200" cy="365760"/>
          </a:xfrm>
          <a:prstGeom prst="rect">
            <a:avLst/>
          </a:prstGeom>
          <a:noFill/>
        </p:spPr>
        <p:txBody>
          <a:bodyPr wrap="square" anchor="t" lIns="0" rIns="0" tIns="0" bIns="0">
            <a:spAutoFit/>
          </a:bodyPr>
          <a:lstStyle/>
          <a:p>
            <a:pPr algn="l"/>
            <a:r>
              <a:rPr sz="1400" b="1">
                <a:solidFill>
                  <a:srgbClr val="FDB931"/>
                </a:solidFill>
                <a:latin typeface="Montserrat"/>
              </a:rPr>
              <a:t>OUR STORY</a:t>
            </a:r>
          </a:p>
        </p:txBody>
      </p:sp>
      <p:sp>
        <p:nvSpPr>
          <p:cNvPr id="4" name="TextBox 3"/>
          <p:cNvSpPr txBox="1"/>
          <p:nvPr/>
        </p:nvSpPr>
        <p:spPr>
          <a:xfrm>
            <a:off x="640080" y="1371600"/>
            <a:ext cx="10972800" cy="822960"/>
          </a:xfrm>
          <a:prstGeom prst="rect">
            <a:avLst/>
          </a:prstGeom>
          <a:noFill/>
        </p:spPr>
        <p:txBody>
          <a:bodyPr wrap="square" anchor="t" lIns="0" rIns="0" tIns="0" bIns="0">
            <a:spAutoFit/>
          </a:bodyPr>
          <a:lstStyle/>
          <a:p>
            <a:pPr algn="l"/>
            <a:r>
              <a:rPr sz="3600" b="1">
                <a:solidFill>
                  <a:srgbClr val="FFFFFF"/>
                </a:solidFill>
                <a:latin typeface="Montserrat"/>
              </a:rPr>
              <a:t>Five decades of firsts</a:t>
            </a:r>
          </a:p>
        </p:txBody>
      </p:sp>
      <p:sp>
        <p:nvSpPr>
          <p:cNvPr id="5" name="Rectangle 4"/>
          <p:cNvSpPr/>
          <p:nvPr/>
        </p:nvSpPr>
        <p:spPr>
          <a:xfrm>
            <a:off x="640080" y="3246120"/>
            <a:ext cx="10881360" cy="54864"/>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1976</a:t>
            </a:r>
          </a:p>
        </p:txBody>
      </p:sp>
      <p:sp>
        <p:nvSpPr>
          <p:cNvPr id="8" name="TextBox 7"/>
          <p:cNvSpPr txBox="1"/>
          <p:nvPr/>
        </p:nvSpPr>
        <p:spPr>
          <a:xfrm>
            <a:off x="6400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Program founded by Dr. Charles A. Fountain</a:t>
            </a:r>
          </a:p>
        </p:txBody>
      </p:sp>
      <p:sp>
        <p:nvSpPr>
          <p:cNvPr id="9" name="Oval 8"/>
          <p:cNvSpPr/>
          <p:nvPr/>
        </p:nvSpPr>
        <p:spPr>
          <a:xfrm>
            <a:off x="245364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45364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1989</a:t>
            </a:r>
          </a:p>
        </p:txBody>
      </p:sp>
      <p:sp>
        <p:nvSpPr>
          <p:cNvPr id="11" name="TextBox 10"/>
          <p:cNvSpPr txBox="1"/>
          <p:nvPr/>
        </p:nvSpPr>
        <p:spPr>
          <a:xfrm>
            <a:off x="245364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Perry Howard named program director</a:t>
            </a:r>
          </a:p>
        </p:txBody>
      </p:sp>
      <p:sp>
        <p:nvSpPr>
          <p:cNvPr id="12" name="Oval 11"/>
          <p:cNvSpPr/>
          <p:nvPr/>
        </p:nvSpPr>
        <p:spPr>
          <a:xfrm>
            <a:off x="426720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6720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1992</a:t>
            </a:r>
          </a:p>
        </p:txBody>
      </p:sp>
      <p:sp>
        <p:nvSpPr>
          <p:cNvPr id="14" name="TextBox 13"/>
          <p:cNvSpPr txBox="1"/>
          <p:nvPr/>
        </p:nvSpPr>
        <p:spPr>
          <a:xfrm>
            <a:off x="426720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First accredited LA program at an HBCU</a:t>
            </a:r>
          </a:p>
        </p:txBody>
      </p:sp>
      <p:sp>
        <p:nvSpPr>
          <p:cNvPr id="15" name="Oval 14"/>
          <p:cNvSpPr/>
          <p:nvPr/>
        </p:nvSpPr>
        <p:spPr>
          <a:xfrm>
            <a:off x="608076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6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2008</a:t>
            </a:r>
          </a:p>
        </p:txBody>
      </p:sp>
      <p:sp>
        <p:nvSpPr>
          <p:cNvPr id="17" name="TextBox 16"/>
          <p:cNvSpPr txBox="1"/>
          <p:nvPr/>
        </p:nvSpPr>
        <p:spPr>
          <a:xfrm>
            <a:off x="608076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Howard becomes first African American ASLA president</a:t>
            </a:r>
          </a:p>
        </p:txBody>
      </p:sp>
      <p:sp>
        <p:nvSpPr>
          <p:cNvPr id="18" name="Oval 17"/>
          <p:cNvSpPr/>
          <p:nvPr/>
        </p:nvSpPr>
        <p:spPr>
          <a:xfrm>
            <a:off x="789432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9432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2024</a:t>
            </a:r>
          </a:p>
        </p:txBody>
      </p:sp>
      <p:sp>
        <p:nvSpPr>
          <p:cNvPr id="20" name="TextBox 19"/>
          <p:cNvSpPr txBox="1"/>
          <p:nvPr/>
        </p:nvSpPr>
        <p:spPr>
          <a:xfrm>
            <a:off x="789432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Accreditation renewed; Howard receives the ASLA Medal</a:t>
            </a:r>
          </a:p>
        </p:txBody>
      </p:sp>
      <p:sp>
        <p:nvSpPr>
          <p:cNvPr id="21" name="Oval 20"/>
          <p:cNvSpPr/>
          <p:nvPr/>
        </p:nvSpPr>
        <p:spPr>
          <a:xfrm>
            <a:off x="9707880" y="3090672"/>
            <a:ext cx="365760" cy="365760"/>
          </a:xfrm>
          <a:prstGeom prst="ellipse">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07880" y="2331720"/>
            <a:ext cx="1630680" cy="640080"/>
          </a:xfrm>
          <a:prstGeom prst="rect">
            <a:avLst/>
          </a:prstGeom>
          <a:noFill/>
        </p:spPr>
        <p:txBody>
          <a:bodyPr wrap="square" anchor="t" lIns="0" rIns="0" tIns="0" bIns="0">
            <a:spAutoFit/>
          </a:bodyPr>
          <a:lstStyle/>
          <a:p>
            <a:pPr algn="l"/>
            <a:r>
              <a:rPr sz="2800" b="1">
                <a:solidFill>
                  <a:srgbClr val="FDB931"/>
                </a:solidFill>
                <a:latin typeface="Montserrat"/>
              </a:rPr>
              <a:t>2026</a:t>
            </a:r>
          </a:p>
        </p:txBody>
      </p:sp>
      <p:sp>
        <p:nvSpPr>
          <p:cNvPr id="23" name="TextBox 22"/>
          <p:cNvSpPr txBox="1"/>
          <p:nvPr/>
        </p:nvSpPr>
        <p:spPr>
          <a:xfrm>
            <a:off x="9707880" y="3703320"/>
            <a:ext cx="1584960" cy="2286000"/>
          </a:xfrm>
          <a:prstGeom prst="rect">
            <a:avLst/>
          </a:prstGeom>
          <a:noFill/>
        </p:spPr>
        <p:txBody>
          <a:bodyPr wrap="square" anchor="t" lIns="0" rIns="0" tIns="0" bIns="0">
            <a:spAutoFit/>
          </a:bodyPr>
          <a:lstStyle/>
          <a:p>
            <a:pPr algn="l"/>
            <a:r>
              <a:rPr sz="1500" b="0">
                <a:solidFill>
                  <a:srgbClr val="FFFFFF"/>
                </a:solidFill>
                <a:latin typeface="Montserrat"/>
              </a:rPr>
              <a:t>New High-Tech, High-Touch curriculum launches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48640"/>
            <a:ext cx="7315200" cy="365760"/>
          </a:xfrm>
          <a:prstGeom prst="rect">
            <a:avLst/>
          </a:prstGeom>
          <a:noFill/>
        </p:spPr>
        <p:txBody>
          <a:bodyPr wrap="square" anchor="t" lIns="0" rIns="0" tIns="0" bIns="0">
            <a:spAutoFit/>
          </a:bodyPr>
          <a:lstStyle/>
          <a:p>
            <a:pPr algn="l"/>
            <a:r>
              <a:rPr sz="1400" b="1">
                <a:solidFill>
                  <a:srgbClr val="FDB931"/>
                </a:solidFill>
                <a:latin typeface="Montserrat"/>
              </a:rPr>
              <a:t>BUILT BY PIONEERS</a:t>
            </a:r>
          </a:p>
        </p:txBody>
      </p:sp>
      <p:sp>
        <p:nvSpPr>
          <p:cNvPr id="4" name="TextBox 3"/>
          <p:cNvSpPr txBox="1"/>
          <p:nvPr/>
        </p:nvSpPr>
        <p:spPr>
          <a:xfrm>
            <a:off x="640080" y="914400"/>
            <a:ext cx="10972800" cy="822960"/>
          </a:xfrm>
          <a:prstGeom prst="rect">
            <a:avLst/>
          </a:prstGeom>
          <a:noFill/>
        </p:spPr>
        <p:txBody>
          <a:bodyPr wrap="square" anchor="t" lIns="0" rIns="0" tIns="0" bIns="0">
            <a:spAutoFit/>
          </a:bodyPr>
          <a:lstStyle/>
          <a:p>
            <a:pPr algn="l"/>
            <a:r>
              <a:rPr sz="3200" b="1">
                <a:solidFill>
                  <a:srgbClr val="FFFFFF"/>
                </a:solidFill>
                <a:latin typeface="Montserrat"/>
              </a:rPr>
              <a:t>The people behind the program</a:t>
            </a:r>
          </a:p>
        </p:txBody>
      </p:sp>
      <p:pic>
        <p:nvPicPr>
          <p:cNvPr id="5" name="Picture 4" descr="fountain.jpg"/>
          <p:cNvPicPr>
            <a:picLocks noChangeAspect="1"/>
          </p:cNvPicPr>
          <p:nvPr/>
        </p:nvPicPr>
        <p:blipFill>
          <a:blip r:embed="rId3"/>
          <a:srcRect t="2585" b="2585"/>
          <a:stretch>
            <a:fillRect/>
          </a:stretch>
        </p:blipFill>
        <p:spPr>
          <a:xfrm>
            <a:off x="640080" y="1920240"/>
            <a:ext cx="3291840" cy="3108960"/>
          </a:xfrm>
          <a:prstGeom prst="rect">
            <a:avLst/>
          </a:prstGeom>
        </p:spPr>
      </p:pic>
      <p:sp>
        <p:nvSpPr>
          <p:cNvPr id="6" name="Rectangle 5"/>
          <p:cNvSpPr/>
          <p:nvPr/>
        </p:nvSpPr>
        <p:spPr>
          <a:xfrm>
            <a:off x="640080"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Dr. Charles A. Fountain</a:t>
            </a:r>
          </a:p>
          <a:p>
            <a:pPr algn="l">
              <a:spcBef>
                <a:spcPts val="400"/>
              </a:spcBef>
            </a:pPr>
            <a:r>
              <a:rPr sz="1400" b="0">
                <a:solidFill>
                  <a:srgbClr val="FDB931"/>
                </a:solidFill>
                <a:latin typeface="Montserrat"/>
              </a:rPr>
              <a:t>Founder, 1976</a:t>
            </a:r>
          </a:p>
        </p:txBody>
      </p:sp>
      <p:pic>
        <p:nvPicPr>
          <p:cNvPr id="8" name="Picture 7" descr="howard.jpg"/>
          <p:cNvPicPr>
            <a:picLocks noChangeAspect="1"/>
          </p:cNvPicPr>
          <p:nvPr/>
        </p:nvPicPr>
        <p:blipFill>
          <a:blip r:embed="rId4"/>
          <a:srcRect t="2778" b="2778"/>
          <a:stretch>
            <a:fillRect/>
          </a:stretch>
        </p:blipFill>
        <p:spPr>
          <a:xfrm>
            <a:off x="4449927" y="1920240"/>
            <a:ext cx="3291840" cy="3108960"/>
          </a:xfrm>
          <a:prstGeom prst="rect">
            <a:avLst/>
          </a:prstGeom>
        </p:spPr>
      </p:pic>
      <p:sp>
        <p:nvSpPr>
          <p:cNvPr id="9" name="Rectangle 8"/>
          <p:cNvSpPr/>
          <p:nvPr/>
        </p:nvSpPr>
        <p:spPr>
          <a:xfrm>
            <a:off x="4449927"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27"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Perry Howard, FASLA</a:t>
            </a:r>
          </a:p>
          <a:p>
            <a:pPr algn="l">
              <a:spcBef>
                <a:spcPts val="400"/>
              </a:spcBef>
            </a:pPr>
            <a:r>
              <a:rPr sz="1400" b="0">
                <a:solidFill>
                  <a:srgbClr val="FDB931"/>
                </a:solidFill>
                <a:latin typeface="Montserrat"/>
              </a:rPr>
              <a:t>Director from 1989; first African American ASLA president</a:t>
            </a:r>
          </a:p>
        </p:txBody>
      </p:sp>
      <p:pic>
        <p:nvPicPr>
          <p:cNvPr id="11" name="Picture 10" descr="hood.jpg"/>
          <p:cNvPicPr>
            <a:picLocks noChangeAspect="1"/>
          </p:cNvPicPr>
          <p:nvPr/>
        </p:nvPicPr>
        <p:blipFill>
          <a:blip r:embed="rId5"/>
          <a:srcRect t="18526" b="18526"/>
          <a:stretch>
            <a:fillRect/>
          </a:stretch>
        </p:blipFill>
        <p:spPr>
          <a:xfrm>
            <a:off x="8259775" y="1920240"/>
            <a:ext cx="3291840" cy="3108960"/>
          </a:xfrm>
          <a:prstGeom prst="rect">
            <a:avLst/>
          </a:prstGeom>
        </p:spPr>
      </p:pic>
      <p:sp>
        <p:nvSpPr>
          <p:cNvPr id="12" name="Rectangle 11"/>
          <p:cNvSpPr/>
          <p:nvPr/>
        </p:nvSpPr>
        <p:spPr>
          <a:xfrm>
            <a:off x="8259775" y="5029200"/>
            <a:ext cx="3291840" cy="64008"/>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9775" y="5212080"/>
            <a:ext cx="3291840" cy="1463040"/>
          </a:xfrm>
          <a:prstGeom prst="rect">
            <a:avLst/>
          </a:prstGeom>
          <a:noFill/>
        </p:spPr>
        <p:txBody>
          <a:bodyPr wrap="square" anchor="t" lIns="0" rIns="0" tIns="0" bIns="0">
            <a:spAutoFit/>
          </a:bodyPr>
          <a:lstStyle/>
          <a:p>
            <a:pPr algn="l"/>
            <a:r>
              <a:rPr sz="1800" b="1">
                <a:solidFill>
                  <a:srgbClr val="FFFFFF"/>
                </a:solidFill>
                <a:latin typeface="Montserrat"/>
              </a:rPr>
              <a:t>Walter Hood, '81</a:t>
            </a:r>
          </a:p>
          <a:p>
            <a:pPr algn="l">
              <a:spcBef>
                <a:spcPts val="400"/>
              </a:spcBef>
            </a:pPr>
            <a:r>
              <a:rPr sz="1400" b="0">
                <a:solidFill>
                  <a:srgbClr val="FDB931"/>
                </a:solidFill>
                <a:latin typeface="Montserrat"/>
              </a:rPr>
              <a:t>MacArthur Fellow; Hood Design Studio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white.jpg"/>
          <p:cNvPicPr>
            <a:picLocks noChangeAspect="1"/>
          </p:cNvPicPr>
          <p:nvPr/>
        </p:nvPicPr>
        <p:blipFill>
          <a:blip r:embed="rId3"/>
          <a:srcRect l="1" r="1"/>
          <a:stretch>
            <a:fillRect/>
          </a:stretch>
        </p:blipFill>
        <p:spPr>
          <a:xfrm>
            <a:off x="0" y="0"/>
            <a:ext cx="12191695" cy="6858000"/>
          </a:xfrm>
          <a:prstGeom prst="rect">
            <a:avLst/>
          </a:prstGeom>
        </p:spPr>
      </p:pic>
      <p:pic>
        <p:nvPicPr>
          <p:cNvPr id="3" name="Picture 2" descr="s_team.jpg"/>
          <p:cNvPicPr>
            <a:picLocks noChangeAspect="1"/>
          </p:cNvPicPr>
          <p:nvPr/>
        </p:nvPicPr>
        <p:blipFill>
          <a:blip r:embed="rId4"/>
          <a:srcRect l="20371" r="20371"/>
          <a:stretch>
            <a:fillRect/>
          </a:stretch>
        </p:blipFill>
        <p:spPr>
          <a:xfrm>
            <a:off x="6095847" y="0"/>
            <a:ext cx="6095847" cy="6858000"/>
          </a:xfrm>
          <a:prstGeom prst="rect">
            <a:avLst/>
          </a:prstGeom>
        </p:spPr>
      </p:pic>
      <p:sp>
        <p:nvSpPr>
          <p:cNvPr id="4" name="TextBox 3"/>
          <p:cNvSpPr txBox="1"/>
          <p:nvPr/>
        </p:nvSpPr>
        <p:spPr>
          <a:xfrm>
            <a:off x="822960" y="1371600"/>
            <a:ext cx="5120640" cy="2377440"/>
          </a:xfrm>
          <a:prstGeom prst="rect">
            <a:avLst/>
          </a:prstGeom>
          <a:noFill/>
        </p:spPr>
        <p:txBody>
          <a:bodyPr wrap="square" anchor="t" lIns="0" rIns="0" tIns="0" bIns="0">
            <a:spAutoFit/>
          </a:bodyPr>
          <a:lstStyle/>
          <a:p>
            <a:pPr algn="l"/>
            <a:r>
              <a:rPr sz="11000" b="1">
                <a:solidFill>
                  <a:srgbClr val="004684"/>
                </a:solidFill>
                <a:latin typeface="Montserrat"/>
              </a:rPr>
              <a:t>1 of 1</a:t>
            </a:r>
          </a:p>
        </p:txBody>
      </p:sp>
      <p:sp>
        <p:nvSpPr>
          <p:cNvPr id="5" name="Rectangle 4"/>
          <p:cNvSpPr/>
          <p:nvPr/>
        </p:nvSpPr>
        <p:spPr>
          <a:xfrm>
            <a:off x="868680" y="3794760"/>
            <a:ext cx="182880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069080"/>
            <a:ext cx="4937760" cy="2011680"/>
          </a:xfrm>
          <a:prstGeom prst="rect">
            <a:avLst/>
          </a:prstGeom>
          <a:noFill/>
        </p:spPr>
        <p:txBody>
          <a:bodyPr wrap="square" anchor="t" lIns="0" rIns="0" tIns="0" bIns="0">
            <a:spAutoFit/>
          </a:bodyPr>
          <a:lstStyle/>
          <a:p>
            <a:pPr algn="l"/>
            <a:r>
              <a:rPr sz="2200" b="0">
                <a:solidFill>
                  <a:srgbClr val="1F2937"/>
                </a:solidFill>
                <a:latin typeface="Montserrat"/>
              </a:rPr>
              <a:t>The only accredited undergraduate landscape architecture program at any HBCU in the nation.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d.jpg"/>
          <p:cNvPicPr>
            <a:picLocks noChangeAspect="1"/>
          </p:cNvPicPr>
          <p:nvPr/>
        </p:nvPicPr>
        <p:blipFill>
          <a:blip r:embed="rId3"/>
          <a:srcRect l="7324" r="7324"/>
          <a:stretch>
            <a:fillRect/>
          </a:stretch>
        </p:blipFill>
        <p:spPr>
          <a:xfrm>
            <a:off x="0" y="0"/>
            <a:ext cx="3901342" cy="6858000"/>
          </a:xfrm>
          <a:prstGeom prst="rect">
            <a:avLst/>
          </a:prstGeom>
        </p:spPr>
      </p:pic>
      <p:pic>
        <p:nvPicPr>
          <p:cNvPr id="3" name="Picture 2" descr="deyoung.jpg"/>
          <p:cNvPicPr>
            <a:picLocks noChangeAspect="1"/>
          </p:cNvPicPr>
          <p:nvPr/>
        </p:nvPicPr>
        <p:blipFill>
          <a:blip r:embed="rId4"/>
          <a:srcRect l="34667" r="34667"/>
          <a:stretch>
            <a:fillRect/>
          </a:stretch>
        </p:blipFill>
        <p:spPr>
          <a:xfrm>
            <a:off x="3901342" y="0"/>
            <a:ext cx="2804089" cy="6858000"/>
          </a:xfrm>
          <a:prstGeom prst="rect">
            <a:avLst/>
          </a:prstGeom>
        </p:spPr>
      </p:pic>
      <p:sp>
        <p:nvSpPr>
          <p:cNvPr id="4" name="Rectangle 3"/>
          <p:cNvSpPr/>
          <p:nvPr/>
        </p:nvSpPr>
        <p:spPr>
          <a:xfrm>
            <a:off x="3901342" y="6035040"/>
            <a:ext cx="2804089" cy="822960"/>
          </a:xfrm>
          <a:prstGeom prst="rect">
            <a:avLst/>
          </a:prstGeom>
          <a:solidFill>
            <a:srgbClr val="004684">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084222" y="6035040"/>
            <a:ext cx="2438329" cy="822960"/>
          </a:xfrm>
          <a:prstGeom prst="rect">
            <a:avLst/>
          </a:prstGeom>
          <a:noFill/>
        </p:spPr>
        <p:txBody>
          <a:bodyPr wrap="square" anchor="ctr" lIns="0" rIns="0" tIns="0" bIns="0">
            <a:spAutoFit/>
          </a:bodyPr>
          <a:lstStyle/>
          <a:p>
            <a:pPr algn="l"/>
            <a:r>
              <a:rPr sz="1200" b="0">
                <a:solidFill>
                  <a:srgbClr val="FFFFFF"/>
                </a:solidFill>
                <a:latin typeface="Montserrat"/>
              </a:rPr>
              <a:t>de Young Museum gardens, San Francisco</a:t>
            </a:r>
          </a:p>
        </p:txBody>
      </p:sp>
      <p:sp>
        <p:nvSpPr>
          <p:cNvPr id="6" name="Rectangle 5"/>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731520"/>
            <a:ext cx="7315200" cy="365760"/>
          </a:xfrm>
          <a:prstGeom prst="rect">
            <a:avLst/>
          </a:prstGeom>
          <a:noFill/>
        </p:spPr>
        <p:txBody>
          <a:bodyPr wrap="square" anchor="t" lIns="0" rIns="0" tIns="0" bIns="0">
            <a:spAutoFit/>
          </a:bodyPr>
          <a:lstStyle/>
          <a:p>
            <a:pPr algn="l"/>
            <a:r>
              <a:rPr sz="1400" b="1">
                <a:solidFill>
                  <a:srgbClr val="FDB931"/>
                </a:solidFill>
                <a:latin typeface="Montserrat"/>
              </a:rPr>
              <a:t>ALUMNI SPOTLIGHT</a:t>
            </a:r>
          </a:p>
        </p:txBody>
      </p:sp>
      <p:sp>
        <p:nvSpPr>
          <p:cNvPr id="8" name="TextBox 7"/>
          <p:cNvSpPr txBox="1"/>
          <p:nvPr/>
        </p:nvSpPr>
        <p:spPr>
          <a:xfrm>
            <a:off x="7208352" y="1143000"/>
            <a:ext cx="4571862" cy="1280160"/>
          </a:xfrm>
          <a:prstGeom prst="rect">
            <a:avLst/>
          </a:prstGeom>
          <a:noFill/>
        </p:spPr>
        <p:txBody>
          <a:bodyPr wrap="square" anchor="t" lIns="0" rIns="0" tIns="0" bIns="0">
            <a:spAutoFit/>
          </a:bodyPr>
          <a:lstStyle/>
          <a:p>
            <a:pPr algn="l"/>
            <a:r>
              <a:rPr sz="3800" b="1">
                <a:solidFill>
                  <a:srgbClr val="FFFFFF"/>
                </a:solidFill>
                <a:latin typeface="Montserrat"/>
              </a:rPr>
              <a:t>Walter Hood</a:t>
            </a:r>
          </a:p>
          <a:p>
            <a:pPr algn="l">
              <a:spcBef>
                <a:spcPts val="400"/>
              </a:spcBef>
            </a:pPr>
            <a:r>
              <a:rPr sz="1800" b="0">
                <a:solidFill>
                  <a:srgbClr val="FDB931"/>
                </a:solidFill>
                <a:latin typeface="Montserrat"/>
              </a:rPr>
              <a:t>BS Landscape Architecture, A&amp;T '81</a:t>
            </a:r>
          </a:p>
        </p:txBody>
      </p:sp>
      <p:sp>
        <p:nvSpPr>
          <p:cNvPr id="9" name="Rectangle 8"/>
          <p:cNvSpPr/>
          <p:nvPr/>
        </p:nvSpPr>
        <p:spPr>
          <a:xfrm>
            <a:off x="7208352" y="25146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8352" y="2788920"/>
            <a:ext cx="4571862" cy="3657600"/>
          </a:xfrm>
          <a:prstGeom prst="rect">
            <a:avLst/>
          </a:prstGeom>
          <a:noFill/>
        </p:spPr>
        <p:txBody>
          <a:bodyPr wrap="square" anchor="t" lIns="0" rIns="0" tIns="0" bIns="0">
            <a:spAutoFit/>
          </a:bodyPr>
          <a:lstStyle/>
          <a:p>
            <a:pPr algn="l"/>
            <a:r>
              <a:rPr sz="1700" b="0">
                <a:solidFill>
                  <a:srgbClr val="FFFFFF"/>
                </a:solidFill>
                <a:latin typeface="Montserrat"/>
              </a:rPr>
              <a:t>Founder, Hood Design Studio, Oakland, CA</a:t>
            </a:r>
          </a:p>
          <a:p>
            <a:pPr algn="l">
              <a:spcBef>
                <a:spcPts val="1000"/>
              </a:spcBef>
            </a:pPr>
            <a:r>
              <a:rPr sz="1700" b="0">
                <a:solidFill>
                  <a:srgbClr val="FFFFFF"/>
                </a:solidFill>
                <a:latin typeface="Montserrat"/>
              </a:rPr>
              <a:t>International African American Museum landscape, Charleston, SC</a:t>
            </a:r>
          </a:p>
          <a:p>
            <a:pPr algn="l">
              <a:spcBef>
                <a:spcPts val="1000"/>
              </a:spcBef>
            </a:pPr>
            <a:r>
              <a:rPr sz="1700" b="0">
                <a:solidFill>
                  <a:srgbClr val="FFFFFF"/>
                </a:solidFill>
                <a:latin typeface="Montserrat"/>
              </a:rPr>
              <a:t>de Young Museum gardens, San Francisco</a:t>
            </a:r>
          </a:p>
          <a:p>
            <a:pPr algn="l">
              <a:spcBef>
                <a:spcPts val="1000"/>
              </a:spcBef>
            </a:pPr>
            <a:r>
              <a:rPr sz="1700" b="0">
                <a:solidFill>
                  <a:srgbClr val="FFFFFF"/>
                </a:solidFill>
                <a:latin typeface="Montserrat"/>
              </a:rPr>
              <a:t>2019 MacArthur "Genius" Fellow</a:t>
            </a:r>
          </a:p>
          <a:p>
            <a:pPr algn="l">
              <a:spcBef>
                <a:spcPts val="1000"/>
              </a:spcBef>
            </a:pPr>
            <a:r>
              <a:rPr sz="1700" b="0">
                <a:solidFill>
                  <a:srgbClr val="FFFFFF"/>
                </a:solidFill>
                <a:latin typeface="Montserrat"/>
              </a:rPr>
              <a:t>2024 Vincent Scully Prize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_drawing.jpg"/>
          <p:cNvPicPr>
            <a:picLocks noChangeAspect="1"/>
          </p:cNvPicPr>
          <p:nvPr/>
        </p:nvPicPr>
        <p:blipFill>
          <a:blip r:embed="rId3"/>
          <a:srcRect l="14445" r="14445"/>
          <a:stretch>
            <a:fillRect/>
          </a:stretch>
        </p:blipFill>
        <p:spPr>
          <a:xfrm>
            <a:off x="0" y="0"/>
            <a:ext cx="7315017" cy="6858000"/>
          </a:xfrm>
          <a:prstGeom prst="rect">
            <a:avLst/>
          </a:prstGeom>
        </p:spPr>
      </p:pic>
      <p:sp>
        <p:nvSpPr>
          <p:cNvPr id="3" name="Rectangle 2"/>
          <p:cNvSpPr/>
          <p:nvPr/>
        </p:nvSpPr>
        <p:spPr>
          <a:xfrm>
            <a:off x="7315017" y="0"/>
            <a:ext cx="4876678"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817937" y="1097280"/>
            <a:ext cx="7315200" cy="365760"/>
          </a:xfrm>
          <a:prstGeom prst="rect">
            <a:avLst/>
          </a:prstGeom>
          <a:noFill/>
        </p:spPr>
        <p:txBody>
          <a:bodyPr wrap="square" anchor="t" lIns="0" rIns="0" tIns="0" bIns="0">
            <a:spAutoFit/>
          </a:bodyPr>
          <a:lstStyle/>
          <a:p>
            <a:pPr algn="l"/>
            <a:r>
              <a:rPr sz="1400" b="1">
                <a:solidFill>
                  <a:srgbClr val="FDB931"/>
                </a:solidFill>
                <a:latin typeface="Montserrat"/>
              </a:rPr>
              <a:t>STUDIO LIFE</a:t>
            </a:r>
          </a:p>
        </p:txBody>
      </p:sp>
      <p:sp>
        <p:nvSpPr>
          <p:cNvPr id="5" name="TextBox 4"/>
          <p:cNvSpPr txBox="1"/>
          <p:nvPr/>
        </p:nvSpPr>
        <p:spPr>
          <a:xfrm>
            <a:off x="7817937" y="1554480"/>
            <a:ext cx="3962278" cy="1463040"/>
          </a:xfrm>
          <a:prstGeom prst="rect">
            <a:avLst/>
          </a:prstGeom>
          <a:noFill/>
        </p:spPr>
        <p:txBody>
          <a:bodyPr wrap="square" anchor="t" lIns="0" rIns="0" tIns="0" bIns="0">
            <a:spAutoFit/>
          </a:bodyPr>
          <a:lstStyle/>
          <a:p>
            <a:pPr algn="l"/>
            <a:r>
              <a:rPr sz="3000" b="1">
                <a:solidFill>
                  <a:srgbClr val="FFFFFF"/>
                </a:solidFill>
                <a:latin typeface="Montserrat"/>
              </a:rPr>
              <a:t>Where ideas become designs</a:t>
            </a:r>
          </a:p>
        </p:txBody>
      </p:sp>
      <p:sp>
        <p:nvSpPr>
          <p:cNvPr id="6" name="Rectangle 5"/>
          <p:cNvSpPr/>
          <p:nvPr/>
        </p:nvSpPr>
        <p:spPr>
          <a:xfrm>
            <a:off x="7817937" y="30632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17937" y="3337560"/>
            <a:ext cx="3962278" cy="2926080"/>
          </a:xfrm>
          <a:prstGeom prst="rect">
            <a:avLst/>
          </a:prstGeom>
          <a:noFill/>
        </p:spPr>
        <p:txBody>
          <a:bodyPr wrap="square" anchor="t" lIns="0" rIns="0" tIns="0" bIns="0">
            <a:spAutoFit/>
          </a:bodyPr>
          <a:lstStyle/>
          <a:p>
            <a:pPr algn="l"/>
            <a:r>
              <a:rPr sz="1800" b="0">
                <a:solidFill>
                  <a:srgbClr val="FFFFFF"/>
                </a:solidFill>
                <a:latin typeface="Montserrat"/>
              </a:rPr>
              <a:t>Sketch, model, critique, repeat</a:t>
            </a:r>
          </a:p>
          <a:p>
            <a:pPr algn="l">
              <a:spcBef>
                <a:spcPts val="1000"/>
              </a:spcBef>
            </a:pPr>
            <a:r>
              <a:rPr sz="1800" b="0">
                <a:solidFill>
                  <a:srgbClr val="FFFFFF"/>
                </a:solidFill>
                <a:latin typeface="Montserrat"/>
              </a:rPr>
              <a:t>Learn in a cohort with your class year</a:t>
            </a:r>
          </a:p>
          <a:p>
            <a:pPr algn="l">
              <a:spcBef>
                <a:spcPts val="1000"/>
              </a:spcBef>
            </a:pPr>
            <a:r>
              <a:rPr sz="1800" b="0">
                <a:solidFill>
                  <a:srgbClr val="FFFFFF"/>
                </a:solidFill>
                <a:latin typeface="Montserrat"/>
              </a:rPr>
              <a:t>Small studios: about 15 students per instructor</a:t>
            </a:r>
          </a:p>
          <a:p>
            <a:pPr algn="l">
              <a:spcBef>
                <a:spcPts val="1000"/>
              </a:spcBef>
            </a:pPr>
            <a:r>
              <a:rPr sz="1800" b="0">
                <a:solidFill>
                  <a:srgbClr val="FFFFFF"/>
                </a:solidFill>
                <a:latin typeface="Montserrat"/>
              </a:rPr>
              <a:t>A faculty lead for every class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ro_screen.jpg"/>
          <p:cNvPicPr>
            <a:picLocks noChangeAspect="1"/>
          </p:cNvPicPr>
          <p:nvPr/>
        </p:nvPicPr>
        <p:blipFill>
          <a:blip r:embed="rId3"/>
          <a:srcRect l="17401" r="17401"/>
          <a:stretch>
            <a:fillRect/>
          </a:stretch>
        </p:blipFill>
        <p:spPr>
          <a:xfrm>
            <a:off x="0" y="0"/>
            <a:ext cx="6705295" cy="6858000"/>
          </a:xfrm>
          <a:prstGeom prst="rect">
            <a:avLst/>
          </a:prstGeom>
        </p:spPr>
      </p:pic>
      <p:sp>
        <p:nvSpPr>
          <p:cNvPr id="3" name="Rectangle 2"/>
          <p:cNvSpPr/>
          <p:nvPr/>
        </p:nvSpPr>
        <p:spPr>
          <a:xfrm>
            <a:off x="6705295" y="0"/>
            <a:ext cx="5486400"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53935"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TOOLS YOU'LL USE</a:t>
            </a:r>
          </a:p>
        </p:txBody>
      </p:sp>
      <p:sp>
        <p:nvSpPr>
          <p:cNvPr id="5" name="TextBox 4"/>
          <p:cNvSpPr txBox="1"/>
          <p:nvPr/>
        </p:nvSpPr>
        <p:spPr>
          <a:xfrm>
            <a:off x="7253935" y="1371600"/>
            <a:ext cx="4389120" cy="1371600"/>
          </a:xfrm>
          <a:prstGeom prst="rect">
            <a:avLst/>
          </a:prstGeom>
          <a:noFill/>
        </p:spPr>
        <p:txBody>
          <a:bodyPr wrap="square" anchor="t" lIns="0" rIns="0" tIns="0" bIns="0">
            <a:spAutoFit/>
          </a:bodyPr>
          <a:lstStyle/>
          <a:p>
            <a:pPr algn="l"/>
            <a:r>
              <a:rPr sz="3200" b="1">
                <a:solidFill>
                  <a:srgbClr val="FFFFFF"/>
                </a:solidFill>
                <a:latin typeface="Montserrat"/>
              </a:rPr>
              <a:t>High-tech. High-touch.</a:t>
            </a:r>
          </a:p>
        </p:txBody>
      </p:sp>
      <p:sp>
        <p:nvSpPr>
          <p:cNvPr id="6" name="Rectangle 5"/>
          <p:cNvSpPr/>
          <p:nvPr/>
        </p:nvSpPr>
        <p:spPr>
          <a:xfrm>
            <a:off x="7253935" y="27432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53935" y="3017520"/>
            <a:ext cx="4389120" cy="3474720"/>
          </a:xfrm>
          <a:prstGeom prst="rect">
            <a:avLst/>
          </a:prstGeom>
          <a:noFill/>
        </p:spPr>
        <p:txBody>
          <a:bodyPr wrap="square" anchor="t" lIns="0" rIns="0" tIns="0" bIns="0">
            <a:spAutoFit/>
          </a:bodyPr>
          <a:lstStyle/>
          <a:p>
            <a:pPr algn="l"/>
            <a:r>
              <a:rPr sz="1800" b="0">
                <a:solidFill>
                  <a:srgbClr val="FFFFFF"/>
                </a:solidFill>
                <a:latin typeface="Montserrat"/>
              </a:rPr>
              <a:t>Hand drawing &amp; model making</a:t>
            </a:r>
          </a:p>
          <a:p>
            <a:pPr algn="l">
              <a:spcBef>
                <a:spcPts val="1000"/>
              </a:spcBef>
            </a:pPr>
            <a:r>
              <a:rPr sz="1800" b="0">
                <a:solidFill>
                  <a:srgbClr val="FFFFFF"/>
                </a:solidFill>
                <a:latin typeface="Montserrat"/>
              </a:rPr>
              <a:t>AutoCAD Civil 3D, SketchUp, Adobe CC, Land F/X</a:t>
            </a:r>
          </a:p>
          <a:p>
            <a:pPr algn="l">
              <a:spcBef>
                <a:spcPts val="1000"/>
              </a:spcBef>
            </a:pPr>
            <a:r>
              <a:rPr sz="1800" b="0">
                <a:solidFill>
                  <a:srgbClr val="FFFFFF"/>
                </a:solidFill>
                <a:latin typeface="Montserrat"/>
              </a:rPr>
              <a:t>GIS mapping &amp; drone surveys</a:t>
            </a:r>
          </a:p>
          <a:p>
            <a:pPr algn="l">
              <a:spcBef>
                <a:spcPts val="1000"/>
              </a:spcBef>
            </a:pPr>
            <a:r>
              <a:rPr sz="1800" b="0">
                <a:solidFill>
                  <a:srgbClr val="FFFFFF"/>
                </a:solidFill>
                <a:latin typeface="Montserrat"/>
              </a:rPr>
              <a:t>3D digital twins &amp; AI site analysis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Our classroom has 1,000+ acres</a:t>
            </a:r>
          </a:p>
        </p:txBody>
      </p:sp>
      <p:pic>
        <p:nvPicPr>
          <p:cNvPr id="4" name="Picture 3" descr="farm_air.jpg"/>
          <p:cNvPicPr>
            <a:picLocks noChangeAspect="1"/>
          </p:cNvPicPr>
          <p:nvPr/>
        </p:nvPicPr>
        <p:blipFill>
          <a:blip r:embed="rId3"/>
          <a:srcRect t="8617" b="8617"/>
          <a:stretch>
            <a:fillRect/>
          </a:stretch>
        </p:blipFill>
        <p:spPr>
          <a:xfrm>
            <a:off x="0" y="1143000"/>
            <a:ext cx="6059271" cy="2820924"/>
          </a:xfrm>
          <a:prstGeom prst="rect">
            <a:avLst/>
          </a:prstGeom>
        </p:spPr>
      </p:pic>
      <p:sp>
        <p:nvSpPr>
          <p:cNvPr id="5" name="Rectangle 4"/>
          <p:cNvSpPr/>
          <p:nvPr/>
        </p:nvSpPr>
        <p:spPr>
          <a:xfrm>
            <a:off x="0" y="3396996"/>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3396996"/>
            <a:ext cx="5602071" cy="566928"/>
          </a:xfrm>
          <a:prstGeom prst="rect">
            <a:avLst/>
          </a:prstGeom>
          <a:noFill/>
        </p:spPr>
        <p:txBody>
          <a:bodyPr wrap="square" anchor="ctr" lIns="0" rIns="0" tIns="0" bIns="0">
            <a:spAutoFit/>
          </a:bodyPr>
          <a:lstStyle/>
          <a:p>
            <a:pPr algn="l"/>
            <a:r>
              <a:rPr sz="1800" b="1">
                <a:solidFill>
                  <a:srgbClr val="FFFFFF"/>
                </a:solidFill>
                <a:latin typeface="Montserrat"/>
              </a:rPr>
              <a:t>NC A&amp;T University Farm, Greensboro</a:t>
            </a:r>
          </a:p>
        </p:txBody>
      </p:sp>
      <p:pic>
        <p:nvPicPr>
          <p:cNvPr id="7" name="Picture 6" descr="farm_students.jpg"/>
          <p:cNvPicPr>
            <a:picLocks noChangeAspect="1"/>
          </p:cNvPicPr>
          <p:nvPr/>
        </p:nvPicPr>
        <p:blipFill>
          <a:blip r:embed="rId4"/>
          <a:srcRect l="18452" r="18452"/>
          <a:stretch>
            <a:fillRect/>
          </a:stretch>
        </p:blipFill>
        <p:spPr>
          <a:xfrm>
            <a:off x="6132423" y="1143000"/>
            <a:ext cx="6059271" cy="2820924"/>
          </a:xfrm>
          <a:prstGeom prst="rect">
            <a:avLst/>
          </a:prstGeom>
        </p:spPr>
      </p:pic>
      <p:sp>
        <p:nvSpPr>
          <p:cNvPr id="8" name="Rectangle 7"/>
          <p:cNvSpPr/>
          <p:nvPr/>
        </p:nvSpPr>
        <p:spPr>
          <a:xfrm>
            <a:off x="6132423" y="3396996"/>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61023" y="3396996"/>
            <a:ext cx="5602071" cy="566928"/>
          </a:xfrm>
          <a:prstGeom prst="rect">
            <a:avLst/>
          </a:prstGeom>
          <a:noFill/>
        </p:spPr>
        <p:txBody>
          <a:bodyPr wrap="square" anchor="ctr" lIns="0" rIns="0" tIns="0" bIns="0">
            <a:spAutoFit/>
          </a:bodyPr>
          <a:lstStyle/>
          <a:p>
            <a:pPr algn="l"/>
            <a:r>
              <a:rPr sz="1800" b="1">
                <a:solidFill>
                  <a:srgbClr val="FFFFFF"/>
                </a:solidFill>
                <a:latin typeface="Montserrat"/>
              </a:rPr>
              <a:t>Hands-on learning</a:t>
            </a:r>
          </a:p>
        </p:txBody>
      </p:sp>
      <p:pic>
        <p:nvPicPr>
          <p:cNvPr id="10" name="Picture 9" descr="farm_tractor.jpg"/>
          <p:cNvPicPr>
            <a:picLocks noChangeAspect="1"/>
          </p:cNvPicPr>
          <p:nvPr/>
        </p:nvPicPr>
        <p:blipFill>
          <a:blip r:embed="rId5"/>
          <a:srcRect t="8617" b="8617"/>
          <a:stretch>
            <a:fillRect/>
          </a:stretch>
        </p:blipFill>
        <p:spPr>
          <a:xfrm>
            <a:off x="0" y="4037076"/>
            <a:ext cx="6059271" cy="2820924"/>
          </a:xfrm>
          <a:prstGeom prst="rect">
            <a:avLst/>
          </a:prstGeom>
        </p:spPr>
      </p:pic>
      <p:sp>
        <p:nvSpPr>
          <p:cNvPr id="11" name="Rectangle 10"/>
          <p:cNvSpPr/>
          <p:nvPr/>
        </p:nvSpPr>
        <p:spPr>
          <a:xfrm>
            <a:off x="0" y="6291072"/>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6291072"/>
            <a:ext cx="5602071" cy="566928"/>
          </a:xfrm>
          <a:prstGeom prst="rect">
            <a:avLst/>
          </a:prstGeom>
          <a:noFill/>
        </p:spPr>
        <p:txBody>
          <a:bodyPr wrap="square" anchor="ctr" lIns="0" rIns="0" tIns="0" bIns="0">
            <a:spAutoFit/>
          </a:bodyPr>
          <a:lstStyle/>
          <a:p>
            <a:pPr algn="l"/>
            <a:r>
              <a:rPr sz="1800" b="1">
                <a:solidFill>
                  <a:srgbClr val="FFFFFF"/>
                </a:solidFill>
                <a:latin typeface="Montserrat"/>
              </a:rPr>
              <a:t>Working landscapes</a:t>
            </a:r>
          </a:p>
        </p:txBody>
      </p:sp>
      <p:pic>
        <p:nvPicPr>
          <p:cNvPr id="13" name="Picture 12" descr="farm_sign.jpg"/>
          <p:cNvPicPr>
            <a:picLocks noChangeAspect="1"/>
          </p:cNvPicPr>
          <p:nvPr/>
        </p:nvPicPr>
        <p:blipFill>
          <a:blip r:embed="rId6"/>
          <a:srcRect l="18452" r="18452"/>
          <a:stretch>
            <a:fillRect/>
          </a:stretch>
        </p:blipFill>
        <p:spPr>
          <a:xfrm>
            <a:off x="6132423" y="4037076"/>
            <a:ext cx="6059271" cy="2820924"/>
          </a:xfrm>
          <a:prstGeom prst="rect">
            <a:avLst/>
          </a:prstGeom>
        </p:spPr>
      </p:pic>
      <p:sp>
        <p:nvSpPr>
          <p:cNvPr id="14" name="Rectangle 13"/>
          <p:cNvSpPr/>
          <p:nvPr/>
        </p:nvSpPr>
        <p:spPr>
          <a:xfrm>
            <a:off x="6132423" y="6291072"/>
            <a:ext cx="6059271"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1023" y="6291072"/>
            <a:ext cx="5602071" cy="566928"/>
          </a:xfrm>
          <a:prstGeom prst="rect">
            <a:avLst/>
          </a:prstGeom>
          <a:noFill/>
        </p:spPr>
        <p:txBody>
          <a:bodyPr wrap="square" anchor="ctr" lIns="0" rIns="0" tIns="0" bIns="0">
            <a:spAutoFit/>
          </a:bodyPr>
          <a:lstStyle/>
          <a:p>
            <a:pPr algn="l"/>
            <a:r>
              <a:rPr sz="1800" b="1">
                <a:solidFill>
                  <a:srgbClr val="FFFFFF"/>
                </a:solidFill>
                <a:latin typeface="Montserrat"/>
              </a:rPr>
              <a:t>Real land, real research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43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731520"/>
          </a:xfrm>
          <a:prstGeom prst="rect">
            <a:avLst/>
          </a:prstGeom>
          <a:noFill/>
        </p:spPr>
        <p:txBody>
          <a:bodyPr wrap="square" anchor="ctr" lIns="0" rIns="0" tIns="0" bIns="0">
            <a:spAutoFit/>
          </a:bodyPr>
          <a:lstStyle/>
          <a:p>
            <a:pPr algn="l"/>
            <a:r>
              <a:rPr sz="3000" b="1">
                <a:solidFill>
                  <a:srgbClr val="FFFFFF"/>
                </a:solidFill>
                <a:latin typeface="Montserrat"/>
              </a:rPr>
              <a:t>Design it. Build it. Present it.</a:t>
            </a:r>
          </a:p>
        </p:txBody>
      </p:sp>
      <p:pic>
        <p:nvPicPr>
          <p:cNvPr id="4" name="Picture 3" descr="s_model.jpg"/>
          <p:cNvPicPr>
            <a:picLocks noChangeAspect="1"/>
          </p:cNvPicPr>
          <p:nvPr/>
        </p:nvPicPr>
        <p:blipFill>
          <a:blip r:embed="rId3"/>
          <a:srcRect l="26581" r="26581"/>
          <a:stretch>
            <a:fillRect/>
          </a:stretch>
        </p:blipFill>
        <p:spPr>
          <a:xfrm>
            <a:off x="0" y="1143000"/>
            <a:ext cx="4015130" cy="5715000"/>
          </a:xfrm>
          <a:prstGeom prst="rect">
            <a:avLst/>
          </a:prstGeom>
        </p:spPr>
      </p:pic>
      <p:sp>
        <p:nvSpPr>
          <p:cNvPr id="5" name="Rectangle 4"/>
          <p:cNvSpPr/>
          <p:nvPr/>
        </p:nvSpPr>
        <p:spPr>
          <a:xfrm>
            <a:off x="0"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Design it: model by hand</a:t>
            </a:r>
          </a:p>
        </p:txBody>
      </p:sp>
      <p:pic>
        <p:nvPicPr>
          <p:cNvPr id="7" name="Picture 6" descr="s_build.jpg"/>
          <p:cNvPicPr>
            <a:picLocks noChangeAspect="1"/>
          </p:cNvPicPr>
          <p:nvPr/>
        </p:nvPicPr>
        <p:blipFill>
          <a:blip r:embed="rId4"/>
          <a:srcRect l="26581" r="26581"/>
          <a:stretch>
            <a:fillRect/>
          </a:stretch>
        </p:blipFill>
        <p:spPr>
          <a:xfrm>
            <a:off x="4088282" y="1143000"/>
            <a:ext cx="4015130" cy="5715000"/>
          </a:xfrm>
          <a:prstGeom prst="rect">
            <a:avLst/>
          </a:prstGeom>
        </p:spPr>
      </p:pic>
      <p:sp>
        <p:nvSpPr>
          <p:cNvPr id="8" name="Rectangle 7"/>
          <p:cNvSpPr/>
          <p:nvPr/>
        </p:nvSpPr>
        <p:spPr>
          <a:xfrm>
            <a:off x="4088282"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16882"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Build it: on campus, as a team</a:t>
            </a:r>
          </a:p>
        </p:txBody>
      </p:sp>
      <p:pic>
        <p:nvPicPr>
          <p:cNvPr id="10" name="Picture 9" descr="db_present.jpg"/>
          <p:cNvPicPr>
            <a:picLocks noChangeAspect="1"/>
          </p:cNvPicPr>
          <p:nvPr/>
        </p:nvPicPr>
        <p:blipFill>
          <a:blip r:embed="rId5"/>
          <a:srcRect l="26576" r="26576"/>
          <a:stretch>
            <a:fillRect/>
          </a:stretch>
        </p:blipFill>
        <p:spPr>
          <a:xfrm>
            <a:off x="8176564" y="1143000"/>
            <a:ext cx="4015130" cy="5715000"/>
          </a:xfrm>
          <a:prstGeom prst="rect">
            <a:avLst/>
          </a:prstGeom>
        </p:spPr>
      </p:pic>
      <p:sp>
        <p:nvSpPr>
          <p:cNvPr id="11" name="Rectangle 10"/>
          <p:cNvSpPr/>
          <p:nvPr/>
        </p:nvSpPr>
        <p:spPr>
          <a:xfrm>
            <a:off x="8176564" y="6291072"/>
            <a:ext cx="4015130" cy="566928"/>
          </a:xfrm>
          <a:prstGeom prst="rect">
            <a:avLst/>
          </a:prstGeom>
          <a:solidFill>
            <a:srgbClr val="004684">
              <a:alpha val="8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05164" y="6291072"/>
            <a:ext cx="3557930" cy="566928"/>
          </a:xfrm>
          <a:prstGeom prst="rect">
            <a:avLst/>
          </a:prstGeom>
          <a:noFill/>
        </p:spPr>
        <p:txBody>
          <a:bodyPr wrap="square" anchor="ctr" lIns="0" rIns="0" tIns="0" bIns="0">
            <a:spAutoFit/>
          </a:bodyPr>
          <a:lstStyle/>
          <a:p>
            <a:pPr algn="l"/>
            <a:r>
              <a:rPr sz="1800" b="1">
                <a:solidFill>
                  <a:srgbClr val="FFFFFF"/>
                </a:solidFill>
                <a:latin typeface="Montserrat"/>
              </a:rPr>
              <a:t>Present it: to the pros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CAREERS</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Where this degree can take you</a:t>
            </a:r>
          </a:p>
        </p:txBody>
      </p:sp>
      <p:sp>
        <p:nvSpPr>
          <p:cNvPr id="5" name="Rounded Rectangle 4"/>
          <p:cNvSpPr/>
          <p:nvPr/>
        </p:nvSpPr>
        <p:spPr>
          <a:xfrm>
            <a:off x="64008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Design firms</a:t>
            </a:r>
          </a:p>
        </p:txBody>
      </p:sp>
      <p:sp>
        <p:nvSpPr>
          <p:cNvPr id="7" name="Rounded Rectangle 6"/>
          <p:cNvSpPr/>
          <p:nvPr/>
        </p:nvSpPr>
        <p:spPr>
          <a:xfrm>
            <a:off x="3429000"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City &amp; county planning</a:t>
            </a:r>
          </a:p>
        </p:txBody>
      </p:sp>
      <p:sp>
        <p:nvSpPr>
          <p:cNvPr id="9" name="Rounded Rectangle 8"/>
          <p:cNvSpPr/>
          <p:nvPr/>
        </p:nvSpPr>
        <p:spPr>
          <a:xfrm>
            <a:off x="6217920" y="256032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56032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State DOT</a:t>
            </a:r>
          </a:p>
        </p:txBody>
      </p:sp>
      <p:sp>
        <p:nvSpPr>
          <p:cNvPr id="11" name="Rounded Rectangle 10"/>
          <p:cNvSpPr/>
          <p:nvPr/>
        </p:nvSpPr>
        <p:spPr>
          <a:xfrm>
            <a:off x="9006839" y="256032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89719" y="256032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National Park Service</a:t>
            </a:r>
          </a:p>
        </p:txBody>
      </p:sp>
      <p:sp>
        <p:nvSpPr>
          <p:cNvPr id="13" name="Rounded Rectangle 12"/>
          <p:cNvSpPr/>
          <p:nvPr/>
        </p:nvSpPr>
        <p:spPr>
          <a:xfrm>
            <a:off x="64008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USDA &amp; conservation</a:t>
            </a:r>
          </a:p>
        </p:txBody>
      </p:sp>
      <p:sp>
        <p:nvSpPr>
          <p:cNvPr id="15" name="Rounded Rectangle 14"/>
          <p:cNvSpPr/>
          <p:nvPr/>
        </p:nvSpPr>
        <p:spPr>
          <a:xfrm>
            <a:off x="3429000"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Developers &amp; builders</a:t>
            </a:r>
          </a:p>
        </p:txBody>
      </p:sp>
      <p:sp>
        <p:nvSpPr>
          <p:cNvPr id="17" name="Rounded Rectangle 16"/>
          <p:cNvSpPr/>
          <p:nvPr/>
        </p:nvSpPr>
        <p:spPr>
          <a:xfrm>
            <a:off x="6217920" y="3794760"/>
            <a:ext cx="2514600" cy="100584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3794760"/>
            <a:ext cx="2148840" cy="1005840"/>
          </a:xfrm>
          <a:prstGeom prst="rect">
            <a:avLst/>
          </a:prstGeom>
          <a:noFill/>
        </p:spPr>
        <p:txBody>
          <a:bodyPr wrap="square" anchor="ctr" lIns="0" rIns="0" tIns="0" bIns="0">
            <a:spAutoFit/>
          </a:bodyPr>
          <a:lstStyle/>
          <a:p>
            <a:pPr algn="ctr"/>
            <a:r>
              <a:rPr sz="1800" b="1">
                <a:solidFill>
                  <a:srgbClr val="FFFFFF"/>
                </a:solidFill>
                <a:latin typeface="Montserrat"/>
              </a:rPr>
              <a:t>Campus planning</a:t>
            </a:r>
          </a:p>
        </p:txBody>
      </p:sp>
      <p:sp>
        <p:nvSpPr>
          <p:cNvPr id="19" name="Rounded Rectangle 18"/>
          <p:cNvSpPr/>
          <p:nvPr/>
        </p:nvSpPr>
        <p:spPr>
          <a:xfrm>
            <a:off x="9006839" y="3794760"/>
            <a:ext cx="2514600" cy="100584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19" y="3794760"/>
            <a:ext cx="2148840" cy="1005840"/>
          </a:xfrm>
          <a:prstGeom prst="rect">
            <a:avLst/>
          </a:prstGeom>
          <a:noFill/>
        </p:spPr>
        <p:txBody>
          <a:bodyPr wrap="square" anchor="ctr" lIns="0" rIns="0" tIns="0" bIns="0">
            <a:spAutoFit/>
          </a:bodyPr>
          <a:lstStyle/>
          <a:p>
            <a:pPr algn="ctr"/>
            <a:r>
              <a:rPr sz="1800" b="1">
                <a:solidFill>
                  <a:srgbClr val="004684"/>
                </a:solidFill>
                <a:latin typeface="Montserrat"/>
              </a:rPr>
              <a:t>Start your own firm</a:t>
            </a:r>
          </a:p>
        </p:txBody>
      </p:sp>
      <p:sp>
        <p:nvSpPr>
          <p:cNvPr id="21" name="TextBox 20"/>
          <p:cNvSpPr txBox="1"/>
          <p:nvPr/>
        </p:nvSpPr>
        <p:spPr>
          <a:xfrm>
            <a:off x="640080" y="5257800"/>
            <a:ext cx="10972800" cy="548640"/>
          </a:xfrm>
          <a:prstGeom prst="rect">
            <a:avLst/>
          </a:prstGeom>
          <a:noFill/>
        </p:spPr>
        <p:txBody>
          <a:bodyPr wrap="square" anchor="t" lIns="0" rIns="0" tIns="0" bIns="0">
            <a:spAutoFit/>
          </a:bodyPr>
          <a:lstStyle/>
          <a:p>
            <a:pPr algn="l"/>
            <a:r>
              <a:rPr sz="2000" b="1">
                <a:solidFill>
                  <a:srgbClr val="1F2937"/>
                </a:solidFill>
                <a:latin typeface="Montserrat"/>
              </a:rPr>
              <a:t>A licensed profession in all 50 states.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_money.jpg"/>
          <p:cNvPicPr>
            <a:picLocks noChangeAspect="1"/>
          </p:cNvPicPr>
          <p:nvPr/>
        </p:nvPicPr>
        <p:blipFill>
          <a:blip r:embed="rId3"/>
          <a:srcRect l="32686" r="32686"/>
          <a:stretch>
            <a:fillRect/>
          </a:stretch>
        </p:blipFill>
        <p:spPr>
          <a:xfrm>
            <a:off x="6095847" y="0"/>
            <a:ext cx="6095847" cy="6858000"/>
          </a:xfrm>
          <a:prstGeom prst="rect">
            <a:avLst/>
          </a:prstGeom>
        </p:spPr>
      </p:pic>
      <p:sp>
        <p:nvSpPr>
          <p:cNvPr id="3" name="Rectangle 2"/>
          <p:cNvSpPr/>
          <p:nvPr/>
        </p:nvSpPr>
        <p:spPr>
          <a:xfrm>
            <a:off x="0" y="0"/>
            <a:ext cx="6095847"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822960"/>
            <a:ext cx="7315200" cy="365760"/>
          </a:xfrm>
          <a:prstGeom prst="rect">
            <a:avLst/>
          </a:prstGeom>
          <a:noFill/>
        </p:spPr>
        <p:txBody>
          <a:bodyPr wrap="square" anchor="t" lIns="0" rIns="0" tIns="0" bIns="0">
            <a:spAutoFit/>
          </a:bodyPr>
          <a:lstStyle/>
          <a:p>
            <a:pPr algn="l"/>
            <a:r>
              <a:rPr sz="1400" b="1">
                <a:solidFill>
                  <a:srgbClr val="FDB931"/>
                </a:solidFill>
                <a:latin typeface="Montserrat"/>
              </a:rPr>
              <a:t>IS THERE MONEY IN IT?</a:t>
            </a:r>
          </a:p>
        </p:txBody>
      </p:sp>
      <p:sp>
        <p:nvSpPr>
          <p:cNvPr id="5" name="TextBox 4"/>
          <p:cNvSpPr txBox="1"/>
          <p:nvPr/>
        </p:nvSpPr>
        <p:spPr>
          <a:xfrm>
            <a:off x="640080" y="1280160"/>
            <a:ext cx="5120640" cy="1463040"/>
          </a:xfrm>
          <a:prstGeom prst="rect">
            <a:avLst/>
          </a:prstGeom>
          <a:noFill/>
        </p:spPr>
        <p:txBody>
          <a:bodyPr wrap="square" anchor="t" lIns="0" rIns="0" tIns="0" bIns="0">
            <a:spAutoFit/>
          </a:bodyPr>
          <a:lstStyle/>
          <a:p>
            <a:pPr algn="l"/>
            <a:r>
              <a:rPr sz="7200" b="1">
                <a:solidFill>
                  <a:srgbClr val="FDB931"/>
                </a:solidFill>
                <a:latin typeface="Montserrat"/>
              </a:rPr>
              <a:t>$79,660</a:t>
            </a:r>
          </a:p>
        </p:txBody>
      </p:sp>
      <p:sp>
        <p:nvSpPr>
          <p:cNvPr id="6" name="TextBox 5"/>
          <p:cNvSpPr txBox="1"/>
          <p:nvPr/>
        </p:nvSpPr>
        <p:spPr>
          <a:xfrm>
            <a:off x="640080" y="2606040"/>
            <a:ext cx="5120640" cy="731520"/>
          </a:xfrm>
          <a:prstGeom prst="rect">
            <a:avLst/>
          </a:prstGeom>
          <a:noFill/>
        </p:spPr>
        <p:txBody>
          <a:bodyPr wrap="square" anchor="t" lIns="0" rIns="0" tIns="0" bIns="0">
            <a:spAutoFit/>
          </a:bodyPr>
          <a:lstStyle/>
          <a:p>
            <a:pPr algn="l"/>
            <a:r>
              <a:rPr sz="1800" b="0">
                <a:solidFill>
                  <a:srgbClr val="FFFFFF"/>
                </a:solidFill>
                <a:latin typeface="Montserrat"/>
              </a:rPr>
              <a:t>Median annual pay for landscape architects (2024)</a:t>
            </a:r>
          </a:p>
        </p:txBody>
      </p:sp>
      <p:sp>
        <p:nvSpPr>
          <p:cNvPr id="7" name="Rectangle 6"/>
          <p:cNvSpPr/>
          <p:nvPr/>
        </p:nvSpPr>
        <p:spPr>
          <a:xfrm>
            <a:off x="640080" y="3520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94760"/>
            <a:ext cx="5120640" cy="2286000"/>
          </a:xfrm>
          <a:prstGeom prst="rect">
            <a:avLst/>
          </a:prstGeom>
          <a:noFill/>
        </p:spPr>
        <p:txBody>
          <a:bodyPr wrap="square" anchor="t" lIns="0" rIns="0" tIns="0" bIns="0">
            <a:spAutoFit/>
          </a:bodyPr>
          <a:lstStyle/>
          <a:p>
            <a:pPr algn="l"/>
            <a:r>
              <a:rPr sz="1800" b="0">
                <a:solidFill>
                  <a:srgbClr val="FFFFFF"/>
                </a:solidFill>
                <a:latin typeface="Montserrat"/>
              </a:rPr>
              <a:t>~1,700 job openings every year</a:t>
            </a:r>
          </a:p>
          <a:p>
            <a:pPr algn="l">
              <a:spcBef>
                <a:spcPts val="1000"/>
              </a:spcBef>
            </a:pPr>
            <a:r>
              <a:rPr sz="1800" b="0">
                <a:solidFill>
                  <a:srgbClr val="FFFFFF"/>
                </a:solidFill>
                <a:latin typeface="Montserrat"/>
              </a:rPr>
              <a:t>Licensed in all 50 states</a:t>
            </a:r>
          </a:p>
          <a:p>
            <a:pPr algn="l">
              <a:spcBef>
                <a:spcPts val="1000"/>
              </a:spcBef>
            </a:pPr>
            <a:r>
              <a:rPr sz="1800" b="0">
                <a:solidFill>
                  <a:srgbClr val="FFFFFF"/>
                </a:solidFill>
                <a:latin typeface="Montserrat"/>
              </a:rPr>
              <a:t>Earn more with licensure, experience or your own firm</a:t>
            </a:r>
          </a:p>
        </p:txBody>
      </p:sp>
      <p:sp>
        <p:nvSpPr>
          <p:cNvPr id="9" name="TextBox 8"/>
          <p:cNvSpPr txBox="1"/>
          <p:nvPr/>
        </p:nvSpPr>
        <p:spPr>
          <a:xfrm>
            <a:off x="640080" y="6217920"/>
            <a:ext cx="5120640" cy="365760"/>
          </a:xfrm>
          <a:prstGeom prst="rect">
            <a:avLst/>
          </a:prstGeom>
          <a:noFill/>
        </p:spPr>
        <p:txBody>
          <a:bodyPr wrap="square" anchor="t" lIns="0" rIns="0" tIns="0" bIns="0">
            <a:spAutoFit/>
          </a:bodyPr>
          <a:lstStyle/>
          <a:p>
            <a:pPr algn="l"/>
            <a:r>
              <a:rPr sz="1100" b="0">
                <a:solidFill>
                  <a:srgbClr val="FFFFFF"/>
                </a:solidFill>
                <a:latin typeface="Montserrat"/>
              </a:rPr>
              <a:t>Source: U.S. Bureau of Labor Statistics, Occupational Outlook Handbook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7315200" cy="365760"/>
          </a:xfrm>
          <a:prstGeom prst="rect">
            <a:avLst/>
          </a:prstGeom>
          <a:noFill/>
        </p:spPr>
        <p:txBody>
          <a:bodyPr wrap="square" anchor="t" lIns="0" rIns="0" tIns="0" bIns="0">
            <a:spAutoFit/>
          </a:bodyPr>
          <a:lstStyle/>
          <a:p>
            <a:pPr algn="l"/>
            <a:r>
              <a:rPr sz="1400" b="1">
                <a:solidFill>
                  <a:srgbClr val="004684"/>
                </a:solidFill>
                <a:latin typeface="Montserrat"/>
              </a:rPr>
              <a:t>YOUR PATH</a:t>
            </a:r>
          </a:p>
        </p:txBody>
      </p:sp>
      <p:sp>
        <p:nvSpPr>
          <p:cNvPr id="4" name="TextBox 3"/>
          <p:cNvSpPr txBox="1"/>
          <p:nvPr/>
        </p:nvSpPr>
        <p:spPr>
          <a:xfrm>
            <a:off x="640080" y="1572768"/>
            <a:ext cx="10972800" cy="822960"/>
          </a:xfrm>
          <a:prstGeom prst="rect">
            <a:avLst/>
          </a:prstGeom>
          <a:noFill/>
        </p:spPr>
        <p:txBody>
          <a:bodyPr wrap="square" anchor="t" lIns="0" rIns="0" tIns="0" bIns="0">
            <a:spAutoFit/>
          </a:bodyPr>
          <a:lstStyle/>
          <a:p>
            <a:pPr algn="l"/>
            <a:r>
              <a:rPr sz="3400" b="1">
                <a:solidFill>
                  <a:srgbClr val="004684"/>
                </a:solidFill>
                <a:latin typeface="Montserrat"/>
              </a:rPr>
              <a:t>Two ways in</a:t>
            </a:r>
          </a:p>
        </p:txBody>
      </p:sp>
      <p:sp>
        <p:nvSpPr>
          <p:cNvPr id="5" name="Rounded Rectangle 4"/>
          <p:cNvSpPr/>
          <p:nvPr/>
        </p:nvSpPr>
        <p:spPr>
          <a:xfrm>
            <a:off x="640080" y="2468880"/>
            <a:ext cx="5303520" cy="3383280"/>
          </a:xfrm>
          <a:prstGeom prst="round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697480"/>
            <a:ext cx="4572000" cy="640080"/>
          </a:xfrm>
          <a:prstGeom prst="rect">
            <a:avLst/>
          </a:prstGeom>
          <a:noFill/>
        </p:spPr>
        <p:txBody>
          <a:bodyPr wrap="square" anchor="t" lIns="0" rIns="0" tIns="0" bIns="0">
            <a:spAutoFit/>
          </a:bodyPr>
          <a:lstStyle/>
          <a:p>
            <a:pPr algn="l"/>
            <a:r>
              <a:rPr sz="2200" b="1">
                <a:solidFill>
                  <a:srgbClr val="FFFFFF"/>
                </a:solidFill>
                <a:latin typeface="Montserrat"/>
              </a:rPr>
              <a:t>High school students</a:t>
            </a:r>
          </a:p>
        </p:txBody>
      </p:sp>
      <p:sp>
        <p:nvSpPr>
          <p:cNvPr id="7" name="TextBox 6"/>
          <p:cNvSpPr txBox="1"/>
          <p:nvPr/>
        </p:nvSpPr>
        <p:spPr>
          <a:xfrm>
            <a:off x="1005840" y="3429000"/>
            <a:ext cx="4572000" cy="2286000"/>
          </a:xfrm>
          <a:prstGeom prst="rect">
            <a:avLst/>
          </a:prstGeom>
          <a:noFill/>
        </p:spPr>
        <p:txBody>
          <a:bodyPr wrap="square" anchor="t" lIns="0" rIns="0" tIns="0" bIns="0">
            <a:spAutoFit/>
          </a:bodyPr>
          <a:lstStyle/>
          <a:p>
            <a:pPr algn="l">
              <a:spcBef>
                <a:spcPts val="0"/>
              </a:spcBef>
            </a:pPr>
            <a:r>
              <a:rPr sz="1700" b="0">
                <a:solidFill>
                  <a:srgbClr val="FFFFFF"/>
                </a:solidFill>
                <a:latin typeface="Montserrat"/>
              </a:rPr>
              <a:t>Take art, drafting/CAD, biology &amp; geometry</a:t>
            </a:r>
          </a:p>
          <a:p>
            <a:pPr algn="l">
              <a:spcBef>
                <a:spcPts val="1000"/>
              </a:spcBef>
            </a:pPr>
            <a:r>
              <a:rPr sz="1700" b="0">
                <a:solidFill>
                  <a:srgbClr val="FFFFFF"/>
                </a:solidFill>
                <a:latin typeface="Montserrat"/>
              </a:rPr>
              <a:t>Sketch the places around you</a:t>
            </a:r>
          </a:p>
          <a:p>
            <a:pPr algn="l">
              <a:spcBef>
                <a:spcPts val="1000"/>
              </a:spcBef>
            </a:pPr>
            <a:r>
              <a:rPr sz="1700" b="0">
                <a:solidFill>
                  <a:srgbClr val="FFFFFF"/>
                </a:solidFill>
                <a:latin typeface="Montserrat"/>
              </a:rPr>
              <a:t>Apply to A&amp;T: BS in Landscape Architecture</a:t>
            </a:r>
          </a:p>
        </p:txBody>
      </p:sp>
      <p:sp>
        <p:nvSpPr>
          <p:cNvPr id="8" name="Rounded Rectangle 7"/>
          <p:cNvSpPr/>
          <p:nvPr/>
        </p:nvSpPr>
        <p:spPr>
          <a:xfrm>
            <a:off x="6217920" y="2468880"/>
            <a:ext cx="5303520" cy="3383280"/>
          </a:xfrm>
          <a:prstGeom prst="round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2697480"/>
            <a:ext cx="4572000" cy="640080"/>
          </a:xfrm>
          <a:prstGeom prst="rect">
            <a:avLst/>
          </a:prstGeom>
          <a:noFill/>
        </p:spPr>
        <p:txBody>
          <a:bodyPr wrap="square" anchor="t" lIns="0" rIns="0" tIns="0" bIns="0">
            <a:spAutoFit/>
          </a:bodyPr>
          <a:lstStyle/>
          <a:p>
            <a:pPr algn="l"/>
            <a:r>
              <a:rPr sz="2200" b="1">
                <a:solidFill>
                  <a:srgbClr val="004684"/>
                </a:solidFill>
                <a:latin typeface="Montserrat"/>
              </a:rPr>
              <a:t>Community college students</a:t>
            </a:r>
          </a:p>
        </p:txBody>
      </p:sp>
      <p:sp>
        <p:nvSpPr>
          <p:cNvPr id="10" name="TextBox 9"/>
          <p:cNvSpPr txBox="1"/>
          <p:nvPr/>
        </p:nvSpPr>
        <p:spPr>
          <a:xfrm>
            <a:off x="6583680" y="3429000"/>
            <a:ext cx="4572000" cy="2286000"/>
          </a:xfrm>
          <a:prstGeom prst="rect">
            <a:avLst/>
          </a:prstGeom>
          <a:noFill/>
        </p:spPr>
        <p:txBody>
          <a:bodyPr wrap="square" anchor="t" lIns="0" rIns="0" tIns="0" bIns="0">
            <a:spAutoFit/>
          </a:bodyPr>
          <a:lstStyle/>
          <a:p>
            <a:pPr algn="l">
              <a:spcBef>
                <a:spcPts val="0"/>
              </a:spcBef>
            </a:pPr>
            <a:r>
              <a:rPr sz="1700" b="0">
                <a:solidFill>
                  <a:srgbClr val="004684"/>
                </a:solidFill>
                <a:latin typeface="Montserrat"/>
              </a:rPr>
              <a:t>Transfer into our studio sequence</a:t>
            </a:r>
          </a:p>
          <a:p>
            <a:pPr algn="l">
              <a:spcBef>
                <a:spcPts val="1000"/>
              </a:spcBef>
            </a:pPr>
            <a:r>
              <a:rPr sz="1700" b="0">
                <a:solidFill>
                  <a:srgbClr val="004684"/>
                </a:solidFill>
                <a:latin typeface="Montserrat"/>
              </a:rPr>
              <a:t>7 transfer students joined us this fall</a:t>
            </a:r>
          </a:p>
          <a:p>
            <a:pPr algn="l">
              <a:spcBef>
                <a:spcPts val="1000"/>
              </a:spcBef>
            </a:pPr>
            <a:r>
              <a:rPr sz="1700" b="0">
                <a:solidFill>
                  <a:srgbClr val="004684"/>
                </a:solidFill>
                <a:latin typeface="Montserrat"/>
              </a:rPr>
              <a:t>Talk to us early so your credits line 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rew.jpg"/>
          <p:cNvPicPr>
            <a:picLocks noChangeAspect="1"/>
          </p:cNvPicPr>
          <p:nvPr/>
        </p:nvPicPr>
        <p:blipFill>
          <a:blip r:embed="rId3"/>
          <a:srcRect l="13188" r="13188"/>
          <a:stretch>
            <a:fillRect/>
          </a:stretch>
        </p:blipFill>
        <p:spPr>
          <a:xfrm>
            <a:off x="0" y="0"/>
            <a:ext cx="6705432" cy="6858000"/>
          </a:xfrm>
          <a:prstGeom prst="rect">
            <a:avLst/>
          </a:prstGeom>
        </p:spPr>
      </p:pic>
      <p:sp>
        <p:nvSpPr>
          <p:cNvPr id="3" name="Rectangle 2"/>
          <p:cNvSpPr/>
          <p:nvPr/>
        </p:nvSpPr>
        <p:spPr>
          <a:xfrm>
            <a:off x="6705432" y="0"/>
            <a:ext cx="5486262" cy="6858000"/>
          </a:xfrm>
          <a:prstGeom prst="rect">
            <a:avLst/>
          </a:prstGeom>
          <a:solidFill>
            <a:srgbClr val="0046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08352" y="914400"/>
            <a:ext cx="7315200" cy="365760"/>
          </a:xfrm>
          <a:prstGeom prst="rect">
            <a:avLst/>
          </a:prstGeom>
          <a:noFill/>
        </p:spPr>
        <p:txBody>
          <a:bodyPr wrap="square" anchor="t" lIns="0" rIns="0" tIns="0" bIns="0">
            <a:spAutoFit/>
          </a:bodyPr>
          <a:lstStyle/>
          <a:p>
            <a:pPr algn="l"/>
            <a:r>
              <a:rPr sz="1400" b="1">
                <a:solidFill>
                  <a:srgbClr val="FDB931"/>
                </a:solidFill>
                <a:latin typeface="Montserrat"/>
              </a:rPr>
              <a:t>WHY A&amp;T</a:t>
            </a:r>
          </a:p>
        </p:txBody>
      </p:sp>
      <p:sp>
        <p:nvSpPr>
          <p:cNvPr id="5" name="TextBox 4"/>
          <p:cNvSpPr txBox="1"/>
          <p:nvPr/>
        </p:nvSpPr>
        <p:spPr>
          <a:xfrm>
            <a:off x="7208352" y="1371600"/>
            <a:ext cx="4571862" cy="914400"/>
          </a:xfrm>
          <a:prstGeom prst="rect">
            <a:avLst/>
          </a:prstGeom>
          <a:noFill/>
        </p:spPr>
        <p:txBody>
          <a:bodyPr wrap="square" anchor="t" lIns="0" rIns="0" tIns="0" bIns="0">
            <a:spAutoFit/>
          </a:bodyPr>
          <a:lstStyle/>
          <a:p>
            <a:pPr algn="l"/>
            <a:r>
              <a:rPr sz="3600" b="1">
                <a:solidFill>
                  <a:srgbClr val="FFFFFF"/>
                </a:solidFill>
                <a:latin typeface="Montserrat"/>
              </a:rPr>
              <a:t>Aggies Do.</a:t>
            </a:r>
          </a:p>
        </p:txBody>
      </p:sp>
      <p:sp>
        <p:nvSpPr>
          <p:cNvPr id="6" name="Rectangle 5"/>
          <p:cNvSpPr/>
          <p:nvPr/>
        </p:nvSpPr>
        <p:spPr>
          <a:xfrm>
            <a:off x="7208352" y="237744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08352" y="2651760"/>
            <a:ext cx="4571862" cy="3840480"/>
          </a:xfrm>
          <a:prstGeom prst="rect">
            <a:avLst/>
          </a:prstGeom>
          <a:noFill/>
        </p:spPr>
        <p:txBody>
          <a:bodyPr wrap="square" anchor="t" lIns="0" rIns="0" tIns="0" bIns="0">
            <a:spAutoFit/>
          </a:bodyPr>
          <a:lstStyle/>
          <a:p>
            <a:pPr algn="l"/>
            <a:r>
              <a:rPr sz="1800" b="0">
                <a:solidFill>
                  <a:srgbClr val="FFFFFF"/>
                </a:solidFill>
                <a:latin typeface="Montserrat"/>
              </a:rPr>
              <a:t>The nation's largest HBCU</a:t>
            </a:r>
          </a:p>
          <a:p>
            <a:pPr algn="l">
              <a:spcBef>
                <a:spcPts val="1000"/>
              </a:spcBef>
            </a:pPr>
            <a:r>
              <a:rPr sz="1800" b="0">
                <a:solidFill>
                  <a:srgbClr val="FFFFFF"/>
                </a:solidFill>
                <a:latin typeface="Montserrat"/>
              </a:rPr>
              <a:t>The only accredited BSLA at an HBCU</a:t>
            </a:r>
          </a:p>
          <a:p>
            <a:pPr algn="l">
              <a:spcBef>
                <a:spcPts val="1000"/>
              </a:spcBef>
            </a:pPr>
            <a:r>
              <a:rPr sz="1800" b="0">
                <a:solidFill>
                  <a:srgbClr val="FFFFFF"/>
                </a:solidFill>
                <a:latin typeface="Montserrat"/>
              </a:rPr>
              <a:t>Small studios, faculty who know you</a:t>
            </a:r>
          </a:p>
          <a:p>
            <a:pPr algn="l">
              <a:spcBef>
                <a:spcPts val="1000"/>
              </a:spcBef>
            </a:pPr>
            <a:r>
              <a:rPr sz="1800" b="0">
                <a:solidFill>
                  <a:srgbClr val="FFFFFF"/>
                </a:solidFill>
                <a:latin typeface="Montserrat"/>
              </a:rPr>
              <a:t>Real land, real projects, real communities</a:t>
            </a:r>
          </a:p>
          <a:p>
            <a:pPr algn="l">
              <a:spcBef>
                <a:spcPts val="1000"/>
              </a:spcBef>
            </a:pPr>
            <a:r>
              <a:rPr sz="1800" b="0">
                <a:solidFill>
                  <a:srgbClr val="FFFFFF"/>
                </a:solidFill>
                <a:latin typeface="Montserrat"/>
              </a:rPr>
              <a:t>Scholarships, including NCASLA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urtyard.jpg"/>
          <p:cNvPicPr>
            <a:picLocks noChangeAspect="1"/>
          </p:cNvPicPr>
          <p:nvPr/>
        </p:nvPicPr>
        <p:blipFill>
          <a:blip r:embed="rId3"/>
          <a:srcRect t="1297" b="1297"/>
          <a:stretch>
            <a:fillRect/>
          </a:stretch>
        </p:blipFill>
        <p:spPr>
          <a:xfrm>
            <a:off x="0" y="0"/>
            <a:ext cx="12191695" cy="6858000"/>
          </a:xfrm>
          <a:prstGeom prst="rect">
            <a:avLst/>
          </a:prstGeom>
        </p:spPr>
      </p:pic>
      <p:sp>
        <p:nvSpPr>
          <p:cNvPr id="3" name="Rectangle 2"/>
          <p:cNvSpPr/>
          <p:nvPr/>
        </p:nvSpPr>
        <p:spPr>
          <a:xfrm>
            <a:off x="0" y="0"/>
            <a:ext cx="6949440" cy="6858000"/>
          </a:xfrm>
          <a:prstGeom prst="rect">
            <a:avLst/>
          </a:prstGeom>
          <a:solidFill>
            <a:srgbClr val="004684">
              <a:alpha val="9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7315200" cy="365760"/>
          </a:xfrm>
          <a:prstGeom prst="rect">
            <a:avLst/>
          </a:prstGeom>
          <a:noFill/>
        </p:spPr>
        <p:txBody>
          <a:bodyPr wrap="square" anchor="t" lIns="0" rIns="0" tIns="0" bIns="0">
            <a:spAutoFit/>
          </a:bodyPr>
          <a:lstStyle/>
          <a:p>
            <a:pPr algn="l"/>
            <a:r>
              <a:rPr sz="1400" b="1">
                <a:solidFill>
                  <a:srgbClr val="FDB931"/>
                </a:solidFill>
                <a:latin typeface="Montserrat"/>
              </a:rPr>
              <a:t>LET'S CONNECT</a:t>
            </a:r>
          </a:p>
        </p:txBody>
      </p:sp>
      <p:sp>
        <p:nvSpPr>
          <p:cNvPr id="5" name="TextBox 4"/>
          <p:cNvSpPr txBox="1"/>
          <p:nvPr/>
        </p:nvSpPr>
        <p:spPr>
          <a:xfrm>
            <a:off x="822960" y="1737360"/>
            <a:ext cx="5852160" cy="1097280"/>
          </a:xfrm>
          <a:prstGeom prst="rect">
            <a:avLst/>
          </a:prstGeom>
          <a:noFill/>
        </p:spPr>
        <p:txBody>
          <a:bodyPr wrap="square" anchor="t" lIns="0" rIns="0" tIns="0" bIns="0">
            <a:spAutoFit/>
          </a:bodyPr>
          <a:lstStyle/>
          <a:p>
            <a:pPr algn="l"/>
            <a:r>
              <a:rPr sz="3600" b="1">
                <a:solidFill>
                  <a:srgbClr val="FFFFFF"/>
                </a:solidFill>
                <a:latin typeface="Montserrat"/>
              </a:rPr>
              <a:t>Come design with us.</a:t>
            </a:r>
          </a:p>
        </p:txBody>
      </p:sp>
      <p:sp>
        <p:nvSpPr>
          <p:cNvPr id="6" name="Rectangle 5"/>
          <p:cNvSpPr/>
          <p:nvPr/>
        </p:nvSpPr>
        <p:spPr>
          <a:xfrm>
            <a:off x="822960" y="2971800"/>
            <a:ext cx="1097280" cy="73152"/>
          </a:xfrm>
          <a:prstGeom prst="rect">
            <a:avLst/>
          </a:prstGeom>
          <a:solidFill>
            <a:srgbClr val="FDB9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291840"/>
            <a:ext cx="3657600" cy="2743200"/>
          </a:xfrm>
          <a:prstGeom prst="rect">
            <a:avLst/>
          </a:prstGeom>
          <a:noFill/>
        </p:spPr>
        <p:txBody>
          <a:bodyPr wrap="square" anchor="t" lIns="0" rIns="0" tIns="0" bIns="0">
            <a:spAutoFit/>
          </a:bodyPr>
          <a:lstStyle/>
          <a:p>
            <a:pPr algn="l"/>
            <a:r>
              <a:rPr sz="2000" b="1">
                <a:solidFill>
                  <a:srgbClr val="FFFFFF"/>
                </a:solidFill>
                <a:latin typeface="Montserrat"/>
              </a:rPr>
              <a:t>Landscape Architecture Program</a:t>
            </a:r>
          </a:p>
          <a:p>
            <a:pPr algn="l">
              <a:spcBef>
                <a:spcPts val="400"/>
              </a:spcBef>
            </a:pPr>
            <a:r>
              <a:rPr sz="1500" b="0">
                <a:solidFill>
                  <a:srgbClr val="FDB931"/>
                </a:solidFill>
                <a:latin typeface="Montserrat"/>
              </a:rPr>
              <a:t>Dept. of Natural Resources &amp; Environmental Design</a:t>
            </a:r>
          </a:p>
          <a:p>
            <a:pPr algn="l">
              <a:spcBef>
                <a:spcPts val="400"/>
              </a:spcBef>
            </a:pPr>
            <a:r>
              <a:rPr sz="1500" b="0">
                <a:solidFill>
                  <a:srgbClr val="FFFFFF"/>
                </a:solidFill>
                <a:latin typeface="Montserrat"/>
              </a:rPr>
              <a:t>Carver Hall, NC A&amp;T State University</a:t>
            </a:r>
          </a:p>
          <a:p>
            <a:pPr algn="l">
              <a:spcBef>
                <a:spcPts val="200"/>
              </a:spcBef>
            </a:pPr>
            <a:r>
              <a:rPr sz="1500" b="0">
                <a:solidFill>
                  <a:srgbClr val="FFFFFF"/>
                </a:solidFill>
                <a:latin typeface="Montserrat"/>
              </a:rPr>
              <a:t>Greensboro, North Carolina</a:t>
            </a:r>
          </a:p>
          <a:p>
            <a:pPr algn="l">
              <a:spcBef>
                <a:spcPts val="1600"/>
              </a:spcBef>
            </a:pPr>
            <a:r>
              <a:rPr sz="1500" b="0">
                <a:solidFill>
                  <a:srgbClr val="FFFFFF"/>
                </a:solidFill>
                <a:latin typeface="Montserrat"/>
              </a:rPr>
              <a:t>Visit a studio. Ask about scholarships. Apply.</a:t>
            </a:r>
          </a:p>
        </p:txBody>
      </p:sp>
      <p:sp>
        <p:nvSpPr>
          <p:cNvPr id="8" name="Rectangle 7"/>
          <p:cNvSpPr/>
          <p:nvPr/>
        </p:nvSpPr>
        <p:spPr>
          <a:xfrm>
            <a:off x="4617720" y="3154680"/>
            <a:ext cx="201168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qr.png"/>
          <p:cNvPicPr>
            <a:picLocks noChangeAspect="1"/>
          </p:cNvPicPr>
          <p:nvPr/>
        </p:nvPicPr>
        <p:blipFill>
          <a:blip r:embed="rId4"/>
          <a:stretch>
            <a:fillRect/>
          </a:stretch>
        </p:blipFill>
        <p:spPr>
          <a:xfrm>
            <a:off x="4709160" y="3246120"/>
            <a:ext cx="1828800" cy="1828800"/>
          </a:xfrm>
          <a:prstGeom prst="rect">
            <a:avLst/>
          </a:prstGeom>
        </p:spPr>
      </p:pic>
      <p:sp>
        <p:nvSpPr>
          <p:cNvPr id="10" name="TextBox 9"/>
          <p:cNvSpPr txBox="1"/>
          <p:nvPr/>
        </p:nvSpPr>
        <p:spPr>
          <a:xfrm>
            <a:off x="4617720" y="5257800"/>
            <a:ext cx="2011680" cy="457200"/>
          </a:xfrm>
          <a:prstGeom prst="rect">
            <a:avLst/>
          </a:prstGeom>
          <a:noFill/>
        </p:spPr>
        <p:txBody>
          <a:bodyPr wrap="square" anchor="t" lIns="0" rIns="0" tIns="0" bIns="0">
            <a:spAutoFit/>
          </a:bodyPr>
          <a:lstStyle/>
          <a:p>
            <a:pPr algn="ctr"/>
            <a:r>
              <a:rPr sz="1200" b="0">
                <a:solidFill>
                  <a:srgbClr val="FFFFFF"/>
                </a:solidFill>
                <a:latin typeface="Montserrat"/>
              </a:rPr>
              <a:t>Scan to visit our website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40080" y="1188720"/>
            <a:ext cx="10972800" cy="548640"/>
          </a:xfrm>
          <a:prstGeom prst="rect">
            <a:avLst/>
          </a:prstGeom>
          <a:noFill/>
        </p:spPr>
        <p:txBody>
          <a:bodyPr wrap="square" anchor="t" lIns="0" rIns="0" tIns="0" bIns="0">
            <a:spAutoFit/>
          </a:bodyPr>
          <a:lstStyle/>
          <a:p>
            <a:pPr algn="l"/>
            <a:r>
              <a:rPr sz="2400" b="1">
                <a:solidFill>
                  <a:srgbClr val="004684"/>
                </a:solidFill>
                <a:latin typeface="Montserrat"/>
              </a:rPr>
              <a:t>Photo credits</a:t>
            </a:r>
          </a:p>
        </p:txBody>
      </p:sp>
      <p:sp>
        <p:nvSpPr>
          <p:cNvPr id="4" name="TextBox 3"/>
          <p:cNvSpPr txBox="1"/>
          <p:nvPr/>
        </p:nvSpPr>
        <p:spPr>
          <a:xfrm>
            <a:off x="640080" y="1828800"/>
            <a:ext cx="10972800" cy="4389120"/>
          </a:xfrm>
          <a:prstGeom prst="rect">
            <a:avLst/>
          </a:prstGeom>
          <a:noFill/>
        </p:spPr>
        <p:txBody>
          <a:bodyPr wrap="square" anchor="t" lIns="0" rIns="0" tIns="0" bIns="0">
            <a:spAutoFit/>
          </a:bodyPr>
          <a:lstStyle/>
          <a:p>
            <a:pPr algn="l">
              <a:spcBef>
                <a:spcPts val="200"/>
              </a:spcBef>
            </a:pPr>
            <a:r>
              <a:rPr sz="1100" b="0">
                <a:solidFill>
                  <a:srgbClr val="1F2937"/>
                </a:solidFill>
                <a:latin typeface="Montserrat"/>
              </a:rPr>
              <a:t>UIUC Illini Union and Main Quad: Daniel Schwen (BY-SA 4.0) via Wikimedia</a:t>
            </a:r>
          </a:p>
          <a:p>
            <a:pPr algn="l">
              <a:spcBef>
                <a:spcPts val="200"/>
              </a:spcBef>
            </a:pPr>
            <a:r>
              <a:rPr sz="1100" b="0">
                <a:solidFill>
                  <a:srgbClr val="1F2937"/>
                </a:solidFill>
                <a:latin typeface="Montserrat"/>
              </a:rPr>
              <a:t>Wright Brothers National Memorial landscape: Yuming Huang (BY-SA 4.0) via Wikimedia</a:t>
            </a:r>
          </a:p>
          <a:p>
            <a:pPr algn="l">
              <a:spcBef>
                <a:spcPts val="200"/>
              </a:spcBef>
            </a:pPr>
            <a:r>
              <a:rPr sz="1100" b="0">
                <a:solidFill>
                  <a:srgbClr val="1F2937"/>
                </a:solidFill>
                <a:latin typeface="Montserrat"/>
              </a:rPr>
              <a:t>Lurie Garden IMG 20181101 152936297: NewtonCourt (BY-SA 4.0) via Wikimedia</a:t>
            </a:r>
          </a:p>
          <a:p>
            <a:pPr algn="l">
              <a:spcBef>
                <a:spcPts val="200"/>
              </a:spcBef>
            </a:pPr>
            <a:r>
              <a:rPr sz="1100" b="0">
                <a:solidFill>
                  <a:srgbClr val="1F2937"/>
                </a:solidFill>
                <a:latin typeface="Montserrat"/>
              </a:rPr>
              <a:t>DeYoungMuseumBuildingAndSurroundingGardens1: Buzzlovestravel (BY-SA 4.0) via Wikimedia</a:t>
            </a:r>
          </a:p>
          <a:p>
            <a:pPr algn="l">
              <a:spcBef>
                <a:spcPts val="200"/>
              </a:spcBef>
            </a:pPr>
            <a:r>
              <a:rPr sz="1100" b="0">
                <a:solidFill>
                  <a:srgbClr val="1F2937"/>
                </a:solidFill>
                <a:latin typeface="Montserrat"/>
              </a:rPr>
              <a:t>Dallas July 2015 12 (Klyde Warren Park): Michael Barera (BY-SA 4.0) via Wikimedia</a:t>
            </a:r>
          </a:p>
          <a:p>
            <a:pPr algn="l">
              <a:spcBef>
                <a:spcPts val="200"/>
              </a:spcBef>
            </a:pPr>
            <a:r>
              <a:rPr sz="1100" b="0">
                <a:solidFill>
                  <a:srgbClr val="1F2937"/>
                </a:solidFill>
                <a:latin typeface="Montserrat"/>
              </a:rPr>
              <a:t>High Line Park the new second section: David Berkowitz from New York, NY, USA (BY 2.0) via Wikimedia</a:t>
            </a:r>
          </a:p>
          <a:p>
            <a:pPr algn="l">
              <a:spcBef>
                <a:spcPts val="200"/>
              </a:spcBef>
            </a:pPr>
            <a:r>
              <a:rPr sz="1100" b="0">
                <a:solidFill>
                  <a:srgbClr val="1F2937"/>
                </a:solidFill>
                <a:latin typeface="Montserrat"/>
              </a:rPr>
              <a:t>Bryant Park New York (11599763284): Mack Male from Edmonton, AB, Canada (BY-SA 2.0) via Wikimedia</a:t>
            </a:r>
          </a:p>
          <a:p>
            <a:pPr algn="l">
              <a:spcBef>
                <a:spcPts val="200"/>
              </a:spcBef>
            </a:pPr>
            <a:r>
              <a:rPr sz="1100" b="0">
                <a:solidFill>
                  <a:srgbClr val="1F2937"/>
                </a:solidFill>
                <a:latin typeface="Montserrat"/>
              </a:rPr>
              <a:t>Hauser Plads - Playground: Susanne Nilsson (BY-SA 2.0) via Wikimedia</a:t>
            </a:r>
          </a:p>
          <a:p>
            <a:pPr algn="l">
              <a:spcBef>
                <a:spcPts val="200"/>
              </a:spcBef>
            </a:pPr>
            <a:r>
              <a:rPr sz="1100" b="0">
                <a:solidFill>
                  <a:srgbClr val="1F2937"/>
                </a:solidFill>
                <a:latin typeface="Montserrat"/>
              </a:rPr>
              <a:t>Main Street section of Brooklyn Bridge Park, July 2017: MusikAnimal (BY-SA 4.0) via Wikimedia</a:t>
            </a:r>
          </a:p>
          <a:p>
            <a:pPr algn="l">
              <a:spcBef>
                <a:spcPts val="200"/>
              </a:spcBef>
            </a:pPr>
            <a:r>
              <a:rPr sz="1100" b="0">
                <a:solidFill>
                  <a:srgbClr val="1F2937"/>
                </a:solidFill>
                <a:latin typeface="Montserrat"/>
              </a:rPr>
              <a:t>ATT bridge Panther ck.jpg: Kevinawilk (CC0 1.0) via Wikimedia</a:t>
            </a:r>
          </a:p>
          <a:p>
            <a:pPr algn="l">
              <a:spcBef>
                <a:spcPts val="200"/>
              </a:spcBef>
            </a:pPr>
            <a:r>
              <a:rPr sz="1100" b="0">
                <a:solidFill>
                  <a:srgbClr val="1F2937"/>
                </a:solidFill>
                <a:latin typeface="Montserrat"/>
              </a:rPr>
              <a:t>2008-07-15 Duke Gardens main terrace.jpg: Ildar Sagdejev (Specious) (BY-SA 4.0) via Wikimedia</a:t>
            </a:r>
          </a:p>
          <a:p>
            <a:pPr algn="l">
              <a:spcBef>
                <a:spcPts val="200"/>
              </a:spcBef>
            </a:pPr>
            <a:r>
              <a:rPr sz="1100" b="0">
                <a:solidFill>
                  <a:srgbClr val="1F2937"/>
                </a:solidFill>
                <a:latin typeface="Montserrat"/>
              </a:rPr>
              <a:t>Klyde Warren Park and Dallas' Skyline: Gattacal (BY-SA 4.0) via Wikimedia</a:t>
            </a:r>
          </a:p>
          <a:p>
            <a:pPr algn="l">
              <a:spcBef>
                <a:spcPts val="200"/>
              </a:spcBef>
            </a:pPr>
            <a:r>
              <a:rPr sz="1100" b="0">
                <a:solidFill>
                  <a:srgbClr val="1F2937"/>
                </a:solidFill>
                <a:latin typeface="Montserrat"/>
              </a:rPr>
              <a:t>Studio, design-build &amp; student photos &amp; portraits: NC A&amp;T Landscape Architecture program. Carver courtyard image is a concept rendering. University Farm photos: NC A&amp;T University Relations (ncat.edu).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