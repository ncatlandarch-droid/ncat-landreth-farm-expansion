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Central Park, green roofs like the one on Chicago's City Hall, city plazas, playgrounds, waterfront parks and greenway trails.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rooftop and botanical gardens,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A&amp;T has a 492-acre Small Farm living field lab and a 667-acre University Farm and research park right here in Greensboro. We study real soil, real water and real forests, and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Landscape architecture is about people. Our students lead community design workshops called charrettes, where we listen to neighbors and farmers and turn their ideas into plans. You'll work on real projects for real communities across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jp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urie.jpg"/>
          <p:cNvPicPr>
            <a:picLocks noChangeAspect="1"/>
          </p:cNvPicPr>
          <p:nvPr/>
        </p:nvPicPr>
        <p:blipFill>
          <a:blip r:embed="rId3"/>
          <a:srcRect t="12499" b="12499"/>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central.jpg"/>
          <p:cNvPicPr>
            <a:picLocks noChangeAspect="1"/>
          </p:cNvPicPr>
          <p:nvPr/>
        </p:nvPicPr>
        <p:blipFill>
          <a:blip r:embed="rId3"/>
          <a:srcRect t="3162" b="3162"/>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roof.jpg"/>
          <p:cNvPicPr>
            <a:picLocks noChangeAspect="1"/>
          </p:cNvPicPr>
          <p:nvPr/>
        </p:nvPicPr>
        <p:blipFill>
          <a:blip r:embed="rId4"/>
          <a:srcRect t="3162" b="3162"/>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Green roofs</a:t>
            </a:r>
          </a:p>
        </p:txBody>
      </p:sp>
      <p:pic>
        <p:nvPicPr>
          <p:cNvPr id="10" name="Picture 9" descr="bean.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 &amp; public art</a:t>
            </a:r>
          </a:p>
        </p:txBody>
      </p:sp>
      <p:pic>
        <p:nvPicPr>
          <p:cNvPr id="13" name="Picture 12" descr="playground.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waterfront.jpg"/>
          <p:cNvPicPr>
            <a:picLocks noChangeAspect="1"/>
          </p:cNvPicPr>
          <p:nvPr/>
        </p:nvPicPr>
        <p:blipFill>
          <a:blip r:embed="rId7"/>
          <a:srcRect l="2370" r="2370"/>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trail.jpg"/>
          <p:cNvPicPr>
            <a:picLocks noChangeAspect="1"/>
          </p:cNvPicPr>
          <p:nvPr/>
        </p:nvPicPr>
        <p:blipFill>
          <a:blip r:embed="rId8"/>
          <a:srcRect l="2529" r="2529"/>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roof2.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Rooftop gardens</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585" b="2585"/>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9841" r="9841"/>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ketch.jpg"/>
          <p:cNvPicPr>
            <a:picLocks noChangeAspect="1"/>
          </p:cNvPicPr>
          <p:nvPr/>
        </p:nvPicPr>
        <p:blipFill>
          <a:blip r:embed="rId3"/>
          <a:srcRect l="13188" r="13188"/>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armer.jpg"/>
          <p:cNvPicPr>
            <a:picLocks noChangeAspect="1"/>
          </p:cNvPicPr>
          <p:nvPr/>
        </p:nvPicPr>
        <p:blipFill>
          <a:blip r:embed="rId3"/>
          <a:srcRect l="389" r="389"/>
          <a:stretch>
            <a:fillRect/>
          </a:stretch>
        </p:blipFill>
        <p:spPr>
          <a:xfrm>
            <a:off x="0" y="0"/>
            <a:ext cx="12191695" cy="6858000"/>
          </a:xfrm>
          <a:prstGeom prst="rect">
            <a:avLst/>
          </a:prstGeom>
        </p:spPr>
      </p:pic>
      <p:sp>
        <p:nvSpPr>
          <p:cNvPr id="3" name="Rectangle 2"/>
          <p:cNvSpPr/>
          <p:nvPr/>
        </p:nvSpPr>
        <p:spPr>
          <a:xfrm>
            <a:off x="0" y="0"/>
            <a:ext cx="12191695" cy="219456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72800" cy="822960"/>
          </a:xfrm>
          <a:prstGeom prst="rect">
            <a:avLst/>
          </a:prstGeom>
          <a:noFill/>
        </p:spPr>
        <p:txBody>
          <a:bodyPr wrap="square" anchor="t" lIns="0" rIns="0" tIns="0" bIns="0">
            <a:spAutoFit/>
          </a:bodyPr>
          <a:lstStyle/>
          <a:p>
            <a:pPr algn="l"/>
            <a:r>
              <a:rPr sz="3400" b="1">
                <a:solidFill>
                  <a:srgbClr val="FFFFFF"/>
                </a:solidFill>
                <a:latin typeface="Montserrat"/>
              </a:rPr>
              <a:t>Our classroom has 1,000+ acres</a:t>
            </a:r>
          </a:p>
        </p:txBody>
      </p:sp>
      <p:sp>
        <p:nvSpPr>
          <p:cNvPr id="5" name="TextBox 4"/>
          <p:cNvSpPr txBox="1"/>
          <p:nvPr/>
        </p:nvSpPr>
        <p:spPr>
          <a:xfrm>
            <a:off x="640080" y="1234440"/>
            <a:ext cx="10972800" cy="731520"/>
          </a:xfrm>
          <a:prstGeom prst="rect">
            <a:avLst/>
          </a:prstGeom>
          <a:noFill/>
        </p:spPr>
        <p:txBody>
          <a:bodyPr wrap="square" anchor="t" lIns="0" rIns="0" tIns="0" bIns="0">
            <a:spAutoFit/>
          </a:bodyPr>
          <a:lstStyle/>
          <a:p>
            <a:pPr algn="l"/>
            <a:r>
              <a:rPr sz="2000" b="0">
                <a:solidFill>
                  <a:srgbClr val="FDB931"/>
                </a:solidFill>
                <a:latin typeface="Montserrat"/>
              </a:rPr>
              <a:t>492-acre living field lab  •  667-acre University Farm &amp; Research Park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harrette.jpg"/>
          <p:cNvPicPr>
            <a:picLocks noChangeAspect="1"/>
          </p:cNvPicPr>
          <p:nvPr/>
        </p:nvPicPr>
        <p:blipFill>
          <a:blip r:embed="rId3"/>
          <a:srcRect l="21226" r="21226"/>
          <a:stretch>
            <a:fillRect/>
          </a:stretch>
        </p:blipFill>
        <p:spPr>
          <a:xfrm>
            <a:off x="5120511" y="0"/>
            <a:ext cx="7071183"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REAL PROJECTS</a:t>
            </a:r>
          </a:p>
        </p:txBody>
      </p:sp>
      <p:sp>
        <p:nvSpPr>
          <p:cNvPr id="4" name="TextBox 3"/>
          <p:cNvSpPr txBox="1"/>
          <p:nvPr/>
        </p:nvSpPr>
        <p:spPr>
          <a:xfrm>
            <a:off x="640080" y="1645920"/>
            <a:ext cx="4480560" cy="1645920"/>
          </a:xfrm>
          <a:prstGeom prst="rect">
            <a:avLst/>
          </a:prstGeom>
          <a:noFill/>
        </p:spPr>
        <p:txBody>
          <a:bodyPr wrap="square" anchor="t" lIns="0" rIns="0" tIns="0" bIns="0">
            <a:spAutoFit/>
          </a:bodyPr>
          <a:lstStyle/>
          <a:p>
            <a:pPr algn="l"/>
            <a:r>
              <a:rPr sz="3200" b="1">
                <a:solidFill>
                  <a:srgbClr val="004684"/>
                </a:solidFill>
                <a:latin typeface="Montserrat"/>
              </a:rPr>
              <a:t>Design with the community</a:t>
            </a:r>
          </a:p>
        </p:txBody>
      </p:sp>
      <p:sp>
        <p:nvSpPr>
          <p:cNvPr id="5" name="Rectangle 4"/>
          <p:cNvSpPr/>
          <p:nvPr/>
        </p:nvSpPr>
        <p:spPr>
          <a:xfrm>
            <a:off x="640080" y="338328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657600"/>
            <a:ext cx="4389120" cy="2743200"/>
          </a:xfrm>
          <a:prstGeom prst="rect">
            <a:avLst/>
          </a:prstGeom>
          <a:noFill/>
        </p:spPr>
        <p:txBody>
          <a:bodyPr wrap="square" anchor="t" lIns="0" rIns="0" tIns="0" bIns="0">
            <a:spAutoFit/>
          </a:bodyPr>
          <a:lstStyle/>
          <a:p>
            <a:pPr algn="l"/>
            <a:r>
              <a:rPr sz="1800" b="0">
                <a:solidFill>
                  <a:srgbClr val="1F2937"/>
                </a:solidFill>
                <a:latin typeface="Montserrat"/>
              </a:rPr>
              <a:t>Lead design workshops with neighbors and farmers</a:t>
            </a:r>
          </a:p>
          <a:p>
            <a:pPr algn="l">
              <a:spcBef>
                <a:spcPts val="1000"/>
              </a:spcBef>
            </a:pPr>
            <a:r>
              <a:rPr sz="1800" b="0">
                <a:solidFill>
                  <a:srgbClr val="1F2937"/>
                </a:solidFill>
                <a:latin typeface="Montserrat"/>
              </a:rPr>
              <a:t>Turn people's ideas into real plans</a:t>
            </a:r>
          </a:p>
          <a:p>
            <a:pPr algn="l">
              <a:spcBef>
                <a:spcPts val="1000"/>
              </a:spcBef>
            </a:pPr>
            <a:r>
              <a:rPr sz="1800" b="0">
                <a:solidFill>
                  <a:srgbClr val="1F2937"/>
                </a:solidFill>
                <a:latin typeface="Montserrat"/>
              </a:rPr>
              <a:t>Serve communities across North Carolina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ean.jpg"/>
          <p:cNvPicPr>
            <a:picLocks noChangeAspect="1"/>
          </p:cNvPicPr>
          <p:nvPr/>
        </p:nvPicPr>
        <p:blipFill>
          <a:blip r:embed="rId3"/>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icnic.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Aerial View: Enrapture Media (CC0 1.0) via Stocksnap</a:t>
            </a:r>
          </a:p>
          <a:p>
            <a:pPr algn="l">
              <a:spcBef>
                <a:spcPts val="200"/>
              </a:spcBef>
            </a:pPr>
            <a:r>
              <a:rPr sz="1100" b="0">
                <a:solidFill>
                  <a:srgbClr val="1F2937"/>
                </a:solidFill>
                <a:latin typeface="Montserrat"/>
              </a:rPr>
              <a:t>20080708 Chicago City Hall Green Roof: TonyTheTiger (BY-SA 3.0) via Wikimedia</a:t>
            </a:r>
          </a:p>
          <a:p>
            <a:pPr algn="l">
              <a:spcBef>
                <a:spcPts val="200"/>
              </a:spcBef>
            </a:pPr>
            <a:r>
              <a:rPr sz="1100" b="0">
                <a:solidFill>
                  <a:srgbClr val="1F2937"/>
                </a:solidFill>
                <a:latin typeface="Montserrat"/>
              </a:rPr>
              <a:t>MEC's green roof among others: sookie (BY 2.0) via Wikimedia</a:t>
            </a:r>
          </a:p>
          <a:p>
            <a:pPr algn="l">
              <a:spcBef>
                <a:spcPts val="200"/>
              </a:spcBef>
            </a:pPr>
            <a:r>
              <a:rPr sz="1100" b="0">
                <a:solidFill>
                  <a:srgbClr val="1F2937"/>
                </a:solidFill>
                <a:latin typeface="Montserrat"/>
              </a:rPr>
              <a:t>Waterfront Park southern section, from Hawthorne Br: Steve Morgan (BY-SA 3.0) via Wikimedia</a:t>
            </a:r>
          </a:p>
          <a:p>
            <a:pPr algn="l">
              <a:spcBef>
                <a:spcPts val="200"/>
              </a:spcBef>
            </a:pPr>
            <a:r>
              <a:rPr sz="1100" b="0">
                <a:solidFill>
                  <a:srgbClr val="1F2937"/>
                </a:solidFill>
                <a:latin typeface="Montserrat"/>
              </a:rPr>
              <a:t>Muddy branch greenway trail 20201010 125426 1: G. Edward Johnson (BY 3.0) via Wikimedia</a:t>
            </a:r>
          </a:p>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in sun: Ruhrfisch (talk) (BY-SA 4.0) via Wikimedia</a:t>
            </a:r>
          </a:p>
          <a:p>
            <a:pPr algn="l">
              <a:spcBef>
                <a:spcPts val="200"/>
              </a:spcBef>
            </a:pPr>
            <a:r>
              <a:rPr sz="1100" b="0">
                <a:solidFill>
                  <a:srgbClr val="1F2937"/>
                </a:solidFill>
                <a:latin typeface="Montserrat"/>
              </a:rPr>
              <a:t>Central Park Bow Bridge, by CentralParkPhotographer: CentralParkPhotographer (BY-SA 4.0) via Wikimedia</a:t>
            </a:r>
          </a:p>
          <a:p>
            <a:pPr algn="l">
              <a:spcBef>
                <a:spcPts val="200"/>
              </a:spcBef>
            </a:pPr>
            <a:r>
              <a:rPr sz="1100" b="0">
                <a:solidFill>
                  <a:srgbClr val="1F2937"/>
                </a:solidFill>
                <a:latin typeface="Montserrat"/>
              </a:rPr>
              <a:t>Playground Playset: Khürt Williams (CC0 1.0) via Stocksnap</a:t>
            </a:r>
          </a:p>
          <a:p>
            <a:pPr algn="l">
              <a:spcBef>
                <a:spcPts val="200"/>
              </a:spcBef>
            </a:pPr>
            <a:r>
              <a:rPr sz="1100" b="0">
                <a:solidFill>
                  <a:srgbClr val="1F2937"/>
                </a:solidFill>
                <a:latin typeface="Montserrat"/>
              </a:rPr>
              <a:t>Architecture Building: Sawyer Bengtson (CC0 1.0) via Stocksnap</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Student photos &amp; portraits: NC A&amp;T Landscape Architecture program. Carver courtyard image is a concept rendering. Community, farm &amp; field images are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