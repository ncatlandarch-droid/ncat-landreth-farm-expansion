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 everyone! We're students in the Landscape Architecture program at North Carolina A&amp;T State University. Today we want to show you a career where you get to design the places people live, play and grow, and why A&amp;T is the place to learn 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what is landscape architecture? It's the art and science of designing outdoor places. Every park you've played in, every campus quad, every greenway and plaza was designed by someone. Landscape architects blend art, nature, engineering and people to make those places work.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what landscape architects design. Every one of these places started as a sketch: parks like Central Park, green roofs like the one on Chicago's City Hall, city plazas, playgrounds, waterfront parks and greenway trails. If it's outside, a landscape architect probably shaped 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there's more: college campuses like this quad, rooftop and botanical gardens, and memorial landscapes like the Wright Brothers National Memorial right here in North Carolina.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program has a proud history. It was founded in 1976 by Dr. Charles Fountain. In 1989, Perry Howard became director, and in 1992 we became the first accredited landscape architecture program at any HBCU. Professor Howard went on to become the first African American president of the American Society of Landscape Architects in 2008, and he received the ASLA Medal in 2024. That same year our accreditation was renewed, and in 2026 we launched a brand-new curriculum.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pioneers who built our program. Dr. Charles Fountain founded it in 1976 and taught generations of students. Perry Howard led it to become the first accredited program at an HBCU and became the first African American president of ASLA. And Walter Hood, class of 1981, is now one of the most celebrated landscape architects in the world.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here's what makes A&amp;T special: we are the only accredited undergraduate landscape architecture program at any HBCU in the entire country. One of one. If you want this degree at an HBCU, this is the place.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of our most famous graduates is Walter Hood, who earned his landscape architecture degree right here at A&amp;T in 1981. He founded Hood Design Studio in Oakland, California. He designed the landscape for the International African American Museum in Charleston and the gardens at San Francisco's de Young Museum. He won a MacArthur 'Genius' Fellowship in 2019 and the Vincent Scully Prize in 2024. He started where you could start: at A&amp;T.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Most of our learning happens in studio. That's where we sketch, build models, design on the computer and present our ideas to classmates and professors. Each class year moves through the program together as a cohort, with its own faculty lead, so you're never on your own.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You'll learn by hand and by computer. We start with drawing and sketching, then add the same software professionals use: AutoCAD Civil 3D, SketchUp, Adobe Creative Cloud and Land F/X. You'll also work with GIS mapping, drones and 3D digital twins, and even AI tools for site analysis.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classroom doesn't stop at the studio door. A&amp;T has a 492-acre Small Farm living field lab and a 667-acre University Farm and research park right here in Greensboro. We study real soil, real water and real forests, and design for real places.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Landscape architecture is about people. Our students lead community design workshops called charrettes, where we listen to neighbors and farmers and turn their ideas into plans. You'll work on real projects for real communities across North Carolina.</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Where can this degree take you? Our graduates work at design firms, for cities and counties, for the state DOT, for the National Park Service and USDA, for developers, and some start their own firms. Landscape architecture is a licensed profession in all 50 states, just like architecture or engineering.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Let's talk money. According to the U.S. Bureau of Labor Statistics, the median pay for landscape architects was about $79,660 a year in 2024. That means half earned more. There are about 1,700 job openings every year, and pay goes up with your license, your experience, or by starting your own firm.</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how do you get here? If you're in high school, take art, drafting or CAD, biology or environmental science, and geometry, and start sketching the places around you. Apply to A&amp;T and choose landscape architecture. If you're at a community college, you can transfer in. This fall alone, seven transfer students joined us. Talk to us early so your credits line up.</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A&amp;T? You'll join the nation's largest HBCU, learn in small studios from faculty who know your name, design on real land, and graduate into a profession that needs your voice. And yes, there are scholarships, including the NC chapter of ASLA's scholarship for landscape architecture students.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Thanks for listening! If you want to learn more, visit our studios in Carver Hall, follow the program, or scan the QR code to visit our website. We'd love to see you in studio. Aggie Pride!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Photo credits.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2.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3.jpg"/><Relationship Id="rId4" Type="http://schemas.openxmlformats.org/officeDocument/2006/relationships/image" Target="../media/image4.jpg"/><Relationship Id="rId5" Type="http://schemas.openxmlformats.org/officeDocument/2006/relationships/image" Target="../media/image5.jpg"/><Relationship Id="rId6" Type="http://schemas.openxmlformats.org/officeDocument/2006/relationships/image" Target="../media/image6.jpg"/><Relationship Id="rId7" Type="http://schemas.openxmlformats.org/officeDocument/2006/relationships/image" Target="../media/image7.jpg"/><Relationship Id="rId8" Type="http://schemas.openxmlformats.org/officeDocument/2006/relationships/image" Target="../media/image8.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9.jpg"/><Relationship Id="rId4" Type="http://schemas.openxmlformats.org/officeDocument/2006/relationships/image" Target="../media/image10.jpg"/><Relationship Id="rId5" Type="http://schemas.openxmlformats.org/officeDocument/2006/relationships/image" Target="../media/image11.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2.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3.jpg"/><Relationship Id="rId4" Type="http://schemas.openxmlformats.org/officeDocument/2006/relationships/image" Target="../media/image14.jpg"/><Relationship Id="rId5" Type="http://schemas.openxmlformats.org/officeDocument/2006/relationships/image" Target="../media/image15.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6.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15.jpg"/><Relationship Id="rId4" Type="http://schemas.openxmlformats.org/officeDocument/2006/relationships/image" Target="../media/image17.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18.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19.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20.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21.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22.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5.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22.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23.jp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24.jpg"/><Relationship Id="rId4" Type="http://schemas.openxmlformats.org/officeDocument/2006/relationships/image" Target="../media/image2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22.jp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lurie.jpg"/>
          <p:cNvPicPr>
            <a:picLocks noChangeAspect="1"/>
          </p:cNvPicPr>
          <p:nvPr/>
        </p:nvPicPr>
        <p:blipFill>
          <a:blip r:embed="rId3"/>
          <a:srcRect t="12499" b="12499"/>
          <a:stretch>
            <a:fillRect/>
          </a:stretch>
        </p:blipFill>
        <p:spPr>
          <a:xfrm>
            <a:off x="0" y="0"/>
            <a:ext cx="12191695" cy="6858000"/>
          </a:xfrm>
          <a:prstGeom prst="rect">
            <a:avLst/>
          </a:prstGeom>
        </p:spPr>
      </p:pic>
      <p:sp>
        <p:nvSpPr>
          <p:cNvPr id="3" name="Rectangle 2"/>
          <p:cNvSpPr/>
          <p:nvPr/>
        </p:nvSpPr>
        <p:spPr>
          <a:xfrm>
            <a:off x="0" y="0"/>
            <a:ext cx="5669280" cy="6858000"/>
          </a:xfrm>
          <a:prstGeom prst="rect">
            <a:avLst/>
          </a:prstGeom>
          <a:solidFill>
            <a:srgbClr val="004684">
              <a:alpha val="8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463040"/>
            <a:ext cx="7315200" cy="365760"/>
          </a:xfrm>
          <a:prstGeom prst="rect">
            <a:avLst/>
          </a:prstGeom>
          <a:noFill/>
        </p:spPr>
        <p:txBody>
          <a:bodyPr wrap="square" anchor="t" lIns="0" rIns="0" tIns="0" bIns="0">
            <a:spAutoFit/>
          </a:bodyPr>
          <a:lstStyle/>
          <a:p>
            <a:pPr algn="l"/>
            <a:r>
              <a:rPr sz="1400" b="1">
                <a:solidFill>
                  <a:srgbClr val="FDB931"/>
                </a:solidFill>
                <a:latin typeface="Montserrat"/>
              </a:rPr>
              <a:t>NC A&amp;T LANDSCAPE ARCHITECTURE</a:t>
            </a:r>
          </a:p>
        </p:txBody>
      </p:sp>
      <p:sp>
        <p:nvSpPr>
          <p:cNvPr id="5" name="TextBox 4"/>
          <p:cNvSpPr txBox="1"/>
          <p:nvPr/>
        </p:nvSpPr>
        <p:spPr>
          <a:xfrm>
            <a:off x="640080" y="1920240"/>
            <a:ext cx="4754880" cy="2194560"/>
          </a:xfrm>
          <a:prstGeom prst="rect">
            <a:avLst/>
          </a:prstGeom>
          <a:noFill/>
        </p:spPr>
        <p:txBody>
          <a:bodyPr wrap="square" anchor="t" lIns="0" rIns="0" tIns="0" bIns="0">
            <a:spAutoFit/>
          </a:bodyPr>
          <a:lstStyle/>
          <a:p>
            <a:pPr algn="l"/>
            <a:r>
              <a:rPr sz="4400" b="1">
                <a:solidFill>
                  <a:srgbClr val="FFFFFF"/>
                </a:solidFill>
                <a:latin typeface="Montserrat"/>
              </a:rPr>
              <a:t>Design the world around you.</a:t>
            </a:r>
          </a:p>
        </p:txBody>
      </p:sp>
      <p:sp>
        <p:nvSpPr>
          <p:cNvPr id="6" name="Rectangle 5"/>
          <p:cNvSpPr/>
          <p:nvPr/>
        </p:nvSpPr>
        <p:spPr>
          <a:xfrm>
            <a:off x="640080" y="4251960"/>
            <a:ext cx="1097280" cy="73152"/>
          </a:xfrm>
          <a:prstGeom prst="rect">
            <a:avLst/>
          </a:prstGeom>
          <a:solidFill>
            <a:srgbClr val="FDB9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4526280"/>
            <a:ext cx="4754880" cy="1097280"/>
          </a:xfrm>
          <a:prstGeom prst="rect">
            <a:avLst/>
          </a:prstGeom>
          <a:noFill/>
        </p:spPr>
        <p:txBody>
          <a:bodyPr wrap="square" anchor="t" lIns="0" rIns="0" tIns="0" bIns="0">
            <a:spAutoFit/>
          </a:bodyPr>
          <a:lstStyle/>
          <a:p>
            <a:pPr algn="l"/>
            <a:r>
              <a:rPr sz="1800" b="0">
                <a:solidFill>
                  <a:srgbClr val="FFFFFF"/>
                </a:solidFill>
                <a:latin typeface="Montserrat"/>
              </a:rPr>
              <a:t>Bachelor of Science in Landscape Architecture</a:t>
            </a:r>
          </a:p>
          <a:p>
            <a:pPr algn="l">
              <a:spcBef>
                <a:spcPts val="600"/>
              </a:spcBef>
            </a:pPr>
            <a:r>
              <a:rPr sz="1400" b="0">
                <a:solidFill>
                  <a:srgbClr val="FDB931"/>
                </a:solidFill>
                <a:latin typeface="Montserrat"/>
              </a:rPr>
              <a:t>College of Agriculture &amp; Environmental Sciences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mural2.jpg"/>
          <p:cNvPicPr>
            <a:picLocks noChangeAspect="1"/>
          </p:cNvPicPr>
          <p:nvPr/>
        </p:nvPicPr>
        <p:blipFill>
          <a:blip r:embed="rId3"/>
          <a:srcRect l="15196" r="15196"/>
          <a:stretch>
            <a:fillRect/>
          </a:stretch>
        </p:blipFill>
        <p:spPr>
          <a:xfrm>
            <a:off x="5852013" y="0"/>
            <a:ext cx="6339681" cy="6858000"/>
          </a:xfrm>
          <a:prstGeom prst="rect">
            <a:avLst/>
          </a:prstGeom>
        </p:spPr>
      </p:pic>
      <p:sp>
        <p:nvSpPr>
          <p:cNvPr id="3" name="TextBox 2"/>
          <p:cNvSpPr txBox="1"/>
          <p:nvPr/>
        </p:nvSpPr>
        <p:spPr>
          <a:xfrm>
            <a:off x="640080" y="1188720"/>
            <a:ext cx="7315200" cy="365760"/>
          </a:xfrm>
          <a:prstGeom prst="rect">
            <a:avLst/>
          </a:prstGeom>
          <a:noFill/>
        </p:spPr>
        <p:txBody>
          <a:bodyPr wrap="square" anchor="t" lIns="0" rIns="0" tIns="0" bIns="0">
            <a:spAutoFit/>
          </a:bodyPr>
          <a:lstStyle/>
          <a:p>
            <a:pPr algn="l"/>
            <a:r>
              <a:rPr sz="1400" b="1">
                <a:solidFill>
                  <a:srgbClr val="004684"/>
                </a:solidFill>
                <a:latin typeface="Montserrat"/>
              </a:rPr>
              <a:t>WHAT IS IT?</a:t>
            </a:r>
          </a:p>
        </p:txBody>
      </p:sp>
      <p:sp>
        <p:nvSpPr>
          <p:cNvPr id="4" name="TextBox 3"/>
          <p:cNvSpPr txBox="1"/>
          <p:nvPr/>
        </p:nvSpPr>
        <p:spPr>
          <a:xfrm>
            <a:off x="640080" y="1645920"/>
            <a:ext cx="4937760" cy="1645920"/>
          </a:xfrm>
          <a:prstGeom prst="rect">
            <a:avLst/>
          </a:prstGeom>
          <a:noFill/>
        </p:spPr>
        <p:txBody>
          <a:bodyPr wrap="square" anchor="t" lIns="0" rIns="0" tIns="0" bIns="0">
            <a:spAutoFit/>
          </a:bodyPr>
          <a:lstStyle/>
          <a:p>
            <a:pPr algn="l"/>
            <a:r>
              <a:rPr sz="3400" b="1">
                <a:solidFill>
                  <a:srgbClr val="004684"/>
                </a:solidFill>
                <a:latin typeface="Montserrat"/>
              </a:rPr>
              <a:t>What is landscape architecture?</a:t>
            </a:r>
          </a:p>
        </p:txBody>
      </p:sp>
      <p:sp>
        <p:nvSpPr>
          <p:cNvPr id="5" name="Rectangle 4"/>
          <p:cNvSpPr/>
          <p:nvPr/>
        </p:nvSpPr>
        <p:spPr>
          <a:xfrm>
            <a:off x="640080" y="3429000"/>
            <a:ext cx="1097280" cy="73152"/>
          </a:xfrm>
          <a:prstGeom prst="rect">
            <a:avLst/>
          </a:prstGeom>
          <a:solidFill>
            <a:srgbClr val="FDB9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3703320"/>
            <a:ext cx="4846320" cy="2377440"/>
          </a:xfrm>
          <a:prstGeom prst="rect">
            <a:avLst/>
          </a:prstGeom>
          <a:noFill/>
        </p:spPr>
        <p:txBody>
          <a:bodyPr wrap="square" anchor="t" lIns="0" rIns="0" tIns="0" bIns="0">
            <a:spAutoFit/>
          </a:bodyPr>
          <a:lstStyle/>
          <a:p>
            <a:pPr algn="l"/>
            <a:r>
              <a:rPr sz="2000" b="0">
                <a:solidFill>
                  <a:srgbClr val="1F2937"/>
                </a:solidFill>
                <a:latin typeface="Montserrat"/>
              </a:rPr>
              <a:t>The art and science of designing outdoor places, so they work for people and for nature.</a:t>
            </a:r>
          </a:p>
          <a:p>
            <a:pPr algn="l">
              <a:spcBef>
                <a:spcPts val="1400"/>
              </a:spcBef>
            </a:pPr>
            <a:r>
              <a:rPr sz="1800" b="1">
                <a:solidFill>
                  <a:srgbClr val="004684"/>
                </a:solidFill>
                <a:latin typeface="Montserrat"/>
              </a:rPr>
              <a:t>Part artist. Part scientist. Part engineer. All about people.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143000"/>
          </a:xfrm>
          <a:prstGeom prst="rect">
            <a:avLst/>
          </a:prstGeom>
          <a:solidFill>
            <a:srgbClr val="0046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731520"/>
          </a:xfrm>
          <a:prstGeom prst="rect">
            <a:avLst/>
          </a:prstGeom>
          <a:noFill/>
        </p:spPr>
        <p:txBody>
          <a:bodyPr wrap="square" anchor="ctr" lIns="0" rIns="0" tIns="0" bIns="0">
            <a:spAutoFit/>
          </a:bodyPr>
          <a:lstStyle/>
          <a:p>
            <a:pPr algn="l"/>
            <a:r>
              <a:rPr sz="3000" b="1">
                <a:solidFill>
                  <a:srgbClr val="FFFFFF"/>
                </a:solidFill>
                <a:latin typeface="Montserrat"/>
              </a:rPr>
              <a:t>What could you design?</a:t>
            </a:r>
          </a:p>
        </p:txBody>
      </p:sp>
      <p:pic>
        <p:nvPicPr>
          <p:cNvPr id="4" name="Picture 3" descr="central.jpg"/>
          <p:cNvPicPr>
            <a:picLocks noChangeAspect="1"/>
          </p:cNvPicPr>
          <p:nvPr/>
        </p:nvPicPr>
        <p:blipFill>
          <a:blip r:embed="rId3"/>
          <a:srcRect t="3162" b="3162"/>
          <a:stretch>
            <a:fillRect/>
          </a:stretch>
        </p:blipFill>
        <p:spPr>
          <a:xfrm>
            <a:off x="0" y="1143000"/>
            <a:ext cx="4015130" cy="2820924"/>
          </a:xfrm>
          <a:prstGeom prst="rect">
            <a:avLst/>
          </a:prstGeom>
        </p:spPr>
      </p:pic>
      <p:sp>
        <p:nvSpPr>
          <p:cNvPr id="5" name="Rectangle 4"/>
          <p:cNvSpPr/>
          <p:nvPr/>
        </p:nvSpPr>
        <p:spPr>
          <a:xfrm>
            <a:off x="0" y="3396996"/>
            <a:ext cx="4015130" cy="566928"/>
          </a:xfrm>
          <a:prstGeom prst="rect">
            <a:avLst/>
          </a:prstGeom>
          <a:solidFill>
            <a:srgbClr val="004684">
              <a:alpha val="8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28600" y="3396996"/>
            <a:ext cx="3557930" cy="566928"/>
          </a:xfrm>
          <a:prstGeom prst="rect">
            <a:avLst/>
          </a:prstGeom>
          <a:noFill/>
        </p:spPr>
        <p:txBody>
          <a:bodyPr wrap="square" anchor="ctr" lIns="0" rIns="0" tIns="0" bIns="0">
            <a:spAutoFit/>
          </a:bodyPr>
          <a:lstStyle/>
          <a:p>
            <a:pPr algn="l"/>
            <a:r>
              <a:rPr sz="1800" b="1">
                <a:solidFill>
                  <a:srgbClr val="FFFFFF"/>
                </a:solidFill>
                <a:latin typeface="Montserrat"/>
              </a:rPr>
              <a:t>Parks</a:t>
            </a:r>
          </a:p>
        </p:txBody>
      </p:sp>
      <p:pic>
        <p:nvPicPr>
          <p:cNvPr id="7" name="Picture 6" descr="roof.jpg"/>
          <p:cNvPicPr>
            <a:picLocks noChangeAspect="1"/>
          </p:cNvPicPr>
          <p:nvPr/>
        </p:nvPicPr>
        <p:blipFill>
          <a:blip r:embed="rId4"/>
          <a:srcRect t="3162" b="3162"/>
          <a:stretch>
            <a:fillRect/>
          </a:stretch>
        </p:blipFill>
        <p:spPr>
          <a:xfrm>
            <a:off x="4088282" y="1143000"/>
            <a:ext cx="4015130" cy="2820924"/>
          </a:xfrm>
          <a:prstGeom prst="rect">
            <a:avLst/>
          </a:prstGeom>
        </p:spPr>
      </p:pic>
      <p:sp>
        <p:nvSpPr>
          <p:cNvPr id="8" name="Rectangle 7"/>
          <p:cNvSpPr/>
          <p:nvPr/>
        </p:nvSpPr>
        <p:spPr>
          <a:xfrm>
            <a:off x="4088282" y="3396996"/>
            <a:ext cx="4015130" cy="566928"/>
          </a:xfrm>
          <a:prstGeom prst="rect">
            <a:avLst/>
          </a:prstGeom>
          <a:solidFill>
            <a:srgbClr val="004684">
              <a:alpha val="8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316882" y="3396996"/>
            <a:ext cx="3557930" cy="566928"/>
          </a:xfrm>
          <a:prstGeom prst="rect">
            <a:avLst/>
          </a:prstGeom>
          <a:noFill/>
        </p:spPr>
        <p:txBody>
          <a:bodyPr wrap="square" anchor="ctr" lIns="0" rIns="0" tIns="0" bIns="0">
            <a:spAutoFit/>
          </a:bodyPr>
          <a:lstStyle/>
          <a:p>
            <a:pPr algn="l"/>
            <a:r>
              <a:rPr sz="1800" b="1">
                <a:solidFill>
                  <a:srgbClr val="FFFFFF"/>
                </a:solidFill>
                <a:latin typeface="Montserrat"/>
              </a:rPr>
              <a:t>Green roofs</a:t>
            </a:r>
          </a:p>
        </p:txBody>
      </p:sp>
      <p:pic>
        <p:nvPicPr>
          <p:cNvPr id="10" name="Picture 9" descr="bean.jpg"/>
          <p:cNvPicPr>
            <a:picLocks noChangeAspect="1"/>
          </p:cNvPicPr>
          <p:nvPr/>
        </p:nvPicPr>
        <p:blipFill>
          <a:blip r:embed="rId5"/>
          <a:srcRect l="2555" r="2555"/>
          <a:stretch>
            <a:fillRect/>
          </a:stretch>
        </p:blipFill>
        <p:spPr>
          <a:xfrm>
            <a:off x="8176564" y="1143000"/>
            <a:ext cx="4015130" cy="2820924"/>
          </a:xfrm>
          <a:prstGeom prst="rect">
            <a:avLst/>
          </a:prstGeom>
        </p:spPr>
      </p:pic>
      <p:sp>
        <p:nvSpPr>
          <p:cNvPr id="11" name="Rectangle 10"/>
          <p:cNvSpPr/>
          <p:nvPr/>
        </p:nvSpPr>
        <p:spPr>
          <a:xfrm>
            <a:off x="8176564" y="3396996"/>
            <a:ext cx="4015130" cy="566928"/>
          </a:xfrm>
          <a:prstGeom prst="rect">
            <a:avLst/>
          </a:prstGeom>
          <a:solidFill>
            <a:srgbClr val="004684">
              <a:alpha val="8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405164" y="3396996"/>
            <a:ext cx="3557930" cy="566928"/>
          </a:xfrm>
          <a:prstGeom prst="rect">
            <a:avLst/>
          </a:prstGeom>
          <a:noFill/>
        </p:spPr>
        <p:txBody>
          <a:bodyPr wrap="square" anchor="ctr" lIns="0" rIns="0" tIns="0" bIns="0">
            <a:spAutoFit/>
          </a:bodyPr>
          <a:lstStyle/>
          <a:p>
            <a:pPr algn="l"/>
            <a:r>
              <a:rPr sz="1800" b="1">
                <a:solidFill>
                  <a:srgbClr val="FFFFFF"/>
                </a:solidFill>
                <a:latin typeface="Montserrat"/>
              </a:rPr>
              <a:t>Plazas &amp; public art</a:t>
            </a:r>
          </a:p>
        </p:txBody>
      </p:sp>
      <p:pic>
        <p:nvPicPr>
          <p:cNvPr id="13" name="Picture 12" descr="playground.jpg"/>
          <p:cNvPicPr>
            <a:picLocks noChangeAspect="1"/>
          </p:cNvPicPr>
          <p:nvPr/>
        </p:nvPicPr>
        <p:blipFill>
          <a:blip r:embed="rId6"/>
          <a:srcRect l="2555" r="2555"/>
          <a:stretch>
            <a:fillRect/>
          </a:stretch>
        </p:blipFill>
        <p:spPr>
          <a:xfrm>
            <a:off x="0" y="4037076"/>
            <a:ext cx="4015130" cy="2820924"/>
          </a:xfrm>
          <a:prstGeom prst="rect">
            <a:avLst/>
          </a:prstGeom>
        </p:spPr>
      </p:pic>
      <p:sp>
        <p:nvSpPr>
          <p:cNvPr id="14" name="Rectangle 13"/>
          <p:cNvSpPr/>
          <p:nvPr/>
        </p:nvSpPr>
        <p:spPr>
          <a:xfrm>
            <a:off x="0" y="6291072"/>
            <a:ext cx="4015130" cy="566928"/>
          </a:xfrm>
          <a:prstGeom prst="rect">
            <a:avLst/>
          </a:prstGeom>
          <a:solidFill>
            <a:srgbClr val="004684">
              <a:alpha val="8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28600" y="6291072"/>
            <a:ext cx="3557930" cy="566928"/>
          </a:xfrm>
          <a:prstGeom prst="rect">
            <a:avLst/>
          </a:prstGeom>
          <a:noFill/>
        </p:spPr>
        <p:txBody>
          <a:bodyPr wrap="square" anchor="ctr" lIns="0" rIns="0" tIns="0" bIns="0">
            <a:spAutoFit/>
          </a:bodyPr>
          <a:lstStyle/>
          <a:p>
            <a:pPr algn="l"/>
            <a:r>
              <a:rPr sz="1800" b="1">
                <a:solidFill>
                  <a:srgbClr val="FFFFFF"/>
                </a:solidFill>
                <a:latin typeface="Montserrat"/>
              </a:rPr>
              <a:t>Playgrounds</a:t>
            </a:r>
          </a:p>
        </p:txBody>
      </p:sp>
      <p:pic>
        <p:nvPicPr>
          <p:cNvPr id="16" name="Picture 15" descr="waterfront.jpg"/>
          <p:cNvPicPr>
            <a:picLocks noChangeAspect="1"/>
          </p:cNvPicPr>
          <p:nvPr/>
        </p:nvPicPr>
        <p:blipFill>
          <a:blip r:embed="rId7"/>
          <a:srcRect l="2370" r="2370"/>
          <a:stretch>
            <a:fillRect/>
          </a:stretch>
        </p:blipFill>
        <p:spPr>
          <a:xfrm>
            <a:off x="4088282" y="4037076"/>
            <a:ext cx="4015130" cy="2820924"/>
          </a:xfrm>
          <a:prstGeom prst="rect">
            <a:avLst/>
          </a:prstGeom>
        </p:spPr>
      </p:pic>
      <p:sp>
        <p:nvSpPr>
          <p:cNvPr id="17" name="Rectangle 16"/>
          <p:cNvSpPr/>
          <p:nvPr/>
        </p:nvSpPr>
        <p:spPr>
          <a:xfrm>
            <a:off x="4088282" y="6291072"/>
            <a:ext cx="4015130" cy="566928"/>
          </a:xfrm>
          <a:prstGeom prst="rect">
            <a:avLst/>
          </a:prstGeom>
          <a:solidFill>
            <a:srgbClr val="004684">
              <a:alpha val="8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16882" y="6291072"/>
            <a:ext cx="3557930" cy="566928"/>
          </a:xfrm>
          <a:prstGeom prst="rect">
            <a:avLst/>
          </a:prstGeom>
          <a:noFill/>
        </p:spPr>
        <p:txBody>
          <a:bodyPr wrap="square" anchor="ctr" lIns="0" rIns="0" tIns="0" bIns="0">
            <a:spAutoFit/>
          </a:bodyPr>
          <a:lstStyle/>
          <a:p>
            <a:pPr algn="l"/>
            <a:r>
              <a:rPr sz="1800" b="1">
                <a:solidFill>
                  <a:srgbClr val="FFFFFF"/>
                </a:solidFill>
                <a:latin typeface="Montserrat"/>
              </a:rPr>
              <a:t>Waterfronts</a:t>
            </a:r>
          </a:p>
        </p:txBody>
      </p:sp>
      <p:pic>
        <p:nvPicPr>
          <p:cNvPr id="19" name="Picture 18" descr="trail.jpg"/>
          <p:cNvPicPr>
            <a:picLocks noChangeAspect="1"/>
          </p:cNvPicPr>
          <p:nvPr/>
        </p:nvPicPr>
        <p:blipFill>
          <a:blip r:embed="rId8"/>
          <a:srcRect l="2529" r="2529"/>
          <a:stretch>
            <a:fillRect/>
          </a:stretch>
        </p:blipFill>
        <p:spPr>
          <a:xfrm>
            <a:off x="8176564" y="4037076"/>
            <a:ext cx="4015130" cy="2820924"/>
          </a:xfrm>
          <a:prstGeom prst="rect">
            <a:avLst/>
          </a:prstGeom>
        </p:spPr>
      </p:pic>
      <p:sp>
        <p:nvSpPr>
          <p:cNvPr id="20" name="Rectangle 19"/>
          <p:cNvSpPr/>
          <p:nvPr/>
        </p:nvSpPr>
        <p:spPr>
          <a:xfrm>
            <a:off x="8176564" y="6291072"/>
            <a:ext cx="4015130" cy="566928"/>
          </a:xfrm>
          <a:prstGeom prst="rect">
            <a:avLst/>
          </a:prstGeom>
          <a:solidFill>
            <a:srgbClr val="004684">
              <a:alpha val="8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405164" y="6291072"/>
            <a:ext cx="3557930" cy="566928"/>
          </a:xfrm>
          <a:prstGeom prst="rect">
            <a:avLst/>
          </a:prstGeom>
          <a:noFill/>
        </p:spPr>
        <p:txBody>
          <a:bodyPr wrap="square" anchor="ctr" lIns="0" rIns="0" tIns="0" bIns="0">
            <a:spAutoFit/>
          </a:bodyPr>
          <a:lstStyle/>
          <a:p>
            <a:pPr algn="l"/>
            <a:r>
              <a:rPr sz="1800" b="1">
                <a:solidFill>
                  <a:srgbClr val="FFFFFF"/>
                </a:solidFill>
                <a:latin typeface="Montserrat"/>
              </a:rPr>
              <a:t>Trails &amp; greenways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143000"/>
          </a:xfrm>
          <a:prstGeom prst="rect">
            <a:avLst/>
          </a:prstGeom>
          <a:solidFill>
            <a:srgbClr val="0046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731520"/>
          </a:xfrm>
          <a:prstGeom prst="rect">
            <a:avLst/>
          </a:prstGeom>
          <a:noFill/>
        </p:spPr>
        <p:txBody>
          <a:bodyPr wrap="square" anchor="ctr" lIns="0" rIns="0" tIns="0" bIns="0">
            <a:spAutoFit/>
          </a:bodyPr>
          <a:lstStyle/>
          <a:p>
            <a:pPr algn="l"/>
            <a:r>
              <a:rPr sz="3000" b="1">
                <a:solidFill>
                  <a:srgbClr val="FFFFFF"/>
                </a:solidFill>
                <a:latin typeface="Montserrat"/>
              </a:rPr>
              <a:t>Campuses, gardens &amp; memorials</a:t>
            </a:r>
          </a:p>
        </p:txBody>
      </p:sp>
      <p:pic>
        <p:nvPicPr>
          <p:cNvPr id="4" name="Picture 3" descr="campus.jpg"/>
          <p:cNvPicPr>
            <a:picLocks noChangeAspect="1"/>
          </p:cNvPicPr>
          <p:nvPr/>
        </p:nvPicPr>
        <p:blipFill>
          <a:blip r:embed="rId3"/>
          <a:srcRect l="37595" r="37595"/>
          <a:stretch>
            <a:fillRect/>
          </a:stretch>
        </p:blipFill>
        <p:spPr>
          <a:xfrm>
            <a:off x="0" y="1143000"/>
            <a:ext cx="4015130" cy="5715000"/>
          </a:xfrm>
          <a:prstGeom prst="rect">
            <a:avLst/>
          </a:prstGeom>
        </p:spPr>
      </p:pic>
      <p:sp>
        <p:nvSpPr>
          <p:cNvPr id="5" name="Rectangle 4"/>
          <p:cNvSpPr/>
          <p:nvPr/>
        </p:nvSpPr>
        <p:spPr>
          <a:xfrm>
            <a:off x="0" y="6291072"/>
            <a:ext cx="4015130" cy="566928"/>
          </a:xfrm>
          <a:prstGeom prst="rect">
            <a:avLst/>
          </a:prstGeom>
          <a:solidFill>
            <a:srgbClr val="004684">
              <a:alpha val="8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28600" y="6291072"/>
            <a:ext cx="3557930" cy="566928"/>
          </a:xfrm>
          <a:prstGeom prst="rect">
            <a:avLst/>
          </a:prstGeom>
          <a:noFill/>
        </p:spPr>
        <p:txBody>
          <a:bodyPr wrap="square" anchor="ctr" lIns="0" rIns="0" tIns="0" bIns="0">
            <a:spAutoFit/>
          </a:bodyPr>
          <a:lstStyle/>
          <a:p>
            <a:pPr algn="l"/>
            <a:r>
              <a:rPr sz="1800" b="1">
                <a:solidFill>
                  <a:srgbClr val="FFFFFF"/>
                </a:solidFill>
                <a:latin typeface="Montserrat"/>
              </a:rPr>
              <a:t>Campuses</a:t>
            </a:r>
          </a:p>
        </p:txBody>
      </p:sp>
      <p:pic>
        <p:nvPicPr>
          <p:cNvPr id="7" name="Picture 6" descr="roof2.jpg"/>
          <p:cNvPicPr>
            <a:picLocks noChangeAspect="1"/>
          </p:cNvPicPr>
          <p:nvPr/>
        </p:nvPicPr>
        <p:blipFill>
          <a:blip r:embed="rId4"/>
          <a:srcRect l="23654" r="23654"/>
          <a:stretch>
            <a:fillRect/>
          </a:stretch>
        </p:blipFill>
        <p:spPr>
          <a:xfrm>
            <a:off x="4088282" y="1143000"/>
            <a:ext cx="4015130" cy="5715000"/>
          </a:xfrm>
          <a:prstGeom prst="rect">
            <a:avLst/>
          </a:prstGeom>
        </p:spPr>
      </p:pic>
      <p:sp>
        <p:nvSpPr>
          <p:cNvPr id="8" name="Rectangle 7"/>
          <p:cNvSpPr/>
          <p:nvPr/>
        </p:nvSpPr>
        <p:spPr>
          <a:xfrm>
            <a:off x="4088282" y="6291072"/>
            <a:ext cx="4015130" cy="566928"/>
          </a:xfrm>
          <a:prstGeom prst="rect">
            <a:avLst/>
          </a:prstGeom>
          <a:solidFill>
            <a:srgbClr val="004684">
              <a:alpha val="8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316882" y="6291072"/>
            <a:ext cx="3557930" cy="566928"/>
          </a:xfrm>
          <a:prstGeom prst="rect">
            <a:avLst/>
          </a:prstGeom>
          <a:noFill/>
        </p:spPr>
        <p:txBody>
          <a:bodyPr wrap="square" anchor="ctr" lIns="0" rIns="0" tIns="0" bIns="0">
            <a:spAutoFit/>
          </a:bodyPr>
          <a:lstStyle/>
          <a:p>
            <a:pPr algn="l"/>
            <a:r>
              <a:rPr sz="1800" b="1">
                <a:solidFill>
                  <a:srgbClr val="FFFFFF"/>
                </a:solidFill>
                <a:latin typeface="Montserrat"/>
              </a:rPr>
              <a:t>Rooftop gardens</a:t>
            </a:r>
          </a:p>
        </p:txBody>
      </p:sp>
      <p:pic>
        <p:nvPicPr>
          <p:cNvPr id="10" name="Picture 9" descr="memorial.jpg"/>
          <p:cNvPicPr>
            <a:picLocks noChangeAspect="1"/>
          </p:cNvPicPr>
          <p:nvPr/>
        </p:nvPicPr>
        <p:blipFill>
          <a:blip r:embed="rId5"/>
          <a:srcRect l="31435" r="31435"/>
          <a:stretch>
            <a:fillRect/>
          </a:stretch>
        </p:blipFill>
        <p:spPr>
          <a:xfrm>
            <a:off x="8176564" y="1143000"/>
            <a:ext cx="4015130" cy="5715000"/>
          </a:xfrm>
          <a:prstGeom prst="rect">
            <a:avLst/>
          </a:prstGeom>
        </p:spPr>
      </p:pic>
      <p:sp>
        <p:nvSpPr>
          <p:cNvPr id="11" name="Rectangle 10"/>
          <p:cNvSpPr/>
          <p:nvPr/>
        </p:nvSpPr>
        <p:spPr>
          <a:xfrm>
            <a:off x="8176564" y="6291072"/>
            <a:ext cx="4015130" cy="566928"/>
          </a:xfrm>
          <a:prstGeom prst="rect">
            <a:avLst/>
          </a:prstGeom>
          <a:solidFill>
            <a:srgbClr val="004684">
              <a:alpha val="8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405164" y="6291072"/>
            <a:ext cx="3557930" cy="566928"/>
          </a:xfrm>
          <a:prstGeom prst="rect">
            <a:avLst/>
          </a:prstGeom>
          <a:noFill/>
        </p:spPr>
        <p:txBody>
          <a:bodyPr wrap="square" anchor="ctr" lIns="0" rIns="0" tIns="0" bIns="0">
            <a:spAutoFit/>
          </a:bodyPr>
          <a:lstStyle/>
          <a:p>
            <a:pPr algn="l"/>
            <a:r>
              <a:rPr sz="1800" b="1">
                <a:solidFill>
                  <a:srgbClr val="FFFFFF"/>
                </a:solidFill>
                <a:latin typeface="Montserrat"/>
              </a:rPr>
              <a:t>Memorials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blue.jpg"/>
          <p:cNvPicPr>
            <a:picLocks noChangeAspect="1"/>
          </p:cNvPicPr>
          <p:nvPr/>
        </p:nvPicPr>
        <p:blipFill>
          <a:blip r:embed="rId3"/>
          <a:srcRect l="1" r="1"/>
          <a:stretch>
            <a:fillRect/>
          </a:stretch>
        </p:blipFill>
        <p:spPr>
          <a:xfrm>
            <a:off x="0" y="0"/>
            <a:ext cx="12191695" cy="6858000"/>
          </a:xfrm>
          <a:prstGeom prst="rect">
            <a:avLst/>
          </a:prstGeom>
        </p:spPr>
      </p:pic>
      <p:sp>
        <p:nvSpPr>
          <p:cNvPr id="3" name="TextBox 2"/>
          <p:cNvSpPr txBox="1"/>
          <p:nvPr/>
        </p:nvSpPr>
        <p:spPr>
          <a:xfrm>
            <a:off x="1234440" y="960120"/>
            <a:ext cx="7315200" cy="365760"/>
          </a:xfrm>
          <a:prstGeom prst="rect">
            <a:avLst/>
          </a:prstGeom>
          <a:noFill/>
        </p:spPr>
        <p:txBody>
          <a:bodyPr wrap="square" anchor="t" lIns="0" rIns="0" tIns="0" bIns="0">
            <a:spAutoFit/>
          </a:bodyPr>
          <a:lstStyle/>
          <a:p>
            <a:pPr algn="l"/>
            <a:r>
              <a:rPr sz="1400" b="1">
                <a:solidFill>
                  <a:srgbClr val="FDB931"/>
                </a:solidFill>
                <a:latin typeface="Montserrat"/>
              </a:rPr>
              <a:t>OUR STORY</a:t>
            </a:r>
          </a:p>
        </p:txBody>
      </p:sp>
      <p:sp>
        <p:nvSpPr>
          <p:cNvPr id="4" name="TextBox 3"/>
          <p:cNvSpPr txBox="1"/>
          <p:nvPr/>
        </p:nvSpPr>
        <p:spPr>
          <a:xfrm>
            <a:off x="640080" y="1371600"/>
            <a:ext cx="10972800" cy="822960"/>
          </a:xfrm>
          <a:prstGeom prst="rect">
            <a:avLst/>
          </a:prstGeom>
          <a:noFill/>
        </p:spPr>
        <p:txBody>
          <a:bodyPr wrap="square" anchor="t" lIns="0" rIns="0" tIns="0" bIns="0">
            <a:spAutoFit/>
          </a:bodyPr>
          <a:lstStyle/>
          <a:p>
            <a:pPr algn="l"/>
            <a:r>
              <a:rPr sz="3600" b="1">
                <a:solidFill>
                  <a:srgbClr val="FFFFFF"/>
                </a:solidFill>
                <a:latin typeface="Montserrat"/>
              </a:rPr>
              <a:t>Five decades of firsts</a:t>
            </a:r>
          </a:p>
        </p:txBody>
      </p:sp>
      <p:sp>
        <p:nvSpPr>
          <p:cNvPr id="5" name="Rectangle 4"/>
          <p:cNvSpPr/>
          <p:nvPr/>
        </p:nvSpPr>
        <p:spPr>
          <a:xfrm>
            <a:off x="640080" y="3246120"/>
            <a:ext cx="10881360" cy="54864"/>
          </a:xfrm>
          <a:prstGeom prst="rect">
            <a:avLst/>
          </a:prstGeom>
          <a:solidFill>
            <a:srgbClr val="FDB9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640080" y="3090672"/>
            <a:ext cx="365760" cy="365760"/>
          </a:xfrm>
          <a:prstGeom prst="ellipse">
            <a:avLst/>
          </a:prstGeom>
          <a:solidFill>
            <a:srgbClr val="FDB9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2331720"/>
            <a:ext cx="1630680" cy="640080"/>
          </a:xfrm>
          <a:prstGeom prst="rect">
            <a:avLst/>
          </a:prstGeom>
          <a:noFill/>
        </p:spPr>
        <p:txBody>
          <a:bodyPr wrap="square" anchor="t" lIns="0" rIns="0" tIns="0" bIns="0">
            <a:spAutoFit/>
          </a:bodyPr>
          <a:lstStyle/>
          <a:p>
            <a:pPr algn="l"/>
            <a:r>
              <a:rPr sz="2800" b="1">
                <a:solidFill>
                  <a:srgbClr val="FDB931"/>
                </a:solidFill>
                <a:latin typeface="Montserrat"/>
              </a:rPr>
              <a:t>1976</a:t>
            </a:r>
          </a:p>
        </p:txBody>
      </p:sp>
      <p:sp>
        <p:nvSpPr>
          <p:cNvPr id="8" name="TextBox 7"/>
          <p:cNvSpPr txBox="1"/>
          <p:nvPr/>
        </p:nvSpPr>
        <p:spPr>
          <a:xfrm>
            <a:off x="640080" y="3703320"/>
            <a:ext cx="1584960" cy="2286000"/>
          </a:xfrm>
          <a:prstGeom prst="rect">
            <a:avLst/>
          </a:prstGeom>
          <a:noFill/>
        </p:spPr>
        <p:txBody>
          <a:bodyPr wrap="square" anchor="t" lIns="0" rIns="0" tIns="0" bIns="0">
            <a:spAutoFit/>
          </a:bodyPr>
          <a:lstStyle/>
          <a:p>
            <a:pPr algn="l"/>
            <a:r>
              <a:rPr sz="1500" b="0">
                <a:solidFill>
                  <a:srgbClr val="FFFFFF"/>
                </a:solidFill>
                <a:latin typeface="Montserrat"/>
              </a:rPr>
              <a:t>Program founded by Dr. Charles A. Fountain</a:t>
            </a:r>
          </a:p>
        </p:txBody>
      </p:sp>
      <p:sp>
        <p:nvSpPr>
          <p:cNvPr id="9" name="Oval 8"/>
          <p:cNvSpPr/>
          <p:nvPr/>
        </p:nvSpPr>
        <p:spPr>
          <a:xfrm>
            <a:off x="2453640" y="3090672"/>
            <a:ext cx="365760" cy="365760"/>
          </a:xfrm>
          <a:prstGeom prst="ellipse">
            <a:avLst/>
          </a:prstGeom>
          <a:solidFill>
            <a:srgbClr val="FDB9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453640" y="2331720"/>
            <a:ext cx="1630680" cy="640080"/>
          </a:xfrm>
          <a:prstGeom prst="rect">
            <a:avLst/>
          </a:prstGeom>
          <a:noFill/>
        </p:spPr>
        <p:txBody>
          <a:bodyPr wrap="square" anchor="t" lIns="0" rIns="0" tIns="0" bIns="0">
            <a:spAutoFit/>
          </a:bodyPr>
          <a:lstStyle/>
          <a:p>
            <a:pPr algn="l"/>
            <a:r>
              <a:rPr sz="2800" b="1">
                <a:solidFill>
                  <a:srgbClr val="FDB931"/>
                </a:solidFill>
                <a:latin typeface="Montserrat"/>
              </a:rPr>
              <a:t>1989</a:t>
            </a:r>
          </a:p>
        </p:txBody>
      </p:sp>
      <p:sp>
        <p:nvSpPr>
          <p:cNvPr id="11" name="TextBox 10"/>
          <p:cNvSpPr txBox="1"/>
          <p:nvPr/>
        </p:nvSpPr>
        <p:spPr>
          <a:xfrm>
            <a:off x="2453640" y="3703320"/>
            <a:ext cx="1584960" cy="2286000"/>
          </a:xfrm>
          <a:prstGeom prst="rect">
            <a:avLst/>
          </a:prstGeom>
          <a:noFill/>
        </p:spPr>
        <p:txBody>
          <a:bodyPr wrap="square" anchor="t" lIns="0" rIns="0" tIns="0" bIns="0">
            <a:spAutoFit/>
          </a:bodyPr>
          <a:lstStyle/>
          <a:p>
            <a:pPr algn="l"/>
            <a:r>
              <a:rPr sz="1500" b="0">
                <a:solidFill>
                  <a:srgbClr val="FFFFFF"/>
                </a:solidFill>
                <a:latin typeface="Montserrat"/>
              </a:rPr>
              <a:t>Perry Howard named program director</a:t>
            </a:r>
          </a:p>
        </p:txBody>
      </p:sp>
      <p:sp>
        <p:nvSpPr>
          <p:cNvPr id="12" name="Oval 11"/>
          <p:cNvSpPr/>
          <p:nvPr/>
        </p:nvSpPr>
        <p:spPr>
          <a:xfrm>
            <a:off x="4267200" y="3090672"/>
            <a:ext cx="365760" cy="365760"/>
          </a:xfrm>
          <a:prstGeom prst="ellipse">
            <a:avLst/>
          </a:prstGeom>
          <a:solidFill>
            <a:srgbClr val="FDB9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267200" y="2331720"/>
            <a:ext cx="1630680" cy="640080"/>
          </a:xfrm>
          <a:prstGeom prst="rect">
            <a:avLst/>
          </a:prstGeom>
          <a:noFill/>
        </p:spPr>
        <p:txBody>
          <a:bodyPr wrap="square" anchor="t" lIns="0" rIns="0" tIns="0" bIns="0">
            <a:spAutoFit/>
          </a:bodyPr>
          <a:lstStyle/>
          <a:p>
            <a:pPr algn="l"/>
            <a:r>
              <a:rPr sz="2800" b="1">
                <a:solidFill>
                  <a:srgbClr val="FDB931"/>
                </a:solidFill>
                <a:latin typeface="Montserrat"/>
              </a:rPr>
              <a:t>1992</a:t>
            </a:r>
          </a:p>
        </p:txBody>
      </p:sp>
      <p:sp>
        <p:nvSpPr>
          <p:cNvPr id="14" name="TextBox 13"/>
          <p:cNvSpPr txBox="1"/>
          <p:nvPr/>
        </p:nvSpPr>
        <p:spPr>
          <a:xfrm>
            <a:off x="4267200" y="3703320"/>
            <a:ext cx="1584960" cy="2286000"/>
          </a:xfrm>
          <a:prstGeom prst="rect">
            <a:avLst/>
          </a:prstGeom>
          <a:noFill/>
        </p:spPr>
        <p:txBody>
          <a:bodyPr wrap="square" anchor="t" lIns="0" rIns="0" tIns="0" bIns="0">
            <a:spAutoFit/>
          </a:bodyPr>
          <a:lstStyle/>
          <a:p>
            <a:pPr algn="l"/>
            <a:r>
              <a:rPr sz="1500" b="0">
                <a:solidFill>
                  <a:srgbClr val="FFFFFF"/>
                </a:solidFill>
                <a:latin typeface="Montserrat"/>
              </a:rPr>
              <a:t>First accredited LA program at an HBCU</a:t>
            </a:r>
          </a:p>
        </p:txBody>
      </p:sp>
      <p:sp>
        <p:nvSpPr>
          <p:cNvPr id="15" name="Oval 14"/>
          <p:cNvSpPr/>
          <p:nvPr/>
        </p:nvSpPr>
        <p:spPr>
          <a:xfrm>
            <a:off x="6080760" y="3090672"/>
            <a:ext cx="365760" cy="365760"/>
          </a:xfrm>
          <a:prstGeom prst="ellipse">
            <a:avLst/>
          </a:prstGeom>
          <a:solidFill>
            <a:srgbClr val="FDB9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080760" y="2331720"/>
            <a:ext cx="1630680" cy="640080"/>
          </a:xfrm>
          <a:prstGeom prst="rect">
            <a:avLst/>
          </a:prstGeom>
          <a:noFill/>
        </p:spPr>
        <p:txBody>
          <a:bodyPr wrap="square" anchor="t" lIns="0" rIns="0" tIns="0" bIns="0">
            <a:spAutoFit/>
          </a:bodyPr>
          <a:lstStyle/>
          <a:p>
            <a:pPr algn="l"/>
            <a:r>
              <a:rPr sz="2800" b="1">
                <a:solidFill>
                  <a:srgbClr val="FDB931"/>
                </a:solidFill>
                <a:latin typeface="Montserrat"/>
              </a:rPr>
              <a:t>2008</a:t>
            </a:r>
          </a:p>
        </p:txBody>
      </p:sp>
      <p:sp>
        <p:nvSpPr>
          <p:cNvPr id="17" name="TextBox 16"/>
          <p:cNvSpPr txBox="1"/>
          <p:nvPr/>
        </p:nvSpPr>
        <p:spPr>
          <a:xfrm>
            <a:off x="6080760" y="3703320"/>
            <a:ext cx="1584960" cy="2286000"/>
          </a:xfrm>
          <a:prstGeom prst="rect">
            <a:avLst/>
          </a:prstGeom>
          <a:noFill/>
        </p:spPr>
        <p:txBody>
          <a:bodyPr wrap="square" anchor="t" lIns="0" rIns="0" tIns="0" bIns="0">
            <a:spAutoFit/>
          </a:bodyPr>
          <a:lstStyle/>
          <a:p>
            <a:pPr algn="l"/>
            <a:r>
              <a:rPr sz="1500" b="0">
                <a:solidFill>
                  <a:srgbClr val="FFFFFF"/>
                </a:solidFill>
                <a:latin typeface="Montserrat"/>
              </a:rPr>
              <a:t>Howard becomes first African American ASLA president</a:t>
            </a:r>
          </a:p>
        </p:txBody>
      </p:sp>
      <p:sp>
        <p:nvSpPr>
          <p:cNvPr id="18" name="Oval 17"/>
          <p:cNvSpPr/>
          <p:nvPr/>
        </p:nvSpPr>
        <p:spPr>
          <a:xfrm>
            <a:off x="7894320" y="3090672"/>
            <a:ext cx="365760" cy="365760"/>
          </a:xfrm>
          <a:prstGeom prst="ellipse">
            <a:avLst/>
          </a:prstGeom>
          <a:solidFill>
            <a:srgbClr val="FDB9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894320" y="2331720"/>
            <a:ext cx="1630680" cy="640080"/>
          </a:xfrm>
          <a:prstGeom prst="rect">
            <a:avLst/>
          </a:prstGeom>
          <a:noFill/>
        </p:spPr>
        <p:txBody>
          <a:bodyPr wrap="square" anchor="t" lIns="0" rIns="0" tIns="0" bIns="0">
            <a:spAutoFit/>
          </a:bodyPr>
          <a:lstStyle/>
          <a:p>
            <a:pPr algn="l"/>
            <a:r>
              <a:rPr sz="2800" b="1">
                <a:solidFill>
                  <a:srgbClr val="FDB931"/>
                </a:solidFill>
                <a:latin typeface="Montserrat"/>
              </a:rPr>
              <a:t>2024</a:t>
            </a:r>
          </a:p>
        </p:txBody>
      </p:sp>
      <p:sp>
        <p:nvSpPr>
          <p:cNvPr id="20" name="TextBox 19"/>
          <p:cNvSpPr txBox="1"/>
          <p:nvPr/>
        </p:nvSpPr>
        <p:spPr>
          <a:xfrm>
            <a:off x="7894320" y="3703320"/>
            <a:ext cx="1584960" cy="2286000"/>
          </a:xfrm>
          <a:prstGeom prst="rect">
            <a:avLst/>
          </a:prstGeom>
          <a:noFill/>
        </p:spPr>
        <p:txBody>
          <a:bodyPr wrap="square" anchor="t" lIns="0" rIns="0" tIns="0" bIns="0">
            <a:spAutoFit/>
          </a:bodyPr>
          <a:lstStyle/>
          <a:p>
            <a:pPr algn="l"/>
            <a:r>
              <a:rPr sz="1500" b="0">
                <a:solidFill>
                  <a:srgbClr val="FFFFFF"/>
                </a:solidFill>
                <a:latin typeface="Montserrat"/>
              </a:rPr>
              <a:t>Accreditation renewed; Howard receives the ASLA Medal</a:t>
            </a:r>
          </a:p>
        </p:txBody>
      </p:sp>
      <p:sp>
        <p:nvSpPr>
          <p:cNvPr id="21" name="Oval 20"/>
          <p:cNvSpPr/>
          <p:nvPr/>
        </p:nvSpPr>
        <p:spPr>
          <a:xfrm>
            <a:off x="9707880" y="3090672"/>
            <a:ext cx="365760" cy="365760"/>
          </a:xfrm>
          <a:prstGeom prst="ellipse">
            <a:avLst/>
          </a:prstGeom>
          <a:solidFill>
            <a:srgbClr val="FDB9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707880" y="2331720"/>
            <a:ext cx="1630680" cy="640080"/>
          </a:xfrm>
          <a:prstGeom prst="rect">
            <a:avLst/>
          </a:prstGeom>
          <a:noFill/>
        </p:spPr>
        <p:txBody>
          <a:bodyPr wrap="square" anchor="t" lIns="0" rIns="0" tIns="0" bIns="0">
            <a:spAutoFit/>
          </a:bodyPr>
          <a:lstStyle/>
          <a:p>
            <a:pPr algn="l"/>
            <a:r>
              <a:rPr sz="2800" b="1">
                <a:solidFill>
                  <a:srgbClr val="FDB931"/>
                </a:solidFill>
                <a:latin typeface="Montserrat"/>
              </a:rPr>
              <a:t>2026</a:t>
            </a:r>
          </a:p>
        </p:txBody>
      </p:sp>
      <p:sp>
        <p:nvSpPr>
          <p:cNvPr id="23" name="TextBox 22"/>
          <p:cNvSpPr txBox="1"/>
          <p:nvPr/>
        </p:nvSpPr>
        <p:spPr>
          <a:xfrm>
            <a:off x="9707880" y="3703320"/>
            <a:ext cx="1584960" cy="2286000"/>
          </a:xfrm>
          <a:prstGeom prst="rect">
            <a:avLst/>
          </a:prstGeom>
          <a:noFill/>
        </p:spPr>
        <p:txBody>
          <a:bodyPr wrap="square" anchor="t" lIns="0" rIns="0" tIns="0" bIns="0">
            <a:spAutoFit/>
          </a:bodyPr>
          <a:lstStyle/>
          <a:p>
            <a:pPr algn="l"/>
            <a:r>
              <a:rPr sz="1500" b="0">
                <a:solidFill>
                  <a:srgbClr val="FFFFFF"/>
                </a:solidFill>
                <a:latin typeface="Montserrat"/>
              </a:rPr>
              <a:t>New High-Tech, High-Touch curriculum launches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6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48640"/>
            <a:ext cx="7315200" cy="365760"/>
          </a:xfrm>
          <a:prstGeom prst="rect">
            <a:avLst/>
          </a:prstGeom>
          <a:noFill/>
        </p:spPr>
        <p:txBody>
          <a:bodyPr wrap="square" anchor="t" lIns="0" rIns="0" tIns="0" bIns="0">
            <a:spAutoFit/>
          </a:bodyPr>
          <a:lstStyle/>
          <a:p>
            <a:pPr algn="l"/>
            <a:r>
              <a:rPr sz="1400" b="1">
                <a:solidFill>
                  <a:srgbClr val="FDB931"/>
                </a:solidFill>
                <a:latin typeface="Montserrat"/>
              </a:rPr>
              <a:t>BUILT BY PIONEERS</a:t>
            </a:r>
          </a:p>
        </p:txBody>
      </p:sp>
      <p:sp>
        <p:nvSpPr>
          <p:cNvPr id="4" name="TextBox 3"/>
          <p:cNvSpPr txBox="1"/>
          <p:nvPr/>
        </p:nvSpPr>
        <p:spPr>
          <a:xfrm>
            <a:off x="640080" y="914400"/>
            <a:ext cx="10972800" cy="822960"/>
          </a:xfrm>
          <a:prstGeom prst="rect">
            <a:avLst/>
          </a:prstGeom>
          <a:noFill/>
        </p:spPr>
        <p:txBody>
          <a:bodyPr wrap="square" anchor="t" lIns="0" rIns="0" tIns="0" bIns="0">
            <a:spAutoFit/>
          </a:bodyPr>
          <a:lstStyle/>
          <a:p>
            <a:pPr algn="l"/>
            <a:r>
              <a:rPr sz="3200" b="1">
                <a:solidFill>
                  <a:srgbClr val="FFFFFF"/>
                </a:solidFill>
                <a:latin typeface="Montserrat"/>
              </a:rPr>
              <a:t>The people behind the program</a:t>
            </a:r>
          </a:p>
        </p:txBody>
      </p:sp>
      <p:pic>
        <p:nvPicPr>
          <p:cNvPr id="5" name="Picture 4" descr="fountain.jpg"/>
          <p:cNvPicPr>
            <a:picLocks noChangeAspect="1"/>
          </p:cNvPicPr>
          <p:nvPr/>
        </p:nvPicPr>
        <p:blipFill>
          <a:blip r:embed="rId3"/>
          <a:srcRect t="2778" b="2778"/>
          <a:stretch>
            <a:fillRect/>
          </a:stretch>
        </p:blipFill>
        <p:spPr>
          <a:xfrm>
            <a:off x="640080" y="1920240"/>
            <a:ext cx="3291840" cy="3108960"/>
          </a:xfrm>
          <a:prstGeom prst="rect">
            <a:avLst/>
          </a:prstGeom>
        </p:spPr>
      </p:pic>
      <p:sp>
        <p:nvSpPr>
          <p:cNvPr id="6" name="Rectangle 5"/>
          <p:cNvSpPr/>
          <p:nvPr/>
        </p:nvSpPr>
        <p:spPr>
          <a:xfrm>
            <a:off x="640080" y="5029200"/>
            <a:ext cx="3291840" cy="64008"/>
          </a:xfrm>
          <a:prstGeom prst="rect">
            <a:avLst/>
          </a:prstGeom>
          <a:solidFill>
            <a:srgbClr val="FDB9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5212080"/>
            <a:ext cx="3291840" cy="1463040"/>
          </a:xfrm>
          <a:prstGeom prst="rect">
            <a:avLst/>
          </a:prstGeom>
          <a:noFill/>
        </p:spPr>
        <p:txBody>
          <a:bodyPr wrap="square" anchor="t" lIns="0" rIns="0" tIns="0" bIns="0">
            <a:spAutoFit/>
          </a:bodyPr>
          <a:lstStyle/>
          <a:p>
            <a:pPr algn="l"/>
            <a:r>
              <a:rPr sz="1800" b="1">
                <a:solidFill>
                  <a:srgbClr val="FFFFFF"/>
                </a:solidFill>
                <a:latin typeface="Montserrat"/>
              </a:rPr>
              <a:t>Dr. Charles A. Fountain</a:t>
            </a:r>
          </a:p>
          <a:p>
            <a:pPr algn="l">
              <a:spcBef>
                <a:spcPts val="400"/>
              </a:spcBef>
            </a:pPr>
            <a:r>
              <a:rPr sz="1400" b="0">
                <a:solidFill>
                  <a:srgbClr val="FDB931"/>
                </a:solidFill>
                <a:latin typeface="Montserrat"/>
              </a:rPr>
              <a:t>Founder, 1976</a:t>
            </a:r>
          </a:p>
        </p:txBody>
      </p:sp>
      <p:pic>
        <p:nvPicPr>
          <p:cNvPr id="8" name="Picture 7" descr="howard.jpg"/>
          <p:cNvPicPr>
            <a:picLocks noChangeAspect="1"/>
          </p:cNvPicPr>
          <p:nvPr/>
        </p:nvPicPr>
        <p:blipFill>
          <a:blip r:embed="rId4"/>
          <a:srcRect t="2778" b="2778"/>
          <a:stretch>
            <a:fillRect/>
          </a:stretch>
        </p:blipFill>
        <p:spPr>
          <a:xfrm>
            <a:off x="4449927" y="1920240"/>
            <a:ext cx="3291840" cy="3108960"/>
          </a:xfrm>
          <a:prstGeom prst="rect">
            <a:avLst/>
          </a:prstGeom>
        </p:spPr>
      </p:pic>
      <p:sp>
        <p:nvSpPr>
          <p:cNvPr id="9" name="Rectangle 8"/>
          <p:cNvSpPr/>
          <p:nvPr/>
        </p:nvSpPr>
        <p:spPr>
          <a:xfrm>
            <a:off x="4449927" y="5029200"/>
            <a:ext cx="3291840" cy="64008"/>
          </a:xfrm>
          <a:prstGeom prst="rect">
            <a:avLst/>
          </a:prstGeom>
          <a:solidFill>
            <a:srgbClr val="FDB9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49927" y="5212080"/>
            <a:ext cx="3291840" cy="1463040"/>
          </a:xfrm>
          <a:prstGeom prst="rect">
            <a:avLst/>
          </a:prstGeom>
          <a:noFill/>
        </p:spPr>
        <p:txBody>
          <a:bodyPr wrap="square" anchor="t" lIns="0" rIns="0" tIns="0" bIns="0">
            <a:spAutoFit/>
          </a:bodyPr>
          <a:lstStyle/>
          <a:p>
            <a:pPr algn="l"/>
            <a:r>
              <a:rPr sz="1800" b="1">
                <a:solidFill>
                  <a:srgbClr val="FFFFFF"/>
                </a:solidFill>
                <a:latin typeface="Montserrat"/>
              </a:rPr>
              <a:t>Perry Howard, FASLA</a:t>
            </a:r>
          </a:p>
          <a:p>
            <a:pPr algn="l">
              <a:spcBef>
                <a:spcPts val="400"/>
              </a:spcBef>
            </a:pPr>
            <a:r>
              <a:rPr sz="1400" b="0">
                <a:solidFill>
                  <a:srgbClr val="FDB931"/>
                </a:solidFill>
                <a:latin typeface="Montserrat"/>
              </a:rPr>
              <a:t>Director from 1989; first African American ASLA president</a:t>
            </a:r>
          </a:p>
        </p:txBody>
      </p:sp>
      <p:pic>
        <p:nvPicPr>
          <p:cNvPr id="11" name="Picture 10" descr="hood.jpg"/>
          <p:cNvPicPr>
            <a:picLocks noChangeAspect="1"/>
          </p:cNvPicPr>
          <p:nvPr/>
        </p:nvPicPr>
        <p:blipFill>
          <a:blip r:embed="rId5"/>
          <a:srcRect t="18526" b="18526"/>
          <a:stretch>
            <a:fillRect/>
          </a:stretch>
        </p:blipFill>
        <p:spPr>
          <a:xfrm>
            <a:off x="8259775" y="1920240"/>
            <a:ext cx="3291840" cy="3108960"/>
          </a:xfrm>
          <a:prstGeom prst="rect">
            <a:avLst/>
          </a:prstGeom>
        </p:spPr>
      </p:pic>
      <p:sp>
        <p:nvSpPr>
          <p:cNvPr id="12" name="Rectangle 11"/>
          <p:cNvSpPr/>
          <p:nvPr/>
        </p:nvSpPr>
        <p:spPr>
          <a:xfrm>
            <a:off x="8259775" y="5029200"/>
            <a:ext cx="3291840" cy="64008"/>
          </a:xfrm>
          <a:prstGeom prst="rect">
            <a:avLst/>
          </a:prstGeom>
          <a:solidFill>
            <a:srgbClr val="FDB9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59775" y="5212080"/>
            <a:ext cx="3291840" cy="1463040"/>
          </a:xfrm>
          <a:prstGeom prst="rect">
            <a:avLst/>
          </a:prstGeom>
          <a:noFill/>
        </p:spPr>
        <p:txBody>
          <a:bodyPr wrap="square" anchor="t" lIns="0" rIns="0" tIns="0" bIns="0">
            <a:spAutoFit/>
          </a:bodyPr>
          <a:lstStyle/>
          <a:p>
            <a:pPr algn="l"/>
            <a:r>
              <a:rPr sz="1800" b="1">
                <a:solidFill>
                  <a:srgbClr val="FFFFFF"/>
                </a:solidFill>
                <a:latin typeface="Montserrat"/>
              </a:rPr>
              <a:t>Walter Hood, '81</a:t>
            </a:r>
          </a:p>
          <a:p>
            <a:pPr algn="l">
              <a:spcBef>
                <a:spcPts val="400"/>
              </a:spcBef>
            </a:pPr>
            <a:r>
              <a:rPr sz="1400" b="0">
                <a:solidFill>
                  <a:srgbClr val="FDB931"/>
                </a:solidFill>
                <a:latin typeface="Montserrat"/>
              </a:rPr>
              <a:t>MacArthur Fellow; Hood Design Studio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white.jpg"/>
          <p:cNvPicPr>
            <a:picLocks noChangeAspect="1"/>
          </p:cNvPicPr>
          <p:nvPr/>
        </p:nvPicPr>
        <p:blipFill>
          <a:blip r:embed="rId3"/>
          <a:srcRect l="1" r="1"/>
          <a:stretch>
            <a:fillRect/>
          </a:stretch>
        </p:blipFill>
        <p:spPr>
          <a:xfrm>
            <a:off x="0" y="0"/>
            <a:ext cx="12191695" cy="6858000"/>
          </a:xfrm>
          <a:prstGeom prst="rect">
            <a:avLst/>
          </a:prstGeom>
        </p:spPr>
      </p:pic>
      <p:sp>
        <p:nvSpPr>
          <p:cNvPr id="3" name="TextBox 2"/>
          <p:cNvSpPr txBox="1"/>
          <p:nvPr/>
        </p:nvSpPr>
        <p:spPr>
          <a:xfrm>
            <a:off x="822960" y="1371600"/>
            <a:ext cx="10515600" cy="2377440"/>
          </a:xfrm>
          <a:prstGeom prst="rect">
            <a:avLst/>
          </a:prstGeom>
          <a:noFill/>
        </p:spPr>
        <p:txBody>
          <a:bodyPr wrap="square" anchor="t" lIns="0" rIns="0" tIns="0" bIns="0">
            <a:spAutoFit/>
          </a:bodyPr>
          <a:lstStyle/>
          <a:p>
            <a:pPr algn="l"/>
            <a:r>
              <a:rPr sz="12000" b="1">
                <a:solidFill>
                  <a:srgbClr val="004684"/>
                </a:solidFill>
                <a:latin typeface="Montserrat"/>
              </a:rPr>
              <a:t>1 of 1</a:t>
            </a:r>
          </a:p>
        </p:txBody>
      </p:sp>
      <p:sp>
        <p:nvSpPr>
          <p:cNvPr id="4" name="Rectangle 3"/>
          <p:cNvSpPr/>
          <p:nvPr/>
        </p:nvSpPr>
        <p:spPr>
          <a:xfrm>
            <a:off x="868680" y="3794760"/>
            <a:ext cx="1828800" cy="73152"/>
          </a:xfrm>
          <a:prstGeom prst="rect">
            <a:avLst/>
          </a:prstGeom>
          <a:solidFill>
            <a:srgbClr val="FDB9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69080"/>
            <a:ext cx="9601200" cy="1463040"/>
          </a:xfrm>
          <a:prstGeom prst="rect">
            <a:avLst/>
          </a:prstGeom>
          <a:noFill/>
        </p:spPr>
        <p:txBody>
          <a:bodyPr wrap="square" anchor="t" lIns="0" rIns="0" tIns="0" bIns="0">
            <a:spAutoFit/>
          </a:bodyPr>
          <a:lstStyle/>
          <a:p>
            <a:pPr algn="l"/>
            <a:r>
              <a:rPr sz="2600" b="0">
                <a:solidFill>
                  <a:srgbClr val="1F2937"/>
                </a:solidFill>
                <a:latin typeface="Montserrat"/>
              </a:rPr>
              <a:t>The only accredited undergraduate landscape architecture program at any HBCU in the nation.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hood.jpg"/>
          <p:cNvPicPr>
            <a:picLocks noChangeAspect="1"/>
          </p:cNvPicPr>
          <p:nvPr/>
        </p:nvPicPr>
        <p:blipFill>
          <a:blip r:embed="rId3"/>
          <a:srcRect l="7324" r="7324"/>
          <a:stretch>
            <a:fillRect/>
          </a:stretch>
        </p:blipFill>
        <p:spPr>
          <a:xfrm>
            <a:off x="0" y="0"/>
            <a:ext cx="3901342" cy="6858000"/>
          </a:xfrm>
          <a:prstGeom prst="rect">
            <a:avLst/>
          </a:prstGeom>
        </p:spPr>
      </p:pic>
      <p:pic>
        <p:nvPicPr>
          <p:cNvPr id="3" name="Picture 2" descr="deyoung.jpg"/>
          <p:cNvPicPr>
            <a:picLocks noChangeAspect="1"/>
          </p:cNvPicPr>
          <p:nvPr/>
        </p:nvPicPr>
        <p:blipFill>
          <a:blip r:embed="rId4"/>
          <a:srcRect l="34667" r="34667"/>
          <a:stretch>
            <a:fillRect/>
          </a:stretch>
        </p:blipFill>
        <p:spPr>
          <a:xfrm>
            <a:off x="3901342" y="0"/>
            <a:ext cx="2804089" cy="6858000"/>
          </a:xfrm>
          <a:prstGeom prst="rect">
            <a:avLst/>
          </a:prstGeom>
        </p:spPr>
      </p:pic>
      <p:sp>
        <p:nvSpPr>
          <p:cNvPr id="4" name="Rectangle 3"/>
          <p:cNvSpPr/>
          <p:nvPr/>
        </p:nvSpPr>
        <p:spPr>
          <a:xfrm>
            <a:off x="3901342" y="6035040"/>
            <a:ext cx="2804089" cy="822960"/>
          </a:xfrm>
          <a:prstGeom prst="rect">
            <a:avLst/>
          </a:prstGeom>
          <a:solidFill>
            <a:srgbClr val="004684">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084222" y="6035040"/>
            <a:ext cx="2438329" cy="822960"/>
          </a:xfrm>
          <a:prstGeom prst="rect">
            <a:avLst/>
          </a:prstGeom>
          <a:noFill/>
        </p:spPr>
        <p:txBody>
          <a:bodyPr wrap="square" anchor="ctr" lIns="0" rIns="0" tIns="0" bIns="0">
            <a:spAutoFit/>
          </a:bodyPr>
          <a:lstStyle/>
          <a:p>
            <a:pPr algn="l"/>
            <a:r>
              <a:rPr sz="1200" b="0">
                <a:solidFill>
                  <a:srgbClr val="FFFFFF"/>
                </a:solidFill>
                <a:latin typeface="Montserrat"/>
              </a:rPr>
              <a:t>de Young Museum gardens, San Francisco</a:t>
            </a:r>
          </a:p>
        </p:txBody>
      </p:sp>
      <p:sp>
        <p:nvSpPr>
          <p:cNvPr id="6" name="Rectangle 5"/>
          <p:cNvSpPr/>
          <p:nvPr/>
        </p:nvSpPr>
        <p:spPr>
          <a:xfrm>
            <a:off x="6705432" y="0"/>
            <a:ext cx="5486262" cy="6858000"/>
          </a:xfrm>
          <a:prstGeom prst="rect">
            <a:avLst/>
          </a:prstGeom>
          <a:solidFill>
            <a:srgbClr val="0046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08352" y="731520"/>
            <a:ext cx="7315200" cy="365760"/>
          </a:xfrm>
          <a:prstGeom prst="rect">
            <a:avLst/>
          </a:prstGeom>
          <a:noFill/>
        </p:spPr>
        <p:txBody>
          <a:bodyPr wrap="square" anchor="t" lIns="0" rIns="0" tIns="0" bIns="0">
            <a:spAutoFit/>
          </a:bodyPr>
          <a:lstStyle/>
          <a:p>
            <a:pPr algn="l"/>
            <a:r>
              <a:rPr sz="1400" b="1">
                <a:solidFill>
                  <a:srgbClr val="FDB931"/>
                </a:solidFill>
                <a:latin typeface="Montserrat"/>
              </a:rPr>
              <a:t>ALUMNI SPOTLIGHT</a:t>
            </a:r>
          </a:p>
        </p:txBody>
      </p:sp>
      <p:sp>
        <p:nvSpPr>
          <p:cNvPr id="8" name="TextBox 7"/>
          <p:cNvSpPr txBox="1"/>
          <p:nvPr/>
        </p:nvSpPr>
        <p:spPr>
          <a:xfrm>
            <a:off x="7208352" y="1143000"/>
            <a:ext cx="4571862" cy="1280160"/>
          </a:xfrm>
          <a:prstGeom prst="rect">
            <a:avLst/>
          </a:prstGeom>
          <a:noFill/>
        </p:spPr>
        <p:txBody>
          <a:bodyPr wrap="square" anchor="t" lIns="0" rIns="0" tIns="0" bIns="0">
            <a:spAutoFit/>
          </a:bodyPr>
          <a:lstStyle/>
          <a:p>
            <a:pPr algn="l"/>
            <a:r>
              <a:rPr sz="3800" b="1">
                <a:solidFill>
                  <a:srgbClr val="FFFFFF"/>
                </a:solidFill>
                <a:latin typeface="Montserrat"/>
              </a:rPr>
              <a:t>Walter Hood</a:t>
            </a:r>
          </a:p>
          <a:p>
            <a:pPr algn="l">
              <a:spcBef>
                <a:spcPts val="400"/>
              </a:spcBef>
            </a:pPr>
            <a:r>
              <a:rPr sz="1800" b="0">
                <a:solidFill>
                  <a:srgbClr val="FDB931"/>
                </a:solidFill>
                <a:latin typeface="Montserrat"/>
              </a:rPr>
              <a:t>BS Landscape Architecture, A&amp;T '81</a:t>
            </a:r>
          </a:p>
        </p:txBody>
      </p:sp>
      <p:sp>
        <p:nvSpPr>
          <p:cNvPr id="9" name="Rectangle 8"/>
          <p:cNvSpPr/>
          <p:nvPr/>
        </p:nvSpPr>
        <p:spPr>
          <a:xfrm>
            <a:off x="7208352" y="2514600"/>
            <a:ext cx="1097280" cy="73152"/>
          </a:xfrm>
          <a:prstGeom prst="rect">
            <a:avLst/>
          </a:prstGeom>
          <a:solidFill>
            <a:srgbClr val="FDB9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208352" y="2788920"/>
            <a:ext cx="4571862" cy="3657600"/>
          </a:xfrm>
          <a:prstGeom prst="rect">
            <a:avLst/>
          </a:prstGeom>
          <a:noFill/>
        </p:spPr>
        <p:txBody>
          <a:bodyPr wrap="square" anchor="t" lIns="0" rIns="0" tIns="0" bIns="0">
            <a:spAutoFit/>
          </a:bodyPr>
          <a:lstStyle/>
          <a:p>
            <a:pPr algn="l"/>
            <a:r>
              <a:rPr sz="1700" b="0">
                <a:solidFill>
                  <a:srgbClr val="FFFFFF"/>
                </a:solidFill>
                <a:latin typeface="Montserrat"/>
              </a:rPr>
              <a:t>Founder, Hood Design Studio, Oakland, CA</a:t>
            </a:r>
          </a:p>
          <a:p>
            <a:pPr algn="l">
              <a:spcBef>
                <a:spcPts val="1000"/>
              </a:spcBef>
            </a:pPr>
            <a:r>
              <a:rPr sz="1700" b="0">
                <a:solidFill>
                  <a:srgbClr val="FFFFFF"/>
                </a:solidFill>
                <a:latin typeface="Montserrat"/>
              </a:rPr>
              <a:t>International African American Museum landscape, Charleston, SC</a:t>
            </a:r>
          </a:p>
          <a:p>
            <a:pPr algn="l">
              <a:spcBef>
                <a:spcPts val="1000"/>
              </a:spcBef>
            </a:pPr>
            <a:r>
              <a:rPr sz="1700" b="0">
                <a:solidFill>
                  <a:srgbClr val="FFFFFF"/>
                </a:solidFill>
                <a:latin typeface="Montserrat"/>
              </a:rPr>
              <a:t>de Young Museum gardens, San Francisco</a:t>
            </a:r>
          </a:p>
          <a:p>
            <a:pPr algn="l">
              <a:spcBef>
                <a:spcPts val="1000"/>
              </a:spcBef>
            </a:pPr>
            <a:r>
              <a:rPr sz="1700" b="0">
                <a:solidFill>
                  <a:srgbClr val="FFFFFF"/>
                </a:solidFill>
                <a:latin typeface="Montserrat"/>
              </a:rPr>
              <a:t>2019 MacArthur "Genius" Fellow</a:t>
            </a:r>
          </a:p>
          <a:p>
            <a:pPr algn="l">
              <a:spcBef>
                <a:spcPts val="1000"/>
              </a:spcBef>
            </a:pPr>
            <a:r>
              <a:rPr sz="1700" b="0">
                <a:solidFill>
                  <a:srgbClr val="FFFFFF"/>
                </a:solidFill>
                <a:latin typeface="Montserrat"/>
              </a:rPr>
              <a:t>2024 Vincent Scully Prize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crew.jpg"/>
          <p:cNvPicPr>
            <a:picLocks noChangeAspect="1"/>
          </p:cNvPicPr>
          <p:nvPr/>
        </p:nvPicPr>
        <p:blipFill>
          <a:blip r:embed="rId3"/>
          <a:srcRect l="9841" r="9841"/>
          <a:stretch>
            <a:fillRect/>
          </a:stretch>
        </p:blipFill>
        <p:spPr>
          <a:xfrm>
            <a:off x="0" y="0"/>
            <a:ext cx="7315017" cy="6858000"/>
          </a:xfrm>
          <a:prstGeom prst="rect">
            <a:avLst/>
          </a:prstGeom>
        </p:spPr>
      </p:pic>
      <p:sp>
        <p:nvSpPr>
          <p:cNvPr id="3" name="Rectangle 2"/>
          <p:cNvSpPr/>
          <p:nvPr/>
        </p:nvSpPr>
        <p:spPr>
          <a:xfrm>
            <a:off x="7315017" y="0"/>
            <a:ext cx="4876678" cy="6858000"/>
          </a:xfrm>
          <a:prstGeom prst="rect">
            <a:avLst/>
          </a:prstGeom>
          <a:solidFill>
            <a:srgbClr val="0046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817937" y="1097280"/>
            <a:ext cx="7315200" cy="365760"/>
          </a:xfrm>
          <a:prstGeom prst="rect">
            <a:avLst/>
          </a:prstGeom>
          <a:noFill/>
        </p:spPr>
        <p:txBody>
          <a:bodyPr wrap="square" anchor="t" lIns="0" rIns="0" tIns="0" bIns="0">
            <a:spAutoFit/>
          </a:bodyPr>
          <a:lstStyle/>
          <a:p>
            <a:pPr algn="l"/>
            <a:r>
              <a:rPr sz="1400" b="1">
                <a:solidFill>
                  <a:srgbClr val="FDB931"/>
                </a:solidFill>
                <a:latin typeface="Montserrat"/>
              </a:rPr>
              <a:t>STUDIO LIFE</a:t>
            </a:r>
          </a:p>
        </p:txBody>
      </p:sp>
      <p:sp>
        <p:nvSpPr>
          <p:cNvPr id="5" name="TextBox 4"/>
          <p:cNvSpPr txBox="1"/>
          <p:nvPr/>
        </p:nvSpPr>
        <p:spPr>
          <a:xfrm>
            <a:off x="7817937" y="1554480"/>
            <a:ext cx="3962278" cy="1463040"/>
          </a:xfrm>
          <a:prstGeom prst="rect">
            <a:avLst/>
          </a:prstGeom>
          <a:noFill/>
        </p:spPr>
        <p:txBody>
          <a:bodyPr wrap="square" anchor="t" lIns="0" rIns="0" tIns="0" bIns="0">
            <a:spAutoFit/>
          </a:bodyPr>
          <a:lstStyle/>
          <a:p>
            <a:pPr algn="l"/>
            <a:r>
              <a:rPr sz="3000" b="1">
                <a:solidFill>
                  <a:srgbClr val="FFFFFF"/>
                </a:solidFill>
                <a:latin typeface="Montserrat"/>
              </a:rPr>
              <a:t>Where ideas become designs</a:t>
            </a:r>
          </a:p>
        </p:txBody>
      </p:sp>
      <p:sp>
        <p:nvSpPr>
          <p:cNvPr id="6" name="Rectangle 5"/>
          <p:cNvSpPr/>
          <p:nvPr/>
        </p:nvSpPr>
        <p:spPr>
          <a:xfrm>
            <a:off x="7817937" y="3063240"/>
            <a:ext cx="1097280" cy="73152"/>
          </a:xfrm>
          <a:prstGeom prst="rect">
            <a:avLst/>
          </a:prstGeom>
          <a:solidFill>
            <a:srgbClr val="FDB9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817937" y="3337560"/>
            <a:ext cx="3962278" cy="2926080"/>
          </a:xfrm>
          <a:prstGeom prst="rect">
            <a:avLst/>
          </a:prstGeom>
          <a:noFill/>
        </p:spPr>
        <p:txBody>
          <a:bodyPr wrap="square" anchor="t" lIns="0" rIns="0" tIns="0" bIns="0">
            <a:spAutoFit/>
          </a:bodyPr>
          <a:lstStyle/>
          <a:p>
            <a:pPr algn="l"/>
            <a:r>
              <a:rPr sz="1800" b="0">
                <a:solidFill>
                  <a:srgbClr val="FFFFFF"/>
                </a:solidFill>
                <a:latin typeface="Montserrat"/>
              </a:rPr>
              <a:t>Sketch, model, critique, repeat</a:t>
            </a:r>
          </a:p>
          <a:p>
            <a:pPr algn="l">
              <a:spcBef>
                <a:spcPts val="1000"/>
              </a:spcBef>
            </a:pPr>
            <a:r>
              <a:rPr sz="1800" b="0">
                <a:solidFill>
                  <a:srgbClr val="FFFFFF"/>
                </a:solidFill>
                <a:latin typeface="Montserrat"/>
              </a:rPr>
              <a:t>Learn in a cohort with your class year</a:t>
            </a:r>
          </a:p>
          <a:p>
            <a:pPr algn="l">
              <a:spcBef>
                <a:spcPts val="1000"/>
              </a:spcBef>
            </a:pPr>
            <a:r>
              <a:rPr sz="1800" b="0">
                <a:solidFill>
                  <a:srgbClr val="FFFFFF"/>
                </a:solidFill>
                <a:latin typeface="Montserrat"/>
              </a:rPr>
              <a:t>Small studios: about 15 students per instructor</a:t>
            </a:r>
          </a:p>
          <a:p>
            <a:pPr algn="l">
              <a:spcBef>
                <a:spcPts val="1000"/>
              </a:spcBef>
            </a:pPr>
            <a:r>
              <a:rPr sz="1800" b="0">
                <a:solidFill>
                  <a:srgbClr val="FFFFFF"/>
                </a:solidFill>
                <a:latin typeface="Montserrat"/>
              </a:rPr>
              <a:t>A faculty lead for every class year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ketch.jpg"/>
          <p:cNvPicPr>
            <a:picLocks noChangeAspect="1"/>
          </p:cNvPicPr>
          <p:nvPr/>
        </p:nvPicPr>
        <p:blipFill>
          <a:blip r:embed="rId3"/>
          <a:srcRect l="13188" r="13188"/>
          <a:stretch>
            <a:fillRect/>
          </a:stretch>
        </p:blipFill>
        <p:spPr>
          <a:xfrm>
            <a:off x="0" y="0"/>
            <a:ext cx="6705295" cy="6858000"/>
          </a:xfrm>
          <a:prstGeom prst="rect">
            <a:avLst/>
          </a:prstGeom>
        </p:spPr>
      </p:pic>
      <p:sp>
        <p:nvSpPr>
          <p:cNvPr id="3" name="Rectangle 2"/>
          <p:cNvSpPr/>
          <p:nvPr/>
        </p:nvSpPr>
        <p:spPr>
          <a:xfrm>
            <a:off x="6705295" y="0"/>
            <a:ext cx="5486400" cy="6858000"/>
          </a:xfrm>
          <a:prstGeom prst="rect">
            <a:avLst/>
          </a:prstGeom>
          <a:solidFill>
            <a:srgbClr val="0046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53935" y="914400"/>
            <a:ext cx="7315200" cy="365760"/>
          </a:xfrm>
          <a:prstGeom prst="rect">
            <a:avLst/>
          </a:prstGeom>
          <a:noFill/>
        </p:spPr>
        <p:txBody>
          <a:bodyPr wrap="square" anchor="t" lIns="0" rIns="0" tIns="0" bIns="0">
            <a:spAutoFit/>
          </a:bodyPr>
          <a:lstStyle/>
          <a:p>
            <a:pPr algn="l"/>
            <a:r>
              <a:rPr sz="1400" b="1">
                <a:solidFill>
                  <a:srgbClr val="FDB931"/>
                </a:solidFill>
                <a:latin typeface="Montserrat"/>
              </a:rPr>
              <a:t>TOOLS YOU'LL USE</a:t>
            </a:r>
          </a:p>
        </p:txBody>
      </p:sp>
      <p:sp>
        <p:nvSpPr>
          <p:cNvPr id="5" name="TextBox 4"/>
          <p:cNvSpPr txBox="1"/>
          <p:nvPr/>
        </p:nvSpPr>
        <p:spPr>
          <a:xfrm>
            <a:off x="7253935" y="1371600"/>
            <a:ext cx="4389120" cy="1371600"/>
          </a:xfrm>
          <a:prstGeom prst="rect">
            <a:avLst/>
          </a:prstGeom>
          <a:noFill/>
        </p:spPr>
        <p:txBody>
          <a:bodyPr wrap="square" anchor="t" lIns="0" rIns="0" tIns="0" bIns="0">
            <a:spAutoFit/>
          </a:bodyPr>
          <a:lstStyle/>
          <a:p>
            <a:pPr algn="l"/>
            <a:r>
              <a:rPr sz="3200" b="1">
                <a:solidFill>
                  <a:srgbClr val="FFFFFF"/>
                </a:solidFill>
                <a:latin typeface="Montserrat"/>
              </a:rPr>
              <a:t>High-tech. High-touch.</a:t>
            </a:r>
          </a:p>
        </p:txBody>
      </p:sp>
      <p:sp>
        <p:nvSpPr>
          <p:cNvPr id="6" name="Rectangle 5"/>
          <p:cNvSpPr/>
          <p:nvPr/>
        </p:nvSpPr>
        <p:spPr>
          <a:xfrm>
            <a:off x="7253935" y="2743200"/>
            <a:ext cx="1097280" cy="73152"/>
          </a:xfrm>
          <a:prstGeom prst="rect">
            <a:avLst/>
          </a:prstGeom>
          <a:solidFill>
            <a:srgbClr val="FDB9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53935" y="3017520"/>
            <a:ext cx="4389120" cy="3474720"/>
          </a:xfrm>
          <a:prstGeom prst="rect">
            <a:avLst/>
          </a:prstGeom>
          <a:noFill/>
        </p:spPr>
        <p:txBody>
          <a:bodyPr wrap="square" anchor="t" lIns="0" rIns="0" tIns="0" bIns="0">
            <a:spAutoFit/>
          </a:bodyPr>
          <a:lstStyle/>
          <a:p>
            <a:pPr algn="l"/>
            <a:r>
              <a:rPr sz="1800" b="0">
                <a:solidFill>
                  <a:srgbClr val="FFFFFF"/>
                </a:solidFill>
                <a:latin typeface="Montserrat"/>
              </a:rPr>
              <a:t>Hand drawing &amp; model making</a:t>
            </a:r>
          </a:p>
          <a:p>
            <a:pPr algn="l">
              <a:spcBef>
                <a:spcPts val="1000"/>
              </a:spcBef>
            </a:pPr>
            <a:r>
              <a:rPr sz="1800" b="0">
                <a:solidFill>
                  <a:srgbClr val="FFFFFF"/>
                </a:solidFill>
                <a:latin typeface="Montserrat"/>
              </a:rPr>
              <a:t>AutoCAD Civil 3D, SketchUp, Adobe CC, Land F/X</a:t>
            </a:r>
          </a:p>
          <a:p>
            <a:pPr algn="l">
              <a:spcBef>
                <a:spcPts val="1000"/>
              </a:spcBef>
            </a:pPr>
            <a:r>
              <a:rPr sz="1800" b="0">
                <a:solidFill>
                  <a:srgbClr val="FFFFFF"/>
                </a:solidFill>
                <a:latin typeface="Montserrat"/>
              </a:rPr>
              <a:t>GIS mapping &amp; drone surveys</a:t>
            </a:r>
          </a:p>
          <a:p>
            <a:pPr algn="l">
              <a:spcBef>
                <a:spcPts val="1000"/>
              </a:spcBef>
            </a:pPr>
            <a:r>
              <a:rPr sz="1800" b="0">
                <a:solidFill>
                  <a:srgbClr val="FFFFFF"/>
                </a:solidFill>
                <a:latin typeface="Montserrat"/>
              </a:rPr>
              <a:t>3D digital twins &amp; AI site analysis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armer.jpg"/>
          <p:cNvPicPr>
            <a:picLocks noChangeAspect="1"/>
          </p:cNvPicPr>
          <p:nvPr/>
        </p:nvPicPr>
        <p:blipFill>
          <a:blip r:embed="rId3"/>
          <a:srcRect l="389" r="389"/>
          <a:stretch>
            <a:fillRect/>
          </a:stretch>
        </p:blipFill>
        <p:spPr>
          <a:xfrm>
            <a:off x="0" y="0"/>
            <a:ext cx="12191695" cy="6858000"/>
          </a:xfrm>
          <a:prstGeom prst="rect">
            <a:avLst/>
          </a:prstGeom>
        </p:spPr>
      </p:pic>
      <p:sp>
        <p:nvSpPr>
          <p:cNvPr id="3" name="Rectangle 2"/>
          <p:cNvSpPr/>
          <p:nvPr/>
        </p:nvSpPr>
        <p:spPr>
          <a:xfrm>
            <a:off x="0" y="0"/>
            <a:ext cx="12191695" cy="2194560"/>
          </a:xfrm>
          <a:prstGeom prst="rect">
            <a:avLst/>
          </a:prstGeom>
          <a:solidFill>
            <a:srgbClr val="004684">
              <a:alpha val="8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411480"/>
            <a:ext cx="10972800" cy="822960"/>
          </a:xfrm>
          <a:prstGeom prst="rect">
            <a:avLst/>
          </a:prstGeom>
          <a:noFill/>
        </p:spPr>
        <p:txBody>
          <a:bodyPr wrap="square" anchor="t" lIns="0" rIns="0" tIns="0" bIns="0">
            <a:spAutoFit/>
          </a:bodyPr>
          <a:lstStyle/>
          <a:p>
            <a:pPr algn="l"/>
            <a:r>
              <a:rPr sz="3400" b="1">
                <a:solidFill>
                  <a:srgbClr val="FFFFFF"/>
                </a:solidFill>
                <a:latin typeface="Montserrat"/>
              </a:rPr>
              <a:t>Our classroom has 1,000+ acres</a:t>
            </a:r>
          </a:p>
        </p:txBody>
      </p:sp>
      <p:sp>
        <p:nvSpPr>
          <p:cNvPr id="5" name="TextBox 4"/>
          <p:cNvSpPr txBox="1"/>
          <p:nvPr/>
        </p:nvSpPr>
        <p:spPr>
          <a:xfrm>
            <a:off x="640080" y="1234440"/>
            <a:ext cx="10972800" cy="731520"/>
          </a:xfrm>
          <a:prstGeom prst="rect">
            <a:avLst/>
          </a:prstGeom>
          <a:noFill/>
        </p:spPr>
        <p:txBody>
          <a:bodyPr wrap="square" anchor="t" lIns="0" rIns="0" tIns="0" bIns="0">
            <a:spAutoFit/>
          </a:bodyPr>
          <a:lstStyle/>
          <a:p>
            <a:pPr algn="l"/>
            <a:r>
              <a:rPr sz="2000" b="0">
                <a:solidFill>
                  <a:srgbClr val="FDB931"/>
                </a:solidFill>
                <a:latin typeface="Montserrat"/>
              </a:rPr>
              <a:t>492-acre living field lab  •  667-acre University Farm &amp; Research Park</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charrette.jpg"/>
          <p:cNvPicPr>
            <a:picLocks noChangeAspect="1"/>
          </p:cNvPicPr>
          <p:nvPr/>
        </p:nvPicPr>
        <p:blipFill>
          <a:blip r:embed="rId3"/>
          <a:srcRect l="21226" r="21226"/>
          <a:stretch>
            <a:fillRect/>
          </a:stretch>
        </p:blipFill>
        <p:spPr>
          <a:xfrm>
            <a:off x="5120511" y="0"/>
            <a:ext cx="7071183" cy="6858000"/>
          </a:xfrm>
          <a:prstGeom prst="rect">
            <a:avLst/>
          </a:prstGeom>
        </p:spPr>
      </p:pic>
      <p:sp>
        <p:nvSpPr>
          <p:cNvPr id="3" name="TextBox 2"/>
          <p:cNvSpPr txBox="1"/>
          <p:nvPr/>
        </p:nvSpPr>
        <p:spPr>
          <a:xfrm>
            <a:off x="640080" y="1188720"/>
            <a:ext cx="7315200" cy="365760"/>
          </a:xfrm>
          <a:prstGeom prst="rect">
            <a:avLst/>
          </a:prstGeom>
          <a:noFill/>
        </p:spPr>
        <p:txBody>
          <a:bodyPr wrap="square" anchor="t" lIns="0" rIns="0" tIns="0" bIns="0">
            <a:spAutoFit/>
          </a:bodyPr>
          <a:lstStyle/>
          <a:p>
            <a:pPr algn="l"/>
            <a:r>
              <a:rPr sz="1400" b="1">
                <a:solidFill>
                  <a:srgbClr val="004684"/>
                </a:solidFill>
                <a:latin typeface="Montserrat"/>
              </a:rPr>
              <a:t>REAL PROJECTS</a:t>
            </a:r>
          </a:p>
        </p:txBody>
      </p:sp>
      <p:sp>
        <p:nvSpPr>
          <p:cNvPr id="4" name="TextBox 3"/>
          <p:cNvSpPr txBox="1"/>
          <p:nvPr/>
        </p:nvSpPr>
        <p:spPr>
          <a:xfrm>
            <a:off x="640080" y="1645920"/>
            <a:ext cx="4480560" cy="1645920"/>
          </a:xfrm>
          <a:prstGeom prst="rect">
            <a:avLst/>
          </a:prstGeom>
          <a:noFill/>
        </p:spPr>
        <p:txBody>
          <a:bodyPr wrap="square" anchor="t" lIns="0" rIns="0" tIns="0" bIns="0">
            <a:spAutoFit/>
          </a:bodyPr>
          <a:lstStyle/>
          <a:p>
            <a:pPr algn="l"/>
            <a:r>
              <a:rPr sz="3200" b="1">
                <a:solidFill>
                  <a:srgbClr val="004684"/>
                </a:solidFill>
                <a:latin typeface="Montserrat"/>
              </a:rPr>
              <a:t>Design with the community</a:t>
            </a:r>
          </a:p>
        </p:txBody>
      </p:sp>
      <p:sp>
        <p:nvSpPr>
          <p:cNvPr id="5" name="Rectangle 4"/>
          <p:cNvSpPr/>
          <p:nvPr/>
        </p:nvSpPr>
        <p:spPr>
          <a:xfrm>
            <a:off x="640080" y="3383280"/>
            <a:ext cx="1097280" cy="73152"/>
          </a:xfrm>
          <a:prstGeom prst="rect">
            <a:avLst/>
          </a:prstGeom>
          <a:solidFill>
            <a:srgbClr val="FDB9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3657600"/>
            <a:ext cx="4389120" cy="2743200"/>
          </a:xfrm>
          <a:prstGeom prst="rect">
            <a:avLst/>
          </a:prstGeom>
          <a:noFill/>
        </p:spPr>
        <p:txBody>
          <a:bodyPr wrap="square" anchor="t" lIns="0" rIns="0" tIns="0" bIns="0">
            <a:spAutoFit/>
          </a:bodyPr>
          <a:lstStyle/>
          <a:p>
            <a:pPr algn="l"/>
            <a:r>
              <a:rPr sz="1800" b="0">
                <a:solidFill>
                  <a:srgbClr val="1F2937"/>
                </a:solidFill>
                <a:latin typeface="Montserrat"/>
              </a:rPr>
              <a:t>Lead design workshops with neighbors and farmers</a:t>
            </a:r>
          </a:p>
          <a:p>
            <a:pPr algn="l">
              <a:spcBef>
                <a:spcPts val="1000"/>
              </a:spcBef>
            </a:pPr>
            <a:r>
              <a:rPr sz="1800" b="0">
                <a:solidFill>
                  <a:srgbClr val="1F2937"/>
                </a:solidFill>
                <a:latin typeface="Montserrat"/>
              </a:rPr>
              <a:t>Turn people's ideas into real plans</a:t>
            </a:r>
          </a:p>
          <a:p>
            <a:pPr algn="l">
              <a:spcBef>
                <a:spcPts val="1000"/>
              </a:spcBef>
            </a:pPr>
            <a:r>
              <a:rPr sz="1800" b="0">
                <a:solidFill>
                  <a:srgbClr val="1F2937"/>
                </a:solidFill>
                <a:latin typeface="Montserrat"/>
              </a:rPr>
              <a:t>Serve communities across North Carolina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jpg"/>
          <p:cNvPicPr>
            <a:picLocks noChangeAspect="1"/>
          </p:cNvPicPr>
          <p:nvPr/>
        </p:nvPicPr>
        <p:blipFill>
          <a:blip r:embed="rId3"/>
          <a:srcRect l="1" r="1"/>
          <a:stretch>
            <a:fillRect/>
          </a:stretch>
        </p:blipFill>
        <p:spPr>
          <a:xfrm>
            <a:off x="0" y="0"/>
            <a:ext cx="12191695" cy="6858000"/>
          </a:xfrm>
          <a:prstGeom prst="rect">
            <a:avLst/>
          </a:prstGeom>
        </p:spPr>
      </p:pic>
      <p:sp>
        <p:nvSpPr>
          <p:cNvPr id="3" name="TextBox 2"/>
          <p:cNvSpPr txBox="1"/>
          <p:nvPr/>
        </p:nvSpPr>
        <p:spPr>
          <a:xfrm>
            <a:off x="640080" y="1188720"/>
            <a:ext cx="7315200" cy="365760"/>
          </a:xfrm>
          <a:prstGeom prst="rect">
            <a:avLst/>
          </a:prstGeom>
          <a:noFill/>
        </p:spPr>
        <p:txBody>
          <a:bodyPr wrap="square" anchor="t" lIns="0" rIns="0" tIns="0" bIns="0">
            <a:spAutoFit/>
          </a:bodyPr>
          <a:lstStyle/>
          <a:p>
            <a:pPr algn="l"/>
            <a:r>
              <a:rPr sz="1400" b="1">
                <a:solidFill>
                  <a:srgbClr val="004684"/>
                </a:solidFill>
                <a:latin typeface="Montserrat"/>
              </a:rPr>
              <a:t>CAREERS</a:t>
            </a:r>
          </a:p>
        </p:txBody>
      </p:sp>
      <p:sp>
        <p:nvSpPr>
          <p:cNvPr id="4" name="TextBox 3"/>
          <p:cNvSpPr txBox="1"/>
          <p:nvPr/>
        </p:nvSpPr>
        <p:spPr>
          <a:xfrm>
            <a:off x="640080" y="1572768"/>
            <a:ext cx="10972800" cy="822960"/>
          </a:xfrm>
          <a:prstGeom prst="rect">
            <a:avLst/>
          </a:prstGeom>
          <a:noFill/>
        </p:spPr>
        <p:txBody>
          <a:bodyPr wrap="square" anchor="t" lIns="0" rIns="0" tIns="0" bIns="0">
            <a:spAutoFit/>
          </a:bodyPr>
          <a:lstStyle/>
          <a:p>
            <a:pPr algn="l"/>
            <a:r>
              <a:rPr sz="3400" b="1">
                <a:solidFill>
                  <a:srgbClr val="004684"/>
                </a:solidFill>
                <a:latin typeface="Montserrat"/>
              </a:rPr>
              <a:t>Where this degree can take you</a:t>
            </a:r>
          </a:p>
        </p:txBody>
      </p:sp>
      <p:sp>
        <p:nvSpPr>
          <p:cNvPr id="5" name="Rounded Rectangle 4"/>
          <p:cNvSpPr/>
          <p:nvPr/>
        </p:nvSpPr>
        <p:spPr>
          <a:xfrm>
            <a:off x="640080" y="2560320"/>
            <a:ext cx="2514600" cy="1005840"/>
          </a:xfrm>
          <a:prstGeom prst="roundRect">
            <a:avLst/>
          </a:prstGeom>
          <a:solidFill>
            <a:srgbClr val="0046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59" y="2560320"/>
            <a:ext cx="2148840" cy="1005840"/>
          </a:xfrm>
          <a:prstGeom prst="rect">
            <a:avLst/>
          </a:prstGeom>
          <a:noFill/>
        </p:spPr>
        <p:txBody>
          <a:bodyPr wrap="square" anchor="ctr" lIns="0" rIns="0" tIns="0" bIns="0">
            <a:spAutoFit/>
          </a:bodyPr>
          <a:lstStyle/>
          <a:p>
            <a:pPr algn="ctr"/>
            <a:r>
              <a:rPr sz="1800" b="1">
                <a:solidFill>
                  <a:srgbClr val="FFFFFF"/>
                </a:solidFill>
                <a:latin typeface="Montserrat"/>
              </a:rPr>
              <a:t>Design firms</a:t>
            </a:r>
          </a:p>
        </p:txBody>
      </p:sp>
      <p:sp>
        <p:nvSpPr>
          <p:cNvPr id="7" name="Rounded Rectangle 6"/>
          <p:cNvSpPr/>
          <p:nvPr/>
        </p:nvSpPr>
        <p:spPr>
          <a:xfrm>
            <a:off x="3429000" y="2560320"/>
            <a:ext cx="2514600" cy="1005840"/>
          </a:xfrm>
          <a:prstGeom prst="roundRect">
            <a:avLst/>
          </a:prstGeom>
          <a:solidFill>
            <a:srgbClr val="FDB9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11880" y="2560320"/>
            <a:ext cx="2148840" cy="1005840"/>
          </a:xfrm>
          <a:prstGeom prst="rect">
            <a:avLst/>
          </a:prstGeom>
          <a:noFill/>
        </p:spPr>
        <p:txBody>
          <a:bodyPr wrap="square" anchor="ctr" lIns="0" rIns="0" tIns="0" bIns="0">
            <a:spAutoFit/>
          </a:bodyPr>
          <a:lstStyle/>
          <a:p>
            <a:pPr algn="ctr"/>
            <a:r>
              <a:rPr sz="1800" b="1">
                <a:solidFill>
                  <a:srgbClr val="004684"/>
                </a:solidFill>
                <a:latin typeface="Montserrat"/>
              </a:rPr>
              <a:t>City &amp; county planning</a:t>
            </a:r>
          </a:p>
        </p:txBody>
      </p:sp>
      <p:sp>
        <p:nvSpPr>
          <p:cNvPr id="9" name="Rounded Rectangle 8"/>
          <p:cNvSpPr/>
          <p:nvPr/>
        </p:nvSpPr>
        <p:spPr>
          <a:xfrm>
            <a:off x="6217920" y="2560320"/>
            <a:ext cx="2514600" cy="1005840"/>
          </a:xfrm>
          <a:prstGeom prst="roundRect">
            <a:avLst/>
          </a:prstGeom>
          <a:solidFill>
            <a:srgbClr val="0046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2560320"/>
            <a:ext cx="2148840" cy="1005840"/>
          </a:xfrm>
          <a:prstGeom prst="rect">
            <a:avLst/>
          </a:prstGeom>
          <a:noFill/>
        </p:spPr>
        <p:txBody>
          <a:bodyPr wrap="square" anchor="ctr" lIns="0" rIns="0" tIns="0" bIns="0">
            <a:spAutoFit/>
          </a:bodyPr>
          <a:lstStyle/>
          <a:p>
            <a:pPr algn="ctr"/>
            <a:r>
              <a:rPr sz="1800" b="1">
                <a:solidFill>
                  <a:srgbClr val="FFFFFF"/>
                </a:solidFill>
                <a:latin typeface="Montserrat"/>
              </a:rPr>
              <a:t>State DOT</a:t>
            </a:r>
          </a:p>
        </p:txBody>
      </p:sp>
      <p:sp>
        <p:nvSpPr>
          <p:cNvPr id="11" name="Rounded Rectangle 10"/>
          <p:cNvSpPr/>
          <p:nvPr/>
        </p:nvSpPr>
        <p:spPr>
          <a:xfrm>
            <a:off x="9006839" y="2560320"/>
            <a:ext cx="2514600" cy="1005840"/>
          </a:xfrm>
          <a:prstGeom prst="roundRect">
            <a:avLst/>
          </a:prstGeom>
          <a:solidFill>
            <a:srgbClr val="FDB9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89719" y="2560320"/>
            <a:ext cx="2148840" cy="1005840"/>
          </a:xfrm>
          <a:prstGeom prst="rect">
            <a:avLst/>
          </a:prstGeom>
          <a:noFill/>
        </p:spPr>
        <p:txBody>
          <a:bodyPr wrap="square" anchor="ctr" lIns="0" rIns="0" tIns="0" bIns="0">
            <a:spAutoFit/>
          </a:bodyPr>
          <a:lstStyle/>
          <a:p>
            <a:pPr algn="ctr"/>
            <a:r>
              <a:rPr sz="1800" b="1">
                <a:solidFill>
                  <a:srgbClr val="004684"/>
                </a:solidFill>
                <a:latin typeface="Montserrat"/>
              </a:rPr>
              <a:t>National Park Service</a:t>
            </a:r>
          </a:p>
        </p:txBody>
      </p:sp>
      <p:sp>
        <p:nvSpPr>
          <p:cNvPr id="13" name="Rounded Rectangle 12"/>
          <p:cNvSpPr/>
          <p:nvPr/>
        </p:nvSpPr>
        <p:spPr>
          <a:xfrm>
            <a:off x="640080" y="3794760"/>
            <a:ext cx="2514600" cy="1005840"/>
          </a:xfrm>
          <a:prstGeom prst="roundRect">
            <a:avLst/>
          </a:prstGeom>
          <a:solidFill>
            <a:srgbClr val="0046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59" y="3794760"/>
            <a:ext cx="2148840" cy="1005840"/>
          </a:xfrm>
          <a:prstGeom prst="rect">
            <a:avLst/>
          </a:prstGeom>
          <a:noFill/>
        </p:spPr>
        <p:txBody>
          <a:bodyPr wrap="square" anchor="ctr" lIns="0" rIns="0" tIns="0" bIns="0">
            <a:spAutoFit/>
          </a:bodyPr>
          <a:lstStyle/>
          <a:p>
            <a:pPr algn="ctr"/>
            <a:r>
              <a:rPr sz="1800" b="1">
                <a:solidFill>
                  <a:srgbClr val="FFFFFF"/>
                </a:solidFill>
                <a:latin typeface="Montserrat"/>
              </a:rPr>
              <a:t>USDA &amp; conservation</a:t>
            </a:r>
          </a:p>
        </p:txBody>
      </p:sp>
      <p:sp>
        <p:nvSpPr>
          <p:cNvPr id="15" name="Rounded Rectangle 14"/>
          <p:cNvSpPr/>
          <p:nvPr/>
        </p:nvSpPr>
        <p:spPr>
          <a:xfrm>
            <a:off x="3429000" y="3794760"/>
            <a:ext cx="2514600" cy="1005840"/>
          </a:xfrm>
          <a:prstGeom prst="roundRect">
            <a:avLst/>
          </a:prstGeom>
          <a:solidFill>
            <a:srgbClr val="FDB9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11880" y="3794760"/>
            <a:ext cx="2148840" cy="1005840"/>
          </a:xfrm>
          <a:prstGeom prst="rect">
            <a:avLst/>
          </a:prstGeom>
          <a:noFill/>
        </p:spPr>
        <p:txBody>
          <a:bodyPr wrap="square" anchor="ctr" lIns="0" rIns="0" tIns="0" bIns="0">
            <a:spAutoFit/>
          </a:bodyPr>
          <a:lstStyle/>
          <a:p>
            <a:pPr algn="ctr"/>
            <a:r>
              <a:rPr sz="1800" b="1">
                <a:solidFill>
                  <a:srgbClr val="004684"/>
                </a:solidFill>
                <a:latin typeface="Montserrat"/>
              </a:rPr>
              <a:t>Developers &amp; builders</a:t>
            </a:r>
          </a:p>
        </p:txBody>
      </p:sp>
      <p:sp>
        <p:nvSpPr>
          <p:cNvPr id="17" name="Rounded Rectangle 16"/>
          <p:cNvSpPr/>
          <p:nvPr/>
        </p:nvSpPr>
        <p:spPr>
          <a:xfrm>
            <a:off x="6217920" y="3794760"/>
            <a:ext cx="2514600" cy="1005840"/>
          </a:xfrm>
          <a:prstGeom prst="roundRect">
            <a:avLst/>
          </a:prstGeom>
          <a:solidFill>
            <a:srgbClr val="0046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0800" y="3794760"/>
            <a:ext cx="2148840" cy="1005840"/>
          </a:xfrm>
          <a:prstGeom prst="rect">
            <a:avLst/>
          </a:prstGeom>
          <a:noFill/>
        </p:spPr>
        <p:txBody>
          <a:bodyPr wrap="square" anchor="ctr" lIns="0" rIns="0" tIns="0" bIns="0">
            <a:spAutoFit/>
          </a:bodyPr>
          <a:lstStyle/>
          <a:p>
            <a:pPr algn="ctr"/>
            <a:r>
              <a:rPr sz="1800" b="1">
                <a:solidFill>
                  <a:srgbClr val="FFFFFF"/>
                </a:solidFill>
                <a:latin typeface="Montserrat"/>
              </a:rPr>
              <a:t>Campus planning</a:t>
            </a:r>
          </a:p>
        </p:txBody>
      </p:sp>
      <p:sp>
        <p:nvSpPr>
          <p:cNvPr id="19" name="Rounded Rectangle 18"/>
          <p:cNvSpPr/>
          <p:nvPr/>
        </p:nvSpPr>
        <p:spPr>
          <a:xfrm>
            <a:off x="9006839" y="3794760"/>
            <a:ext cx="2514600" cy="1005840"/>
          </a:xfrm>
          <a:prstGeom prst="roundRect">
            <a:avLst/>
          </a:prstGeom>
          <a:solidFill>
            <a:srgbClr val="FDB9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89719" y="3794760"/>
            <a:ext cx="2148840" cy="1005840"/>
          </a:xfrm>
          <a:prstGeom prst="rect">
            <a:avLst/>
          </a:prstGeom>
          <a:noFill/>
        </p:spPr>
        <p:txBody>
          <a:bodyPr wrap="square" anchor="ctr" lIns="0" rIns="0" tIns="0" bIns="0">
            <a:spAutoFit/>
          </a:bodyPr>
          <a:lstStyle/>
          <a:p>
            <a:pPr algn="ctr"/>
            <a:r>
              <a:rPr sz="1800" b="1">
                <a:solidFill>
                  <a:srgbClr val="004684"/>
                </a:solidFill>
                <a:latin typeface="Montserrat"/>
              </a:rPr>
              <a:t>Start your own firm</a:t>
            </a:r>
          </a:p>
        </p:txBody>
      </p:sp>
      <p:sp>
        <p:nvSpPr>
          <p:cNvPr id="21" name="TextBox 20"/>
          <p:cNvSpPr txBox="1"/>
          <p:nvPr/>
        </p:nvSpPr>
        <p:spPr>
          <a:xfrm>
            <a:off x="640080" y="5257800"/>
            <a:ext cx="10972800" cy="548640"/>
          </a:xfrm>
          <a:prstGeom prst="rect">
            <a:avLst/>
          </a:prstGeom>
          <a:noFill/>
        </p:spPr>
        <p:txBody>
          <a:bodyPr wrap="square" anchor="t" lIns="0" rIns="0" tIns="0" bIns="0">
            <a:spAutoFit/>
          </a:bodyPr>
          <a:lstStyle/>
          <a:p>
            <a:pPr algn="l"/>
            <a:r>
              <a:rPr sz="2000" b="1">
                <a:solidFill>
                  <a:srgbClr val="1F2937"/>
                </a:solidFill>
                <a:latin typeface="Montserrat"/>
              </a:rPr>
              <a:t>A licensed profession in all 50 states.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ean.jpg"/>
          <p:cNvPicPr>
            <a:picLocks noChangeAspect="1"/>
          </p:cNvPicPr>
          <p:nvPr/>
        </p:nvPicPr>
        <p:blipFill>
          <a:blip r:embed="rId3"/>
          <a:srcRect l="20371" r="20371"/>
          <a:stretch>
            <a:fillRect/>
          </a:stretch>
        </p:blipFill>
        <p:spPr>
          <a:xfrm>
            <a:off x="6095847" y="0"/>
            <a:ext cx="6095847" cy="6858000"/>
          </a:xfrm>
          <a:prstGeom prst="rect">
            <a:avLst/>
          </a:prstGeom>
        </p:spPr>
      </p:pic>
      <p:sp>
        <p:nvSpPr>
          <p:cNvPr id="3" name="Rectangle 2"/>
          <p:cNvSpPr/>
          <p:nvPr/>
        </p:nvSpPr>
        <p:spPr>
          <a:xfrm>
            <a:off x="0" y="0"/>
            <a:ext cx="6095847" cy="6858000"/>
          </a:xfrm>
          <a:prstGeom prst="rect">
            <a:avLst/>
          </a:prstGeom>
          <a:solidFill>
            <a:srgbClr val="0046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822960"/>
            <a:ext cx="7315200" cy="365760"/>
          </a:xfrm>
          <a:prstGeom prst="rect">
            <a:avLst/>
          </a:prstGeom>
          <a:noFill/>
        </p:spPr>
        <p:txBody>
          <a:bodyPr wrap="square" anchor="t" lIns="0" rIns="0" tIns="0" bIns="0">
            <a:spAutoFit/>
          </a:bodyPr>
          <a:lstStyle/>
          <a:p>
            <a:pPr algn="l"/>
            <a:r>
              <a:rPr sz="1400" b="1">
                <a:solidFill>
                  <a:srgbClr val="FDB931"/>
                </a:solidFill>
                <a:latin typeface="Montserrat"/>
              </a:rPr>
              <a:t>IS THERE MONEY IN IT?</a:t>
            </a:r>
          </a:p>
        </p:txBody>
      </p:sp>
      <p:sp>
        <p:nvSpPr>
          <p:cNvPr id="5" name="TextBox 4"/>
          <p:cNvSpPr txBox="1"/>
          <p:nvPr/>
        </p:nvSpPr>
        <p:spPr>
          <a:xfrm>
            <a:off x="640080" y="1280160"/>
            <a:ext cx="5120640" cy="1463040"/>
          </a:xfrm>
          <a:prstGeom prst="rect">
            <a:avLst/>
          </a:prstGeom>
          <a:noFill/>
        </p:spPr>
        <p:txBody>
          <a:bodyPr wrap="square" anchor="t" lIns="0" rIns="0" tIns="0" bIns="0">
            <a:spAutoFit/>
          </a:bodyPr>
          <a:lstStyle/>
          <a:p>
            <a:pPr algn="l"/>
            <a:r>
              <a:rPr sz="7200" b="1">
                <a:solidFill>
                  <a:srgbClr val="FDB931"/>
                </a:solidFill>
                <a:latin typeface="Montserrat"/>
              </a:rPr>
              <a:t>$79,660</a:t>
            </a:r>
          </a:p>
        </p:txBody>
      </p:sp>
      <p:sp>
        <p:nvSpPr>
          <p:cNvPr id="6" name="TextBox 5"/>
          <p:cNvSpPr txBox="1"/>
          <p:nvPr/>
        </p:nvSpPr>
        <p:spPr>
          <a:xfrm>
            <a:off x="640080" y="2606040"/>
            <a:ext cx="5120640" cy="731520"/>
          </a:xfrm>
          <a:prstGeom prst="rect">
            <a:avLst/>
          </a:prstGeom>
          <a:noFill/>
        </p:spPr>
        <p:txBody>
          <a:bodyPr wrap="square" anchor="t" lIns="0" rIns="0" tIns="0" bIns="0">
            <a:spAutoFit/>
          </a:bodyPr>
          <a:lstStyle/>
          <a:p>
            <a:pPr algn="l"/>
            <a:r>
              <a:rPr sz="1800" b="0">
                <a:solidFill>
                  <a:srgbClr val="FFFFFF"/>
                </a:solidFill>
                <a:latin typeface="Montserrat"/>
              </a:rPr>
              <a:t>Median annual pay for landscape architects (2024)</a:t>
            </a:r>
          </a:p>
        </p:txBody>
      </p:sp>
      <p:sp>
        <p:nvSpPr>
          <p:cNvPr id="7" name="Rectangle 6"/>
          <p:cNvSpPr/>
          <p:nvPr/>
        </p:nvSpPr>
        <p:spPr>
          <a:xfrm>
            <a:off x="640080" y="3520440"/>
            <a:ext cx="1097280" cy="73152"/>
          </a:xfrm>
          <a:prstGeom prst="rect">
            <a:avLst/>
          </a:prstGeom>
          <a:solidFill>
            <a:srgbClr val="FDB9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3794760"/>
            <a:ext cx="5120640" cy="2286000"/>
          </a:xfrm>
          <a:prstGeom prst="rect">
            <a:avLst/>
          </a:prstGeom>
          <a:noFill/>
        </p:spPr>
        <p:txBody>
          <a:bodyPr wrap="square" anchor="t" lIns="0" rIns="0" tIns="0" bIns="0">
            <a:spAutoFit/>
          </a:bodyPr>
          <a:lstStyle/>
          <a:p>
            <a:pPr algn="l"/>
            <a:r>
              <a:rPr sz="1800" b="0">
                <a:solidFill>
                  <a:srgbClr val="FFFFFF"/>
                </a:solidFill>
                <a:latin typeface="Montserrat"/>
              </a:rPr>
              <a:t>~1,700 job openings every year</a:t>
            </a:r>
          </a:p>
          <a:p>
            <a:pPr algn="l">
              <a:spcBef>
                <a:spcPts val="1000"/>
              </a:spcBef>
            </a:pPr>
            <a:r>
              <a:rPr sz="1800" b="0">
                <a:solidFill>
                  <a:srgbClr val="FFFFFF"/>
                </a:solidFill>
                <a:latin typeface="Montserrat"/>
              </a:rPr>
              <a:t>Licensed in all 50 states</a:t>
            </a:r>
          </a:p>
          <a:p>
            <a:pPr algn="l">
              <a:spcBef>
                <a:spcPts val="1000"/>
              </a:spcBef>
            </a:pPr>
            <a:r>
              <a:rPr sz="1800" b="0">
                <a:solidFill>
                  <a:srgbClr val="FFFFFF"/>
                </a:solidFill>
                <a:latin typeface="Montserrat"/>
              </a:rPr>
              <a:t>Earn more with licensure, experience or your own firm</a:t>
            </a:r>
          </a:p>
        </p:txBody>
      </p:sp>
      <p:sp>
        <p:nvSpPr>
          <p:cNvPr id="9" name="TextBox 8"/>
          <p:cNvSpPr txBox="1"/>
          <p:nvPr/>
        </p:nvSpPr>
        <p:spPr>
          <a:xfrm>
            <a:off x="640080" y="6217920"/>
            <a:ext cx="5120640" cy="365760"/>
          </a:xfrm>
          <a:prstGeom prst="rect">
            <a:avLst/>
          </a:prstGeom>
          <a:noFill/>
        </p:spPr>
        <p:txBody>
          <a:bodyPr wrap="square" anchor="t" lIns="0" rIns="0" tIns="0" bIns="0">
            <a:spAutoFit/>
          </a:bodyPr>
          <a:lstStyle/>
          <a:p>
            <a:pPr algn="l"/>
            <a:r>
              <a:rPr sz="1100" b="0">
                <a:solidFill>
                  <a:srgbClr val="FFFFFF"/>
                </a:solidFill>
                <a:latin typeface="Montserrat"/>
              </a:rPr>
              <a:t>Source: U.S. Bureau of Labor Statistics, Occupational Outlook Handbook</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jpg"/>
          <p:cNvPicPr>
            <a:picLocks noChangeAspect="1"/>
          </p:cNvPicPr>
          <p:nvPr/>
        </p:nvPicPr>
        <p:blipFill>
          <a:blip r:embed="rId3"/>
          <a:srcRect l="1" r="1"/>
          <a:stretch>
            <a:fillRect/>
          </a:stretch>
        </p:blipFill>
        <p:spPr>
          <a:xfrm>
            <a:off x="0" y="0"/>
            <a:ext cx="12191695" cy="6858000"/>
          </a:xfrm>
          <a:prstGeom prst="rect">
            <a:avLst/>
          </a:prstGeom>
        </p:spPr>
      </p:pic>
      <p:sp>
        <p:nvSpPr>
          <p:cNvPr id="3" name="TextBox 2"/>
          <p:cNvSpPr txBox="1"/>
          <p:nvPr/>
        </p:nvSpPr>
        <p:spPr>
          <a:xfrm>
            <a:off x="640080" y="1188720"/>
            <a:ext cx="7315200" cy="365760"/>
          </a:xfrm>
          <a:prstGeom prst="rect">
            <a:avLst/>
          </a:prstGeom>
          <a:noFill/>
        </p:spPr>
        <p:txBody>
          <a:bodyPr wrap="square" anchor="t" lIns="0" rIns="0" tIns="0" bIns="0">
            <a:spAutoFit/>
          </a:bodyPr>
          <a:lstStyle/>
          <a:p>
            <a:pPr algn="l"/>
            <a:r>
              <a:rPr sz="1400" b="1">
                <a:solidFill>
                  <a:srgbClr val="004684"/>
                </a:solidFill>
                <a:latin typeface="Montserrat"/>
              </a:rPr>
              <a:t>YOUR PATH</a:t>
            </a:r>
          </a:p>
        </p:txBody>
      </p:sp>
      <p:sp>
        <p:nvSpPr>
          <p:cNvPr id="4" name="TextBox 3"/>
          <p:cNvSpPr txBox="1"/>
          <p:nvPr/>
        </p:nvSpPr>
        <p:spPr>
          <a:xfrm>
            <a:off x="640080" y="1572768"/>
            <a:ext cx="10972800" cy="822960"/>
          </a:xfrm>
          <a:prstGeom prst="rect">
            <a:avLst/>
          </a:prstGeom>
          <a:noFill/>
        </p:spPr>
        <p:txBody>
          <a:bodyPr wrap="square" anchor="t" lIns="0" rIns="0" tIns="0" bIns="0">
            <a:spAutoFit/>
          </a:bodyPr>
          <a:lstStyle/>
          <a:p>
            <a:pPr algn="l"/>
            <a:r>
              <a:rPr sz="3400" b="1">
                <a:solidFill>
                  <a:srgbClr val="004684"/>
                </a:solidFill>
                <a:latin typeface="Montserrat"/>
              </a:rPr>
              <a:t>Two ways in</a:t>
            </a:r>
          </a:p>
        </p:txBody>
      </p:sp>
      <p:sp>
        <p:nvSpPr>
          <p:cNvPr id="5" name="Rounded Rectangle 4"/>
          <p:cNvSpPr/>
          <p:nvPr/>
        </p:nvSpPr>
        <p:spPr>
          <a:xfrm>
            <a:off x="640080" y="2468880"/>
            <a:ext cx="5303520" cy="3383280"/>
          </a:xfrm>
          <a:prstGeom prst="roundRect">
            <a:avLst/>
          </a:prstGeom>
          <a:solidFill>
            <a:srgbClr val="0046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2697480"/>
            <a:ext cx="4572000" cy="640080"/>
          </a:xfrm>
          <a:prstGeom prst="rect">
            <a:avLst/>
          </a:prstGeom>
          <a:noFill/>
        </p:spPr>
        <p:txBody>
          <a:bodyPr wrap="square" anchor="t" lIns="0" rIns="0" tIns="0" bIns="0">
            <a:spAutoFit/>
          </a:bodyPr>
          <a:lstStyle/>
          <a:p>
            <a:pPr algn="l"/>
            <a:r>
              <a:rPr sz="2200" b="1">
                <a:solidFill>
                  <a:srgbClr val="FFFFFF"/>
                </a:solidFill>
                <a:latin typeface="Montserrat"/>
              </a:rPr>
              <a:t>High school students</a:t>
            </a:r>
          </a:p>
        </p:txBody>
      </p:sp>
      <p:sp>
        <p:nvSpPr>
          <p:cNvPr id="7" name="TextBox 6"/>
          <p:cNvSpPr txBox="1"/>
          <p:nvPr/>
        </p:nvSpPr>
        <p:spPr>
          <a:xfrm>
            <a:off x="1005840" y="3429000"/>
            <a:ext cx="4572000" cy="2286000"/>
          </a:xfrm>
          <a:prstGeom prst="rect">
            <a:avLst/>
          </a:prstGeom>
          <a:noFill/>
        </p:spPr>
        <p:txBody>
          <a:bodyPr wrap="square" anchor="t" lIns="0" rIns="0" tIns="0" bIns="0">
            <a:spAutoFit/>
          </a:bodyPr>
          <a:lstStyle/>
          <a:p>
            <a:pPr algn="l">
              <a:spcBef>
                <a:spcPts val="0"/>
              </a:spcBef>
            </a:pPr>
            <a:r>
              <a:rPr sz="1700" b="0">
                <a:solidFill>
                  <a:srgbClr val="FFFFFF"/>
                </a:solidFill>
                <a:latin typeface="Montserrat"/>
              </a:rPr>
              <a:t>Take art, drafting/CAD, biology &amp; geometry</a:t>
            </a:r>
          </a:p>
          <a:p>
            <a:pPr algn="l">
              <a:spcBef>
                <a:spcPts val="1000"/>
              </a:spcBef>
            </a:pPr>
            <a:r>
              <a:rPr sz="1700" b="0">
                <a:solidFill>
                  <a:srgbClr val="FFFFFF"/>
                </a:solidFill>
                <a:latin typeface="Montserrat"/>
              </a:rPr>
              <a:t>Sketch the places around you</a:t>
            </a:r>
          </a:p>
          <a:p>
            <a:pPr algn="l">
              <a:spcBef>
                <a:spcPts val="1000"/>
              </a:spcBef>
            </a:pPr>
            <a:r>
              <a:rPr sz="1700" b="0">
                <a:solidFill>
                  <a:srgbClr val="FFFFFF"/>
                </a:solidFill>
                <a:latin typeface="Montserrat"/>
              </a:rPr>
              <a:t>Apply to A&amp;T: BS in Landscape Architecture</a:t>
            </a:r>
          </a:p>
        </p:txBody>
      </p:sp>
      <p:sp>
        <p:nvSpPr>
          <p:cNvPr id="8" name="Rounded Rectangle 7"/>
          <p:cNvSpPr/>
          <p:nvPr/>
        </p:nvSpPr>
        <p:spPr>
          <a:xfrm>
            <a:off x="6217920" y="2468880"/>
            <a:ext cx="5303520" cy="3383280"/>
          </a:xfrm>
          <a:prstGeom prst="roundRect">
            <a:avLst/>
          </a:prstGeom>
          <a:solidFill>
            <a:srgbClr val="FDB9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0" y="2697480"/>
            <a:ext cx="4572000" cy="640080"/>
          </a:xfrm>
          <a:prstGeom prst="rect">
            <a:avLst/>
          </a:prstGeom>
          <a:noFill/>
        </p:spPr>
        <p:txBody>
          <a:bodyPr wrap="square" anchor="t" lIns="0" rIns="0" tIns="0" bIns="0">
            <a:spAutoFit/>
          </a:bodyPr>
          <a:lstStyle/>
          <a:p>
            <a:pPr algn="l"/>
            <a:r>
              <a:rPr sz="2200" b="1">
                <a:solidFill>
                  <a:srgbClr val="004684"/>
                </a:solidFill>
                <a:latin typeface="Montserrat"/>
              </a:rPr>
              <a:t>Community college students</a:t>
            </a:r>
          </a:p>
        </p:txBody>
      </p:sp>
      <p:sp>
        <p:nvSpPr>
          <p:cNvPr id="10" name="TextBox 9"/>
          <p:cNvSpPr txBox="1"/>
          <p:nvPr/>
        </p:nvSpPr>
        <p:spPr>
          <a:xfrm>
            <a:off x="6583680" y="3429000"/>
            <a:ext cx="4572000" cy="2286000"/>
          </a:xfrm>
          <a:prstGeom prst="rect">
            <a:avLst/>
          </a:prstGeom>
          <a:noFill/>
        </p:spPr>
        <p:txBody>
          <a:bodyPr wrap="square" anchor="t" lIns="0" rIns="0" tIns="0" bIns="0">
            <a:spAutoFit/>
          </a:bodyPr>
          <a:lstStyle/>
          <a:p>
            <a:pPr algn="l">
              <a:spcBef>
                <a:spcPts val="0"/>
              </a:spcBef>
            </a:pPr>
            <a:r>
              <a:rPr sz="1700" b="0">
                <a:solidFill>
                  <a:srgbClr val="004684"/>
                </a:solidFill>
                <a:latin typeface="Montserrat"/>
              </a:rPr>
              <a:t>Transfer into our studio sequence</a:t>
            </a:r>
          </a:p>
          <a:p>
            <a:pPr algn="l">
              <a:spcBef>
                <a:spcPts val="1000"/>
              </a:spcBef>
            </a:pPr>
            <a:r>
              <a:rPr sz="1700" b="0">
                <a:solidFill>
                  <a:srgbClr val="004684"/>
                </a:solidFill>
                <a:latin typeface="Montserrat"/>
              </a:rPr>
              <a:t>7 transfer students joined us this fall</a:t>
            </a:r>
          </a:p>
          <a:p>
            <a:pPr algn="l">
              <a:spcBef>
                <a:spcPts val="1000"/>
              </a:spcBef>
            </a:pPr>
            <a:r>
              <a:rPr sz="1700" b="0">
                <a:solidFill>
                  <a:srgbClr val="004684"/>
                </a:solidFill>
                <a:latin typeface="Montserrat"/>
              </a:rPr>
              <a:t>Talk to us early so your credits line up</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icnic.jpg"/>
          <p:cNvPicPr>
            <a:picLocks noChangeAspect="1"/>
          </p:cNvPicPr>
          <p:nvPr/>
        </p:nvPicPr>
        <p:blipFill>
          <a:blip r:embed="rId3"/>
          <a:srcRect l="13188" r="13188"/>
          <a:stretch>
            <a:fillRect/>
          </a:stretch>
        </p:blipFill>
        <p:spPr>
          <a:xfrm>
            <a:off x="0" y="0"/>
            <a:ext cx="6705432" cy="6858000"/>
          </a:xfrm>
          <a:prstGeom prst="rect">
            <a:avLst/>
          </a:prstGeom>
        </p:spPr>
      </p:pic>
      <p:sp>
        <p:nvSpPr>
          <p:cNvPr id="3" name="Rectangle 2"/>
          <p:cNvSpPr/>
          <p:nvPr/>
        </p:nvSpPr>
        <p:spPr>
          <a:xfrm>
            <a:off x="6705432" y="0"/>
            <a:ext cx="5486262" cy="6858000"/>
          </a:xfrm>
          <a:prstGeom prst="rect">
            <a:avLst/>
          </a:prstGeom>
          <a:solidFill>
            <a:srgbClr val="0046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08352" y="914400"/>
            <a:ext cx="7315200" cy="365760"/>
          </a:xfrm>
          <a:prstGeom prst="rect">
            <a:avLst/>
          </a:prstGeom>
          <a:noFill/>
        </p:spPr>
        <p:txBody>
          <a:bodyPr wrap="square" anchor="t" lIns="0" rIns="0" tIns="0" bIns="0">
            <a:spAutoFit/>
          </a:bodyPr>
          <a:lstStyle/>
          <a:p>
            <a:pPr algn="l"/>
            <a:r>
              <a:rPr sz="1400" b="1">
                <a:solidFill>
                  <a:srgbClr val="FDB931"/>
                </a:solidFill>
                <a:latin typeface="Montserrat"/>
              </a:rPr>
              <a:t>WHY A&amp;T</a:t>
            </a:r>
          </a:p>
        </p:txBody>
      </p:sp>
      <p:sp>
        <p:nvSpPr>
          <p:cNvPr id="5" name="TextBox 4"/>
          <p:cNvSpPr txBox="1"/>
          <p:nvPr/>
        </p:nvSpPr>
        <p:spPr>
          <a:xfrm>
            <a:off x="7208352" y="1371600"/>
            <a:ext cx="4571862" cy="914400"/>
          </a:xfrm>
          <a:prstGeom prst="rect">
            <a:avLst/>
          </a:prstGeom>
          <a:noFill/>
        </p:spPr>
        <p:txBody>
          <a:bodyPr wrap="square" anchor="t" lIns="0" rIns="0" tIns="0" bIns="0">
            <a:spAutoFit/>
          </a:bodyPr>
          <a:lstStyle/>
          <a:p>
            <a:pPr algn="l"/>
            <a:r>
              <a:rPr sz="3600" b="1">
                <a:solidFill>
                  <a:srgbClr val="FFFFFF"/>
                </a:solidFill>
                <a:latin typeface="Montserrat"/>
              </a:rPr>
              <a:t>Aggies Do.</a:t>
            </a:r>
          </a:p>
        </p:txBody>
      </p:sp>
      <p:sp>
        <p:nvSpPr>
          <p:cNvPr id="6" name="Rectangle 5"/>
          <p:cNvSpPr/>
          <p:nvPr/>
        </p:nvSpPr>
        <p:spPr>
          <a:xfrm>
            <a:off x="7208352" y="2377440"/>
            <a:ext cx="1097280" cy="73152"/>
          </a:xfrm>
          <a:prstGeom prst="rect">
            <a:avLst/>
          </a:prstGeom>
          <a:solidFill>
            <a:srgbClr val="FDB9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08352" y="2651760"/>
            <a:ext cx="4571862" cy="3840480"/>
          </a:xfrm>
          <a:prstGeom prst="rect">
            <a:avLst/>
          </a:prstGeom>
          <a:noFill/>
        </p:spPr>
        <p:txBody>
          <a:bodyPr wrap="square" anchor="t" lIns="0" rIns="0" tIns="0" bIns="0">
            <a:spAutoFit/>
          </a:bodyPr>
          <a:lstStyle/>
          <a:p>
            <a:pPr algn="l"/>
            <a:r>
              <a:rPr sz="1800" b="0">
                <a:solidFill>
                  <a:srgbClr val="FFFFFF"/>
                </a:solidFill>
                <a:latin typeface="Montserrat"/>
              </a:rPr>
              <a:t>The nation's largest HBCU</a:t>
            </a:r>
          </a:p>
          <a:p>
            <a:pPr algn="l">
              <a:spcBef>
                <a:spcPts val="1000"/>
              </a:spcBef>
            </a:pPr>
            <a:r>
              <a:rPr sz="1800" b="0">
                <a:solidFill>
                  <a:srgbClr val="FFFFFF"/>
                </a:solidFill>
                <a:latin typeface="Montserrat"/>
              </a:rPr>
              <a:t>The only accredited BSLA at an HBCU</a:t>
            </a:r>
          </a:p>
          <a:p>
            <a:pPr algn="l">
              <a:spcBef>
                <a:spcPts val="1000"/>
              </a:spcBef>
            </a:pPr>
            <a:r>
              <a:rPr sz="1800" b="0">
                <a:solidFill>
                  <a:srgbClr val="FFFFFF"/>
                </a:solidFill>
                <a:latin typeface="Montserrat"/>
              </a:rPr>
              <a:t>Small studios, faculty who know you</a:t>
            </a:r>
          </a:p>
          <a:p>
            <a:pPr algn="l">
              <a:spcBef>
                <a:spcPts val="1000"/>
              </a:spcBef>
            </a:pPr>
            <a:r>
              <a:rPr sz="1800" b="0">
                <a:solidFill>
                  <a:srgbClr val="FFFFFF"/>
                </a:solidFill>
                <a:latin typeface="Montserrat"/>
              </a:rPr>
              <a:t>Real land, real projects, real communities</a:t>
            </a:r>
          </a:p>
          <a:p>
            <a:pPr algn="l">
              <a:spcBef>
                <a:spcPts val="1000"/>
              </a:spcBef>
            </a:pPr>
            <a:r>
              <a:rPr sz="1800" b="0">
                <a:solidFill>
                  <a:srgbClr val="FFFFFF"/>
                </a:solidFill>
                <a:latin typeface="Montserrat"/>
              </a:rPr>
              <a:t>Scholarships, including NCASLA</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courtyard.jpg"/>
          <p:cNvPicPr>
            <a:picLocks noChangeAspect="1"/>
          </p:cNvPicPr>
          <p:nvPr/>
        </p:nvPicPr>
        <p:blipFill>
          <a:blip r:embed="rId3"/>
          <a:srcRect t="1297" b="1297"/>
          <a:stretch>
            <a:fillRect/>
          </a:stretch>
        </p:blipFill>
        <p:spPr>
          <a:xfrm>
            <a:off x="0" y="0"/>
            <a:ext cx="12191695" cy="6858000"/>
          </a:xfrm>
          <a:prstGeom prst="rect">
            <a:avLst/>
          </a:prstGeom>
        </p:spPr>
      </p:pic>
      <p:sp>
        <p:nvSpPr>
          <p:cNvPr id="3" name="Rectangle 2"/>
          <p:cNvSpPr/>
          <p:nvPr/>
        </p:nvSpPr>
        <p:spPr>
          <a:xfrm>
            <a:off x="0" y="0"/>
            <a:ext cx="6949440" cy="6858000"/>
          </a:xfrm>
          <a:prstGeom prst="rect">
            <a:avLst/>
          </a:prstGeom>
          <a:solidFill>
            <a:srgbClr val="004684">
              <a:alpha val="9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280160"/>
            <a:ext cx="7315200" cy="365760"/>
          </a:xfrm>
          <a:prstGeom prst="rect">
            <a:avLst/>
          </a:prstGeom>
          <a:noFill/>
        </p:spPr>
        <p:txBody>
          <a:bodyPr wrap="square" anchor="t" lIns="0" rIns="0" tIns="0" bIns="0">
            <a:spAutoFit/>
          </a:bodyPr>
          <a:lstStyle/>
          <a:p>
            <a:pPr algn="l"/>
            <a:r>
              <a:rPr sz="1400" b="1">
                <a:solidFill>
                  <a:srgbClr val="FDB931"/>
                </a:solidFill>
                <a:latin typeface="Montserrat"/>
              </a:rPr>
              <a:t>LET'S CONNECT</a:t>
            </a:r>
          </a:p>
        </p:txBody>
      </p:sp>
      <p:sp>
        <p:nvSpPr>
          <p:cNvPr id="5" name="TextBox 4"/>
          <p:cNvSpPr txBox="1"/>
          <p:nvPr/>
        </p:nvSpPr>
        <p:spPr>
          <a:xfrm>
            <a:off x="822960" y="1737360"/>
            <a:ext cx="5852160" cy="1097280"/>
          </a:xfrm>
          <a:prstGeom prst="rect">
            <a:avLst/>
          </a:prstGeom>
          <a:noFill/>
        </p:spPr>
        <p:txBody>
          <a:bodyPr wrap="square" anchor="t" lIns="0" rIns="0" tIns="0" bIns="0">
            <a:spAutoFit/>
          </a:bodyPr>
          <a:lstStyle/>
          <a:p>
            <a:pPr algn="l"/>
            <a:r>
              <a:rPr sz="3600" b="1">
                <a:solidFill>
                  <a:srgbClr val="FFFFFF"/>
                </a:solidFill>
                <a:latin typeface="Montserrat"/>
              </a:rPr>
              <a:t>Come design with us.</a:t>
            </a:r>
          </a:p>
        </p:txBody>
      </p:sp>
      <p:sp>
        <p:nvSpPr>
          <p:cNvPr id="6" name="Rectangle 5"/>
          <p:cNvSpPr/>
          <p:nvPr/>
        </p:nvSpPr>
        <p:spPr>
          <a:xfrm>
            <a:off x="822960" y="2971800"/>
            <a:ext cx="1097280" cy="73152"/>
          </a:xfrm>
          <a:prstGeom prst="rect">
            <a:avLst/>
          </a:prstGeom>
          <a:solidFill>
            <a:srgbClr val="FDB9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3291840"/>
            <a:ext cx="3657600" cy="2743200"/>
          </a:xfrm>
          <a:prstGeom prst="rect">
            <a:avLst/>
          </a:prstGeom>
          <a:noFill/>
        </p:spPr>
        <p:txBody>
          <a:bodyPr wrap="square" anchor="t" lIns="0" rIns="0" tIns="0" bIns="0">
            <a:spAutoFit/>
          </a:bodyPr>
          <a:lstStyle/>
          <a:p>
            <a:pPr algn="l"/>
            <a:r>
              <a:rPr sz="2000" b="1">
                <a:solidFill>
                  <a:srgbClr val="FFFFFF"/>
                </a:solidFill>
                <a:latin typeface="Montserrat"/>
              </a:rPr>
              <a:t>Landscape Architecture Program</a:t>
            </a:r>
          </a:p>
          <a:p>
            <a:pPr algn="l">
              <a:spcBef>
                <a:spcPts val="400"/>
              </a:spcBef>
            </a:pPr>
            <a:r>
              <a:rPr sz="1500" b="0">
                <a:solidFill>
                  <a:srgbClr val="FDB931"/>
                </a:solidFill>
                <a:latin typeface="Montserrat"/>
              </a:rPr>
              <a:t>Dept. of Natural Resources &amp; Environmental Design</a:t>
            </a:r>
          </a:p>
          <a:p>
            <a:pPr algn="l">
              <a:spcBef>
                <a:spcPts val="400"/>
              </a:spcBef>
            </a:pPr>
            <a:r>
              <a:rPr sz="1500" b="0">
                <a:solidFill>
                  <a:srgbClr val="FFFFFF"/>
                </a:solidFill>
                <a:latin typeface="Montserrat"/>
              </a:rPr>
              <a:t>Carver Hall, NC A&amp;T State University</a:t>
            </a:r>
          </a:p>
          <a:p>
            <a:pPr algn="l">
              <a:spcBef>
                <a:spcPts val="200"/>
              </a:spcBef>
            </a:pPr>
            <a:r>
              <a:rPr sz="1500" b="0">
                <a:solidFill>
                  <a:srgbClr val="FFFFFF"/>
                </a:solidFill>
                <a:latin typeface="Montserrat"/>
              </a:rPr>
              <a:t>Greensboro, North Carolina</a:t>
            </a:r>
          </a:p>
          <a:p>
            <a:pPr algn="l">
              <a:spcBef>
                <a:spcPts val="1600"/>
              </a:spcBef>
            </a:pPr>
            <a:r>
              <a:rPr sz="1500" b="0">
                <a:solidFill>
                  <a:srgbClr val="FFFFFF"/>
                </a:solidFill>
                <a:latin typeface="Montserrat"/>
              </a:rPr>
              <a:t>Visit a studio. Ask about scholarships. Apply.</a:t>
            </a:r>
          </a:p>
        </p:txBody>
      </p:sp>
      <p:sp>
        <p:nvSpPr>
          <p:cNvPr id="8" name="Rectangle 7"/>
          <p:cNvSpPr/>
          <p:nvPr/>
        </p:nvSpPr>
        <p:spPr>
          <a:xfrm>
            <a:off x="4617720" y="3154680"/>
            <a:ext cx="2011680" cy="20116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qr.png"/>
          <p:cNvPicPr>
            <a:picLocks noChangeAspect="1"/>
          </p:cNvPicPr>
          <p:nvPr/>
        </p:nvPicPr>
        <p:blipFill>
          <a:blip r:embed="rId4"/>
          <a:stretch>
            <a:fillRect/>
          </a:stretch>
        </p:blipFill>
        <p:spPr>
          <a:xfrm>
            <a:off x="4709160" y="3246120"/>
            <a:ext cx="1828800" cy="1828800"/>
          </a:xfrm>
          <a:prstGeom prst="rect">
            <a:avLst/>
          </a:prstGeom>
        </p:spPr>
      </p:pic>
      <p:sp>
        <p:nvSpPr>
          <p:cNvPr id="10" name="TextBox 9"/>
          <p:cNvSpPr txBox="1"/>
          <p:nvPr/>
        </p:nvSpPr>
        <p:spPr>
          <a:xfrm>
            <a:off x="4617720" y="5257800"/>
            <a:ext cx="2011680" cy="457200"/>
          </a:xfrm>
          <a:prstGeom prst="rect">
            <a:avLst/>
          </a:prstGeom>
          <a:noFill/>
        </p:spPr>
        <p:txBody>
          <a:bodyPr wrap="square" anchor="t" lIns="0" rIns="0" tIns="0" bIns="0">
            <a:spAutoFit/>
          </a:bodyPr>
          <a:lstStyle/>
          <a:p>
            <a:pPr algn="ctr"/>
            <a:r>
              <a:rPr sz="1200" b="0">
                <a:solidFill>
                  <a:srgbClr val="FFFFFF"/>
                </a:solidFill>
                <a:latin typeface="Montserrat"/>
              </a:rPr>
              <a:t>Scan to visit our website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jpg"/>
          <p:cNvPicPr>
            <a:picLocks noChangeAspect="1"/>
          </p:cNvPicPr>
          <p:nvPr/>
        </p:nvPicPr>
        <p:blipFill>
          <a:blip r:embed="rId3"/>
          <a:srcRect l="1" r="1"/>
          <a:stretch>
            <a:fillRect/>
          </a:stretch>
        </p:blipFill>
        <p:spPr>
          <a:xfrm>
            <a:off x="0" y="0"/>
            <a:ext cx="12191695" cy="6858000"/>
          </a:xfrm>
          <a:prstGeom prst="rect">
            <a:avLst/>
          </a:prstGeom>
        </p:spPr>
      </p:pic>
      <p:sp>
        <p:nvSpPr>
          <p:cNvPr id="3" name="TextBox 2"/>
          <p:cNvSpPr txBox="1"/>
          <p:nvPr/>
        </p:nvSpPr>
        <p:spPr>
          <a:xfrm>
            <a:off x="640080" y="1188720"/>
            <a:ext cx="10972800" cy="548640"/>
          </a:xfrm>
          <a:prstGeom prst="rect">
            <a:avLst/>
          </a:prstGeom>
          <a:noFill/>
        </p:spPr>
        <p:txBody>
          <a:bodyPr wrap="square" anchor="t" lIns="0" rIns="0" tIns="0" bIns="0">
            <a:spAutoFit/>
          </a:bodyPr>
          <a:lstStyle/>
          <a:p>
            <a:pPr algn="l"/>
            <a:r>
              <a:rPr sz="2400" b="1">
                <a:solidFill>
                  <a:srgbClr val="004684"/>
                </a:solidFill>
                <a:latin typeface="Montserrat"/>
              </a:rPr>
              <a:t>Photo credits</a:t>
            </a:r>
          </a:p>
        </p:txBody>
      </p:sp>
      <p:sp>
        <p:nvSpPr>
          <p:cNvPr id="4" name="TextBox 3"/>
          <p:cNvSpPr txBox="1"/>
          <p:nvPr/>
        </p:nvSpPr>
        <p:spPr>
          <a:xfrm>
            <a:off x="640080" y="1828800"/>
            <a:ext cx="10972800" cy="4389120"/>
          </a:xfrm>
          <a:prstGeom prst="rect">
            <a:avLst/>
          </a:prstGeom>
          <a:noFill/>
        </p:spPr>
        <p:txBody>
          <a:bodyPr wrap="square" anchor="t" lIns="0" rIns="0" tIns="0" bIns="0">
            <a:spAutoFit/>
          </a:bodyPr>
          <a:lstStyle/>
          <a:p>
            <a:pPr algn="l">
              <a:spcBef>
                <a:spcPts val="200"/>
              </a:spcBef>
            </a:pPr>
            <a:r>
              <a:rPr sz="1100" b="0">
                <a:solidFill>
                  <a:srgbClr val="1F2937"/>
                </a:solidFill>
                <a:latin typeface="Montserrat"/>
              </a:rPr>
              <a:t>Aerial View: Enrapture Media (CC0 1.0) via Stocksnap</a:t>
            </a:r>
          </a:p>
          <a:p>
            <a:pPr algn="l">
              <a:spcBef>
                <a:spcPts val="200"/>
              </a:spcBef>
            </a:pPr>
            <a:r>
              <a:rPr sz="1100" b="0">
                <a:solidFill>
                  <a:srgbClr val="1F2937"/>
                </a:solidFill>
                <a:latin typeface="Montserrat"/>
              </a:rPr>
              <a:t>20080708 Chicago City Hall Green Roof: TonyTheTiger (BY-SA 3.0) via Wikimedia</a:t>
            </a:r>
          </a:p>
          <a:p>
            <a:pPr algn="l">
              <a:spcBef>
                <a:spcPts val="200"/>
              </a:spcBef>
            </a:pPr>
            <a:r>
              <a:rPr sz="1100" b="0">
                <a:solidFill>
                  <a:srgbClr val="1F2937"/>
                </a:solidFill>
                <a:latin typeface="Montserrat"/>
              </a:rPr>
              <a:t>MEC's green roof among others: sookie (BY 2.0) via Wikimedia</a:t>
            </a:r>
          </a:p>
          <a:p>
            <a:pPr algn="l">
              <a:spcBef>
                <a:spcPts val="200"/>
              </a:spcBef>
            </a:pPr>
            <a:r>
              <a:rPr sz="1100" b="0">
                <a:solidFill>
                  <a:srgbClr val="1F2937"/>
                </a:solidFill>
                <a:latin typeface="Montserrat"/>
              </a:rPr>
              <a:t>Waterfront Park southern section, from Hawthorne Br: Steve Morgan (BY-SA 3.0) via Wikimedia</a:t>
            </a:r>
          </a:p>
          <a:p>
            <a:pPr algn="l">
              <a:spcBef>
                <a:spcPts val="200"/>
              </a:spcBef>
            </a:pPr>
            <a:r>
              <a:rPr sz="1100" b="0">
                <a:solidFill>
                  <a:srgbClr val="1F2937"/>
                </a:solidFill>
                <a:latin typeface="Montserrat"/>
              </a:rPr>
              <a:t>Muddy branch greenway trail 20201010 125426 1: G. Edward Johnson (BY 3.0) via Wikimedia</a:t>
            </a:r>
          </a:p>
          <a:p>
            <a:pPr algn="l">
              <a:spcBef>
                <a:spcPts val="200"/>
              </a:spcBef>
            </a:pPr>
            <a:r>
              <a:rPr sz="1100" b="0">
                <a:solidFill>
                  <a:srgbClr val="1F2937"/>
                </a:solidFill>
                <a:latin typeface="Montserrat"/>
              </a:rPr>
              <a:t>UIUC Illini Union and Main Quad: Daniel Schwen (BY-SA 4.0) via Wikimedia</a:t>
            </a:r>
          </a:p>
          <a:p>
            <a:pPr algn="l">
              <a:spcBef>
                <a:spcPts val="200"/>
              </a:spcBef>
            </a:pPr>
            <a:r>
              <a:rPr sz="1100" b="0">
                <a:solidFill>
                  <a:srgbClr val="1F2937"/>
                </a:solidFill>
                <a:latin typeface="Montserrat"/>
              </a:rPr>
              <a:t>Wright Brothers National Memorial landscape: Yuming Huang (BY-SA 4.0) via Wikimedia</a:t>
            </a:r>
          </a:p>
          <a:p>
            <a:pPr algn="l">
              <a:spcBef>
                <a:spcPts val="200"/>
              </a:spcBef>
            </a:pPr>
            <a:r>
              <a:rPr sz="1100" b="0">
                <a:solidFill>
                  <a:srgbClr val="1F2937"/>
                </a:solidFill>
                <a:latin typeface="Montserrat"/>
              </a:rPr>
              <a:t>Lurie Garden in sun: Ruhrfisch (talk) (BY-SA 4.0) via Wikimedia</a:t>
            </a:r>
          </a:p>
          <a:p>
            <a:pPr algn="l">
              <a:spcBef>
                <a:spcPts val="200"/>
              </a:spcBef>
            </a:pPr>
            <a:r>
              <a:rPr sz="1100" b="0">
                <a:solidFill>
                  <a:srgbClr val="1F2937"/>
                </a:solidFill>
                <a:latin typeface="Montserrat"/>
              </a:rPr>
              <a:t>Central Park Bow Bridge, by CentralParkPhotographer: CentralParkPhotographer (BY-SA 4.0) via Wikimedia</a:t>
            </a:r>
          </a:p>
          <a:p>
            <a:pPr algn="l">
              <a:spcBef>
                <a:spcPts val="200"/>
              </a:spcBef>
            </a:pPr>
            <a:r>
              <a:rPr sz="1100" b="0">
                <a:solidFill>
                  <a:srgbClr val="1F2937"/>
                </a:solidFill>
                <a:latin typeface="Montserrat"/>
              </a:rPr>
              <a:t>Playground Playset: Khürt Williams (CC0 1.0) via Stocksnap</a:t>
            </a:r>
          </a:p>
          <a:p>
            <a:pPr algn="l">
              <a:spcBef>
                <a:spcPts val="200"/>
              </a:spcBef>
            </a:pPr>
            <a:r>
              <a:rPr sz="1100" b="0">
                <a:solidFill>
                  <a:srgbClr val="1F2937"/>
                </a:solidFill>
                <a:latin typeface="Montserrat"/>
              </a:rPr>
              <a:t>Architecture Building: Sawyer Bengtson (CC0 1.0) via Stocksnap</a:t>
            </a:r>
          </a:p>
          <a:p>
            <a:pPr algn="l">
              <a:spcBef>
                <a:spcPts val="200"/>
              </a:spcBef>
            </a:pPr>
            <a:r>
              <a:rPr sz="1100" b="0">
                <a:solidFill>
                  <a:srgbClr val="1F2937"/>
                </a:solidFill>
                <a:latin typeface="Montserrat"/>
              </a:rPr>
              <a:t>DeYoungMuseumBuildingAndSurroundingGardens1: Buzzlovestravel (BY-SA 4.0) via Wikimedia</a:t>
            </a:r>
          </a:p>
          <a:p>
            <a:pPr algn="l">
              <a:spcBef>
                <a:spcPts val="200"/>
              </a:spcBef>
            </a:pPr>
            <a:r>
              <a:rPr sz="1100" b="0">
                <a:solidFill>
                  <a:srgbClr val="1F2937"/>
                </a:solidFill>
                <a:latin typeface="Montserrat"/>
              </a:rPr>
              <a:t>Student photos &amp; portraits: NC A&amp;T Landscape Architecture program. Carver courtyard image is a concept rendering. Community, farm &amp; field images are illustrative.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