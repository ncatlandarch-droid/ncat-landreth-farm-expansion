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Klyde Warren Park in Dallas, built right over a highway; elevated parks like New York's High Line; city plazas; playgrounds; waterfronts like Brooklyn Bridge Park; and greenway trails like the American Tobacco Trail here in North Carolina.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public gardens like Duke Gardens in Durham,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draw. We build. In our design-build projects, students design a structure, build it with their own hands on campus, and then present it to faculty and visiting professionals. This is where your ideas become real places people can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7.jp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urie.jpg"/>
          <p:cNvPicPr>
            <a:picLocks noChangeAspect="1"/>
          </p:cNvPicPr>
          <p:nvPr/>
        </p:nvPicPr>
        <p:blipFill>
          <a:blip r:embed="rId3"/>
          <a:srcRect t="12499" b="12499"/>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p_park.jpg"/>
          <p:cNvPicPr>
            <a:picLocks noChangeAspect="1"/>
          </p:cNvPicPr>
          <p:nvPr/>
        </p:nvPicPr>
        <p:blipFill>
          <a:blip r:embed="rId3"/>
          <a:srcRect l="2574" r="2574"/>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p_highline.jpg"/>
          <p:cNvPicPr>
            <a:picLocks noChangeAspect="1"/>
          </p:cNvPicPr>
          <p:nvPr/>
        </p:nvPicPr>
        <p:blipFill>
          <a:blip r:embed="rId4"/>
          <a:srcRect l="10024" r="10024"/>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Elevated parks</a:t>
            </a:r>
          </a:p>
        </p:txBody>
      </p:sp>
      <p:pic>
        <p:nvPicPr>
          <p:cNvPr id="10" name="Picture 9" descr="p_plaza.jpg"/>
          <p:cNvPicPr>
            <a:picLocks noChangeAspect="1"/>
          </p:cNvPicPr>
          <p:nvPr/>
        </p:nvPicPr>
        <p:blipFill>
          <a:blip r:embed="rId5"/>
          <a:srcRect l="2574" r="2574"/>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a:t>
            </a:r>
          </a:p>
        </p:txBody>
      </p:sp>
      <p:pic>
        <p:nvPicPr>
          <p:cNvPr id="13" name="Picture 12" descr="p_play.jpg"/>
          <p:cNvPicPr>
            <a:picLocks noChangeAspect="1"/>
          </p:cNvPicPr>
          <p:nvPr/>
        </p:nvPicPr>
        <p:blipFill>
          <a:blip r:embed="rId6"/>
          <a:srcRect l="2574" r="2574"/>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p_water.jpg"/>
          <p:cNvPicPr>
            <a:picLocks noChangeAspect="1"/>
          </p:cNvPicPr>
          <p:nvPr/>
        </p:nvPicPr>
        <p:blipFill>
          <a:blip r:embed="rId7"/>
          <a:srcRect l="2574" r="2574"/>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p_trail.jpg"/>
          <p:cNvPicPr>
            <a:picLocks noChangeAspect="1"/>
          </p:cNvPicPr>
          <p:nvPr/>
        </p:nvPicPr>
        <p:blipFill>
          <a:blip r:embed="rId8"/>
          <a:srcRect t="3162" b="3162"/>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p_duke.jpg"/>
          <p:cNvPicPr>
            <a:picLocks noChangeAspect="1"/>
          </p:cNvPicPr>
          <p:nvPr/>
        </p:nvPicPr>
        <p:blipFill>
          <a:blip r:embed="rId4"/>
          <a:srcRect l="26590" r="26590"/>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Gardens (Duke Gardens, NC)</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 (Wright Brothers, 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_screen.jpg"/>
          <p:cNvPicPr>
            <a:picLocks noChangeAspect="1"/>
          </p:cNvPicPr>
          <p:nvPr/>
        </p:nvPicPr>
        <p:blipFill>
          <a:blip r:embed="rId3"/>
          <a:srcRect l="17401" r="17401"/>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_aerial.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85455" y="6400800"/>
            <a:ext cx="4206240" cy="457200"/>
          </a:xfrm>
          <a:prstGeom prst="rect">
            <a:avLst/>
          </a:prstGeom>
          <a:solidFill>
            <a:srgbClr val="004684">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2615" y="6400800"/>
            <a:ext cx="3931920" cy="457200"/>
          </a:xfrm>
          <a:prstGeom prst="rect">
            <a:avLst/>
          </a:prstGeom>
          <a:noFill/>
        </p:spPr>
        <p:txBody>
          <a:bodyPr wrap="square" anchor="ctr" lIns="0" rIns="0" tIns="0" bIns="0">
            <a:spAutoFit/>
          </a:bodyPr>
          <a:lstStyle/>
          <a:p>
            <a:pPr algn="l"/>
            <a:r>
              <a:rPr sz="1100" b="0">
                <a:solidFill>
                  <a:srgbClr val="FFFFFF"/>
                </a:solidFill>
                <a:latin typeface="Montserrat"/>
              </a:rPr>
              <a:t>NC A&amp;T University Farm, Greensboro. Imagery: Esri World Imagery</a:t>
            </a:r>
          </a:p>
        </p:txBody>
      </p:sp>
      <p:sp>
        <p:nvSpPr>
          <p:cNvPr id="6" name="TextBox 5"/>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7" name="TextBox 6"/>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Design it. Build it. Present it.</a:t>
            </a:r>
          </a:p>
        </p:txBody>
      </p:sp>
      <p:pic>
        <p:nvPicPr>
          <p:cNvPr id="4" name="Picture 3" descr="db_work.jpg"/>
          <p:cNvPicPr>
            <a:picLocks noChangeAspect="1"/>
          </p:cNvPicPr>
          <p:nvPr/>
        </p:nvPicPr>
        <p:blipFill>
          <a:blip r:embed="rId3"/>
          <a:srcRect l="23654" r="23654"/>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Build it on campus</a:t>
            </a:r>
          </a:p>
        </p:txBody>
      </p:sp>
      <p:pic>
        <p:nvPicPr>
          <p:cNvPr id="7" name="Picture 6" descr="db_group.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As a team</a:t>
            </a:r>
          </a:p>
        </p:txBody>
      </p:sp>
      <p:pic>
        <p:nvPicPr>
          <p:cNvPr id="10" name="Picture 9" descr="db_present.jpg"/>
          <p:cNvPicPr>
            <a:picLocks noChangeAspect="1"/>
          </p:cNvPicPr>
          <p:nvPr/>
        </p:nvPicPr>
        <p:blipFill>
          <a:blip r:embed="rId5"/>
          <a:srcRect l="26576" r="26576"/>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Present to the pros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ean.jpg"/>
          <p:cNvPicPr>
            <a:picLocks noChangeAspect="1"/>
          </p:cNvPicPr>
          <p:nvPr/>
        </p:nvPicPr>
        <p:blipFill>
          <a:blip r:embed="rId3"/>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in sun: Ruhrfisch (talk) (BY-SA 4.0) via Wikimedia</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Dallas July 2015 12 (Klyde Warren Park): Michael Barera (BY-SA 4.0) via Wikimedia</a:t>
            </a:r>
          </a:p>
          <a:p>
            <a:pPr algn="l">
              <a:spcBef>
                <a:spcPts val="200"/>
              </a:spcBef>
            </a:pPr>
            <a:r>
              <a:rPr sz="1100" b="0">
                <a:solidFill>
                  <a:srgbClr val="1F2937"/>
                </a:solidFill>
                <a:latin typeface="Montserrat"/>
              </a:rPr>
              <a:t>High Line Park the new second section: David Berkowitz from New York, NY, USA (BY 2.0) via Wikimedia</a:t>
            </a:r>
          </a:p>
          <a:p>
            <a:pPr algn="l">
              <a:spcBef>
                <a:spcPts val="200"/>
              </a:spcBef>
            </a:pPr>
            <a:r>
              <a:rPr sz="1100" b="0">
                <a:solidFill>
                  <a:srgbClr val="1F2937"/>
                </a:solidFill>
                <a:latin typeface="Montserrat"/>
              </a:rPr>
              <a:t>Bryant Park New York (11599763284): Mack Male from Edmonton, AB, Canada (BY-SA 2.0) via Wikimedia</a:t>
            </a:r>
          </a:p>
          <a:p>
            <a:pPr algn="l">
              <a:spcBef>
                <a:spcPts val="200"/>
              </a:spcBef>
            </a:pPr>
            <a:r>
              <a:rPr sz="1100" b="0">
                <a:solidFill>
                  <a:srgbClr val="1F2937"/>
                </a:solidFill>
                <a:latin typeface="Montserrat"/>
              </a:rPr>
              <a:t>Hauser Plads - Playground: Susanne Nilsson (BY-SA 2.0) via Wikimedia</a:t>
            </a:r>
          </a:p>
          <a:p>
            <a:pPr algn="l">
              <a:spcBef>
                <a:spcPts val="200"/>
              </a:spcBef>
            </a:pPr>
            <a:r>
              <a:rPr sz="1100" b="0">
                <a:solidFill>
                  <a:srgbClr val="1F2937"/>
                </a:solidFill>
                <a:latin typeface="Montserrat"/>
              </a:rPr>
              <a:t>Main Street section of Brooklyn Bridge Park, July 2017: MusikAnimal (BY-SA 4.0) via Wikimedia</a:t>
            </a:r>
          </a:p>
          <a:p>
            <a:pPr algn="l">
              <a:spcBef>
                <a:spcPts val="200"/>
              </a:spcBef>
            </a:pPr>
            <a:r>
              <a:rPr sz="1100" b="0">
                <a:solidFill>
                  <a:srgbClr val="1F2937"/>
                </a:solidFill>
                <a:latin typeface="Montserrat"/>
              </a:rPr>
              <a:t>ATT bridge Panther ck.jpg: Kevinawilk (CC0 1.0) via Wikimedia</a:t>
            </a:r>
          </a:p>
          <a:p>
            <a:pPr algn="l">
              <a:spcBef>
                <a:spcPts val="200"/>
              </a:spcBef>
            </a:pPr>
            <a:r>
              <a:rPr sz="1100" b="0">
                <a:solidFill>
                  <a:srgbClr val="1F2937"/>
                </a:solidFill>
                <a:latin typeface="Montserrat"/>
              </a:rPr>
              <a:t>2008-07-15 Duke Gardens main terrace.jpg: Ildar Sagdejev (Specious) (BY-SA 4.0) via Wikimedia</a:t>
            </a:r>
          </a:p>
          <a:p>
            <a:pPr algn="l">
              <a:spcBef>
                <a:spcPts val="200"/>
              </a:spcBef>
            </a:pPr>
            <a:r>
              <a:rPr sz="1100" b="0">
                <a:solidFill>
                  <a:srgbClr val="1F2937"/>
                </a:solidFill>
                <a:latin typeface="Montserrat"/>
              </a:rPr>
              <a:t>Studio, design-build &amp; student photos &amp; portraits: NC A&amp;T Landscape Architecture program. Carver courtyard image is a concept rendering. Living-lab and drone images are illustrative. Farm aerial: Esri, Maxar, Earthstar Geographics.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